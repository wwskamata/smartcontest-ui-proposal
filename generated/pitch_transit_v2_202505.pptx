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案件の背景</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公共交通利用促進キャンペーン｜行政×ビザビ×WWS</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P1 案件背景</a:t>
            </a:r>
            <a:endParaRPr lang="en-US" sz="900" dirty="0"/>
          </a:p>
        </p:txBody>
      </p:sp>
      <p:sp>
        <p:nvSpPr>
          <p:cNvPr id="7" name="Text 5"/>
          <p:cNvSpPr/>
          <p:nvPr/>
        </p:nvSpPr>
        <p:spPr>
          <a:xfrm>
            <a:off x="365760" y="1051560"/>
            <a:ext cx="7315200" cy="320040"/>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代理店（ビザビ）への相談内容</a:t>
            </a:r>
            <a:endParaRPr lang="en-US" sz="1200" dirty="0"/>
          </a:p>
        </p:txBody>
      </p:sp>
      <p:sp>
        <p:nvSpPr>
          <p:cNvPr id="8" name="Shape 6"/>
          <p:cNvSpPr/>
          <p:nvPr/>
        </p:nvSpPr>
        <p:spPr>
          <a:xfrm>
            <a:off x="365760" y="1371600"/>
            <a:ext cx="7772400" cy="1005840"/>
          </a:xfrm>
          <a:prstGeom prst="rect">
            <a:avLst/>
          </a:prstGeom>
          <a:solidFill>
            <a:srgbClr val="FFF8F0"/>
          </a:solidFill>
          <a:ln w="12700">
            <a:solidFill>
              <a:srgbClr val="E87722"/>
            </a:solidFill>
            <a:prstDash val="solid"/>
          </a:ln>
        </p:spPr>
      </p:sp>
      <p:sp>
        <p:nvSpPr>
          <p:cNvPr id="9" name="Text 7"/>
          <p:cNvSpPr/>
          <p:nvPr/>
        </p:nvSpPr>
        <p:spPr>
          <a:xfrm>
            <a:off x="502920" y="1463040"/>
            <a:ext cx="7498080" cy="868680"/>
          </a:xfrm>
          <a:prstGeom prst="rect">
            <a:avLst/>
          </a:prstGeom>
          <a:noFill/>
          <a:ln/>
        </p:spPr>
        <p:txBody>
          <a:bodyPr wrap="square" lIns="0" tIns="0" rIns="0" bIns="0" rtlCol="0" anchor="ctr"/>
          <a:lstStyle/>
          <a:p>
            <a:pPr indent="0" marL="0">
              <a:buNone/>
            </a:pPr>
            <a:r>
              <a:rPr lang="en-US" sz="1100" dirty="0">
                <a:solidFill>
                  <a:srgbClr val="444444"/>
                </a:solidFill>
                <a:latin typeface="Meiryo" pitchFamily="34" charset="0"/>
                <a:ea typeface="Meiryo" pitchFamily="34" charset="-122"/>
                <a:cs typeface="Meiryo" pitchFamily="34" charset="-120"/>
              </a:rPr>
              <a:t>行政（地方自治体）が主体となる公共交通利用促進プロモーションの企画において、GPSスタンプラリー・レシートキャンペーンの仕組みを活用したシステム構築の相談が代理店経由でビザビに持ち込まれた。</a:t>
            </a:r>
            <a:endParaRPr lang="en-US" sz="1100" dirty="0"/>
          </a:p>
        </p:txBody>
      </p:sp>
      <p:sp>
        <p:nvSpPr>
          <p:cNvPr id="10" name="Text 8"/>
          <p:cNvSpPr/>
          <p:nvPr/>
        </p:nvSpPr>
        <p:spPr>
          <a:xfrm>
            <a:off x="365760" y="2514600"/>
            <a:ext cx="7315200" cy="320040"/>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クライアントが解決したい課題</a:t>
            </a:r>
            <a:endParaRPr lang="en-US" sz="1200" dirty="0"/>
          </a:p>
        </p:txBody>
      </p:sp>
      <p:sp>
        <p:nvSpPr>
          <p:cNvPr id="11" name="Shape 9"/>
          <p:cNvSpPr/>
          <p:nvPr/>
        </p:nvSpPr>
        <p:spPr>
          <a:xfrm>
            <a:off x="365760" y="2880360"/>
            <a:ext cx="2651760" cy="2560320"/>
          </a:xfrm>
          <a:prstGeom prst="roundRect">
            <a:avLst>
              <a:gd name="adj" fmla="val 2857"/>
            </a:avLst>
          </a:prstGeom>
          <a:solidFill>
            <a:srgbClr val="FAFAFA"/>
          </a:solidFill>
          <a:ln w="12700">
            <a:solidFill>
              <a:srgbClr val="E0E0E0"/>
            </a:solidFill>
            <a:prstDash val="solid"/>
          </a:ln>
        </p:spPr>
      </p:sp>
      <p:sp>
        <p:nvSpPr>
          <p:cNvPr id="12" name="Text 10"/>
          <p:cNvSpPr/>
          <p:nvPr/>
        </p:nvSpPr>
        <p:spPr>
          <a:xfrm>
            <a:off x="365760" y="3108960"/>
            <a:ext cx="2651760" cy="640080"/>
          </a:xfrm>
          <a:prstGeom prst="rect">
            <a:avLst/>
          </a:prstGeom>
          <a:noFill/>
          <a:ln/>
        </p:spPr>
        <p:txBody>
          <a:bodyPr wrap="square" lIns="0" tIns="0" rIns="0" bIns="0"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13" name="Text 11"/>
          <p:cNvSpPr/>
          <p:nvPr/>
        </p:nvSpPr>
        <p:spPr>
          <a:xfrm>
            <a:off x="457200" y="3794760"/>
            <a:ext cx="2468880"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Meiryo" pitchFamily="34" charset="0"/>
                <a:ea typeface="Meiryo" pitchFamily="34" charset="-122"/>
                <a:cs typeface="Meiryo" pitchFamily="34" charset="-120"/>
              </a:rPr>
              <a:t>交通事業者の負担ゼロ</a:t>
            </a:r>
            <a:endParaRPr lang="en-US" sz="1100" dirty="0"/>
          </a:p>
        </p:txBody>
      </p:sp>
      <p:sp>
        <p:nvSpPr>
          <p:cNvPr id="14" name="Shape 12"/>
          <p:cNvSpPr/>
          <p:nvPr/>
        </p:nvSpPr>
        <p:spPr>
          <a:xfrm>
            <a:off x="731520" y="4389120"/>
            <a:ext cx="1920240" cy="0"/>
          </a:xfrm>
          <a:prstGeom prst="line">
            <a:avLst/>
          </a:prstGeom>
          <a:noFill/>
          <a:ln w="6350">
            <a:solidFill>
              <a:srgbClr val="E0E0E0"/>
            </a:solidFill>
            <a:prstDash val="solid"/>
          </a:ln>
        </p:spPr>
      </p:sp>
      <p:sp>
        <p:nvSpPr>
          <p:cNvPr id="15" name="Text 13"/>
          <p:cNvSpPr/>
          <p:nvPr/>
        </p:nvSpPr>
        <p:spPr>
          <a:xfrm>
            <a:off x="457200" y="4526280"/>
            <a:ext cx="2468880" cy="777240"/>
          </a:xfrm>
          <a:prstGeom prst="rect">
            <a:avLst/>
          </a:prstGeom>
          <a:noFill/>
          <a:ln/>
        </p:spPr>
        <p:txBody>
          <a:bodyPr wrap="square" lIns="0" tIns="0" rIns="0" bIns="0" rtlCol="0" anchor="ctr"/>
          <a:lstStyle/>
          <a:p>
            <a:pPr algn="ctr" indent="0" marL="0">
              <a:buNone/>
            </a:pPr>
            <a:r>
              <a:rPr lang="en-US" sz="1000" dirty="0">
                <a:solidFill>
                  <a:srgbClr val="555555"/>
                </a:solidFill>
                <a:latin typeface="Meiryo" pitchFamily="34" charset="0"/>
                <a:ea typeface="Meiryo" pitchFamily="34" charset="-122"/>
                <a:cs typeface="Meiryo" pitchFamily="34" charset="-120"/>
              </a:rPr>
              <a:t>車内へのQRコード設置・シール掲出は一切不可</a:t>
            </a:r>
            <a:endParaRPr lang="en-US" sz="1000" dirty="0"/>
          </a:p>
        </p:txBody>
      </p:sp>
      <p:sp>
        <p:nvSpPr>
          <p:cNvPr id="16" name="Shape 14"/>
          <p:cNvSpPr/>
          <p:nvPr/>
        </p:nvSpPr>
        <p:spPr>
          <a:xfrm>
            <a:off x="3300984" y="2880360"/>
            <a:ext cx="2651760" cy="2560320"/>
          </a:xfrm>
          <a:prstGeom prst="roundRect">
            <a:avLst>
              <a:gd name="adj" fmla="val 2857"/>
            </a:avLst>
          </a:prstGeom>
          <a:solidFill>
            <a:srgbClr val="FAFAFA"/>
          </a:solidFill>
          <a:ln w="12700">
            <a:solidFill>
              <a:srgbClr val="E0E0E0"/>
            </a:solidFill>
            <a:prstDash val="solid"/>
          </a:ln>
        </p:spPr>
      </p:sp>
      <p:sp>
        <p:nvSpPr>
          <p:cNvPr id="17" name="Text 15"/>
          <p:cNvSpPr/>
          <p:nvPr/>
        </p:nvSpPr>
        <p:spPr>
          <a:xfrm>
            <a:off x="3300984" y="3108960"/>
            <a:ext cx="2651760" cy="640080"/>
          </a:xfrm>
          <a:prstGeom prst="rect">
            <a:avLst/>
          </a:prstGeom>
          <a:noFill/>
          <a:ln/>
        </p:spPr>
        <p:txBody>
          <a:bodyPr wrap="square" lIns="0" tIns="0" rIns="0" bIns="0"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18" name="Text 16"/>
          <p:cNvSpPr/>
          <p:nvPr/>
        </p:nvSpPr>
        <p:spPr>
          <a:xfrm>
            <a:off x="3392424" y="3794760"/>
            <a:ext cx="2468880"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Meiryo" pitchFamily="34" charset="0"/>
                <a:ea typeface="Meiryo" pitchFamily="34" charset="-122"/>
                <a:cs typeface="Meiryo" pitchFamily="34" charset="-120"/>
              </a:rPr>
              <a:t>不正参加の防止</a:t>
            </a:r>
            <a:endParaRPr lang="en-US" sz="1100" dirty="0"/>
          </a:p>
        </p:txBody>
      </p:sp>
      <p:sp>
        <p:nvSpPr>
          <p:cNvPr id="19" name="Shape 17"/>
          <p:cNvSpPr/>
          <p:nvPr/>
        </p:nvSpPr>
        <p:spPr>
          <a:xfrm>
            <a:off x="3666744" y="4389120"/>
            <a:ext cx="1920240" cy="0"/>
          </a:xfrm>
          <a:prstGeom prst="line">
            <a:avLst/>
          </a:prstGeom>
          <a:noFill/>
          <a:ln w="6350">
            <a:solidFill>
              <a:srgbClr val="E0E0E0"/>
            </a:solidFill>
            <a:prstDash val="solid"/>
          </a:ln>
        </p:spPr>
      </p:sp>
      <p:sp>
        <p:nvSpPr>
          <p:cNvPr id="20" name="Text 18"/>
          <p:cNvSpPr/>
          <p:nvPr/>
        </p:nvSpPr>
        <p:spPr>
          <a:xfrm>
            <a:off x="3392424" y="4526280"/>
            <a:ext cx="2468880" cy="777240"/>
          </a:xfrm>
          <a:prstGeom prst="rect">
            <a:avLst/>
          </a:prstGeom>
          <a:noFill/>
          <a:ln/>
        </p:spPr>
        <p:txBody>
          <a:bodyPr wrap="square" lIns="0" tIns="0" rIns="0" bIns="0" rtlCol="0" anchor="ctr"/>
          <a:lstStyle/>
          <a:p>
            <a:pPr algn="ctr" indent="0" marL="0">
              <a:buNone/>
            </a:pPr>
            <a:r>
              <a:rPr lang="en-US" sz="1000" dirty="0">
                <a:solidFill>
                  <a:srgbClr val="555555"/>
                </a:solidFill>
                <a:latin typeface="Meiryo" pitchFamily="34" charset="0"/>
                <a:ea typeface="Meiryo" pitchFamily="34" charset="-122"/>
                <a:cs typeface="Meiryo" pitchFamily="34" charset="-120"/>
              </a:rPr>
              <a:t>車での移動による不正チェックイン排除</a:t>
            </a:r>
            <a:endParaRPr lang="en-US" sz="1000" dirty="0"/>
          </a:p>
        </p:txBody>
      </p:sp>
      <p:sp>
        <p:nvSpPr>
          <p:cNvPr id="21" name="Shape 19"/>
          <p:cNvSpPr/>
          <p:nvPr/>
        </p:nvSpPr>
        <p:spPr>
          <a:xfrm>
            <a:off x="6236208" y="2880360"/>
            <a:ext cx="2651760" cy="2560320"/>
          </a:xfrm>
          <a:prstGeom prst="roundRect">
            <a:avLst>
              <a:gd name="adj" fmla="val 2857"/>
            </a:avLst>
          </a:prstGeom>
          <a:solidFill>
            <a:srgbClr val="FAFAFA"/>
          </a:solidFill>
          <a:ln w="12700">
            <a:solidFill>
              <a:srgbClr val="E0E0E0"/>
            </a:solidFill>
            <a:prstDash val="solid"/>
          </a:ln>
        </p:spPr>
      </p:sp>
      <p:sp>
        <p:nvSpPr>
          <p:cNvPr id="22" name="Text 20"/>
          <p:cNvSpPr/>
          <p:nvPr/>
        </p:nvSpPr>
        <p:spPr>
          <a:xfrm>
            <a:off x="6236208" y="3108960"/>
            <a:ext cx="2651760" cy="640080"/>
          </a:xfrm>
          <a:prstGeom prst="rect">
            <a:avLst/>
          </a:prstGeom>
          <a:noFill/>
          <a:ln/>
        </p:spPr>
        <p:txBody>
          <a:bodyPr wrap="square" lIns="0" tIns="0" rIns="0" bIns="0"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23" name="Text 21"/>
          <p:cNvSpPr/>
          <p:nvPr/>
        </p:nvSpPr>
        <p:spPr>
          <a:xfrm>
            <a:off x="6327648" y="3794760"/>
            <a:ext cx="2468880"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Meiryo" pitchFamily="34" charset="0"/>
                <a:ea typeface="Meiryo" pitchFamily="34" charset="-122"/>
                <a:cs typeface="Meiryo" pitchFamily="34" charset="-120"/>
              </a:rPr>
              <a:t>アプリ不要</a:t>
            </a:r>
            <a:endParaRPr lang="en-US" sz="1100" dirty="0"/>
          </a:p>
        </p:txBody>
      </p:sp>
      <p:sp>
        <p:nvSpPr>
          <p:cNvPr id="24" name="Shape 22"/>
          <p:cNvSpPr/>
          <p:nvPr/>
        </p:nvSpPr>
        <p:spPr>
          <a:xfrm>
            <a:off x="6601968" y="4389120"/>
            <a:ext cx="1920240" cy="0"/>
          </a:xfrm>
          <a:prstGeom prst="line">
            <a:avLst/>
          </a:prstGeom>
          <a:noFill/>
          <a:ln w="6350">
            <a:solidFill>
              <a:srgbClr val="E0E0E0"/>
            </a:solidFill>
            <a:prstDash val="solid"/>
          </a:ln>
        </p:spPr>
      </p:sp>
      <p:sp>
        <p:nvSpPr>
          <p:cNvPr id="25" name="Text 23"/>
          <p:cNvSpPr/>
          <p:nvPr/>
        </p:nvSpPr>
        <p:spPr>
          <a:xfrm>
            <a:off x="6327648" y="4526280"/>
            <a:ext cx="2468880" cy="777240"/>
          </a:xfrm>
          <a:prstGeom prst="rect">
            <a:avLst/>
          </a:prstGeom>
          <a:noFill/>
          <a:ln/>
        </p:spPr>
        <p:txBody>
          <a:bodyPr wrap="square" lIns="0" tIns="0" rIns="0" bIns="0" rtlCol="0" anchor="ctr"/>
          <a:lstStyle/>
          <a:p>
            <a:pPr algn="ctr" indent="0" marL="0">
              <a:buNone/>
            </a:pPr>
            <a:r>
              <a:rPr lang="en-US" sz="1000" dirty="0">
                <a:solidFill>
                  <a:srgbClr val="555555"/>
                </a:solidFill>
                <a:latin typeface="Meiryo" pitchFamily="34" charset="0"/>
                <a:ea typeface="Meiryo" pitchFamily="34" charset="-122"/>
                <a:cs typeface="Meiryo" pitchFamily="34" charset="-120"/>
              </a:rPr>
              <a:t>専用アプリDL不要・LINEログインのブラウザ参加</a:t>
            </a:r>
            <a:endParaRPr lang="en-US" sz="1000" dirty="0"/>
          </a:p>
        </p:txBody>
      </p:sp>
      <p:sp>
        <p:nvSpPr>
          <p:cNvPr id="26" name="Shape 24"/>
          <p:cNvSpPr/>
          <p:nvPr/>
        </p:nvSpPr>
        <p:spPr>
          <a:xfrm>
            <a:off x="9171432" y="2880360"/>
            <a:ext cx="2651760" cy="2560320"/>
          </a:xfrm>
          <a:prstGeom prst="roundRect">
            <a:avLst>
              <a:gd name="adj" fmla="val 2857"/>
            </a:avLst>
          </a:prstGeom>
          <a:solidFill>
            <a:srgbClr val="FAFAFA"/>
          </a:solidFill>
          <a:ln w="12700">
            <a:solidFill>
              <a:srgbClr val="E0E0E0"/>
            </a:solidFill>
            <a:prstDash val="solid"/>
          </a:ln>
        </p:spPr>
      </p:sp>
      <p:sp>
        <p:nvSpPr>
          <p:cNvPr id="27" name="Text 25"/>
          <p:cNvSpPr/>
          <p:nvPr/>
        </p:nvSpPr>
        <p:spPr>
          <a:xfrm>
            <a:off x="9171432" y="3108960"/>
            <a:ext cx="2651760" cy="640080"/>
          </a:xfrm>
          <a:prstGeom prst="rect">
            <a:avLst/>
          </a:prstGeom>
          <a:noFill/>
          <a:ln/>
        </p:spPr>
        <p:txBody>
          <a:bodyPr wrap="square" lIns="0" tIns="0" rIns="0" bIns="0"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28" name="Text 26"/>
          <p:cNvSpPr/>
          <p:nvPr/>
        </p:nvSpPr>
        <p:spPr>
          <a:xfrm>
            <a:off x="9262872" y="3794760"/>
            <a:ext cx="2468880"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Meiryo" pitchFamily="34" charset="0"/>
                <a:ea typeface="Meiryo" pitchFamily="34" charset="-122"/>
                <a:cs typeface="Meiryo" pitchFamily="34" charset="-120"/>
              </a:rPr>
              <a:t>タクシーも対象</a:t>
            </a:r>
            <a:endParaRPr lang="en-US" sz="1100" dirty="0"/>
          </a:p>
        </p:txBody>
      </p:sp>
      <p:sp>
        <p:nvSpPr>
          <p:cNvPr id="29" name="Shape 27"/>
          <p:cNvSpPr/>
          <p:nvPr/>
        </p:nvSpPr>
        <p:spPr>
          <a:xfrm>
            <a:off x="9537192" y="4389120"/>
            <a:ext cx="1920240" cy="0"/>
          </a:xfrm>
          <a:prstGeom prst="line">
            <a:avLst/>
          </a:prstGeom>
          <a:noFill/>
          <a:ln w="6350">
            <a:solidFill>
              <a:srgbClr val="E0E0E0"/>
            </a:solidFill>
            <a:prstDash val="solid"/>
          </a:ln>
        </p:spPr>
      </p:sp>
      <p:sp>
        <p:nvSpPr>
          <p:cNvPr id="30" name="Text 28"/>
          <p:cNvSpPr/>
          <p:nvPr/>
        </p:nvSpPr>
        <p:spPr>
          <a:xfrm>
            <a:off x="9262872" y="4526280"/>
            <a:ext cx="2468880" cy="777240"/>
          </a:xfrm>
          <a:prstGeom prst="rect">
            <a:avLst/>
          </a:prstGeom>
          <a:noFill/>
          <a:ln/>
        </p:spPr>
        <p:txBody>
          <a:bodyPr wrap="square" lIns="0" tIns="0" rIns="0" bIns="0" rtlCol="0" anchor="ctr"/>
          <a:lstStyle/>
          <a:p>
            <a:pPr algn="ctr" indent="0" marL="0">
              <a:buNone/>
            </a:pPr>
            <a:r>
              <a:rPr lang="en-US" sz="1000" dirty="0">
                <a:solidFill>
                  <a:srgbClr val="555555"/>
                </a:solidFill>
                <a:latin typeface="Meiryo" pitchFamily="34" charset="0"/>
                <a:ea typeface="Meiryo" pitchFamily="34" charset="-122"/>
                <a:cs typeface="Meiryo" pitchFamily="34" charset="-120"/>
              </a:rPr>
              <a:t>GPSスポット設置不可→レシートOCRで代替判定</a:t>
            </a:r>
            <a:endParaRPr lang="en-US" sz="1000" dirty="0"/>
          </a:p>
        </p:txBody>
      </p:sp>
      <p:sp>
        <p:nvSpPr>
          <p:cNvPr id="31" name="Text 29"/>
          <p:cNvSpPr/>
          <p:nvPr/>
        </p:nvSpPr>
        <p:spPr>
          <a:xfrm>
            <a:off x="365760" y="5623560"/>
            <a:ext cx="11457432" cy="274320"/>
          </a:xfrm>
          <a:prstGeom prst="rect">
            <a:avLst/>
          </a:prstGeom>
          <a:noFill/>
          <a:ln/>
        </p:spPr>
        <p:txBody>
          <a:bodyPr wrap="square" lIns="0" tIns="0" rIns="0" bIns="0" rtlCol="0" anchor="ctr"/>
          <a:lstStyle/>
          <a:p>
            <a:pPr indent="0" marL="0">
              <a:buNone/>
            </a:pPr>
            <a:r>
              <a:rPr lang="en-US" sz="1000" dirty="0">
                <a:solidFill>
                  <a:srgbClr val="666666"/>
                </a:solidFill>
                <a:latin typeface="Meiryo" pitchFamily="34" charset="0"/>
                <a:ea typeface="Meiryo" pitchFamily="34" charset="-122"/>
                <a:cs typeface="Meiryo" pitchFamily="34" charset="-120"/>
              </a:rPr>
              <a:t>対象：バス・電車・路面電車・フェリー（GPS判定）＋ タクシー（レシートOCR判定）</a:t>
            </a:r>
            <a:endParaRPr lang="en-US" sz="1000" dirty="0"/>
          </a:p>
        </p:txBody>
      </p:sp>
      <p:sp>
        <p:nvSpPr>
          <p:cNvPr id="32" name="Text 30"/>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1 / 9</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クライアントの要件</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2つの判定ロジック＋その他必須要件</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P2 クライアント要件</a:t>
            </a:r>
            <a:endParaRPr lang="en-US" sz="900" dirty="0"/>
          </a:p>
        </p:txBody>
      </p:sp>
      <p:sp>
        <p:nvSpPr>
          <p:cNvPr id="7" name="Text 5"/>
          <p:cNvSpPr/>
          <p:nvPr/>
        </p:nvSpPr>
        <p:spPr>
          <a:xfrm>
            <a:off x="365760" y="1005840"/>
            <a:ext cx="5486400" cy="320040"/>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判定ロジック① ｜ 固定路線（GPS）</a:t>
            </a:r>
            <a:endParaRPr lang="en-US" sz="1200" dirty="0"/>
          </a:p>
        </p:txBody>
      </p:sp>
      <p:sp>
        <p:nvSpPr>
          <p:cNvPr id="8" name="Shape 6"/>
          <p:cNvSpPr/>
          <p:nvPr/>
        </p:nvSpPr>
        <p:spPr>
          <a:xfrm>
            <a:off x="365760" y="1371600"/>
            <a:ext cx="5303520" cy="1828800"/>
          </a:xfrm>
          <a:prstGeom prst="roundRect">
            <a:avLst>
              <a:gd name="adj" fmla="val 4000"/>
            </a:avLst>
          </a:prstGeom>
          <a:solidFill>
            <a:srgbClr val="F0FFF4"/>
          </a:solidFill>
          <a:ln w="19050">
            <a:solidFill>
              <a:srgbClr val="4CAF50"/>
            </a:solidFill>
            <a:prstDash val="solid"/>
          </a:ln>
        </p:spPr>
      </p:sp>
      <p:sp>
        <p:nvSpPr>
          <p:cNvPr id="9" name="Text 7"/>
          <p:cNvSpPr/>
          <p:nvPr/>
        </p:nvSpPr>
        <p:spPr>
          <a:xfrm>
            <a:off x="502920" y="1463040"/>
            <a:ext cx="5029200" cy="365760"/>
          </a:xfrm>
          <a:prstGeom prst="rect">
            <a:avLst/>
          </a:prstGeom>
          <a:noFill/>
          <a:ln/>
        </p:spPr>
        <p:txBody>
          <a:bodyPr wrap="square" lIns="0" tIns="0" rIns="0" bIns="0" rtlCol="0" anchor="ctr"/>
          <a:lstStyle/>
          <a:p>
            <a:pPr indent="0" marL="0">
              <a:buNone/>
            </a:pPr>
            <a:r>
              <a:rPr lang="en-US" sz="1200" b="1" dirty="0">
                <a:solidFill>
                  <a:srgbClr val="2E7D32"/>
                </a:solidFill>
                <a:latin typeface="Meiryo" pitchFamily="34" charset="0"/>
                <a:ea typeface="Meiryo" pitchFamily="34" charset="-122"/>
                <a:cs typeface="Meiryo" pitchFamily="34" charset="-120"/>
              </a:rPr>
              <a:t>🚌 GPS 乗降2点チェックイン</a:t>
            </a:r>
            <a:endParaRPr lang="en-US" sz="1200" dirty="0"/>
          </a:p>
        </p:txBody>
      </p:sp>
      <p:sp>
        <p:nvSpPr>
          <p:cNvPr id="10" name="Text 8"/>
          <p:cNvSpPr/>
          <p:nvPr/>
        </p:nvSpPr>
        <p:spPr>
          <a:xfrm>
            <a:off x="502920" y="1874520"/>
            <a:ext cx="5029200" cy="1234440"/>
          </a:xfrm>
          <a:prstGeom prst="rect">
            <a:avLst/>
          </a:prstGeom>
          <a:noFill/>
          <a:ln/>
        </p:spPr>
        <p:txBody>
          <a:bodyPr wrap="square" lIns="0" tIns="0" rIns="0" bIns="0" rtlCol="0" anchor="ctr"/>
          <a:lstStyle/>
          <a:p>
            <a:pPr indent="0" marL="0">
              <a:buNone/>
            </a:pPr>
            <a:r>
              <a:rPr lang="en-US" sz="1050" dirty="0">
                <a:solidFill>
                  <a:srgbClr val="444444"/>
                </a:solidFill>
                <a:latin typeface="Meiryo" pitchFamily="34" charset="0"/>
                <a:ea typeface="Meiryo" pitchFamily="34" charset="-122"/>
                <a:cs typeface="Meiryo" pitchFamily="34" charset="-120"/>
              </a:rPr>
              <a:t>GTFSオープンデータの緯度経度情報をシステムに一括登録し、「乗車地（出発）」と「降車地（到着）」の2箇所でのGPSチェックインをもって1乗車と判定。インターバル制限等で車移動での不正を防ぎたい。</a:t>
            </a:r>
            <a:endParaRPr lang="en-US" sz="1050" dirty="0"/>
          </a:p>
        </p:txBody>
      </p:sp>
      <p:sp>
        <p:nvSpPr>
          <p:cNvPr id="11" name="Shape 9"/>
          <p:cNvSpPr/>
          <p:nvPr/>
        </p:nvSpPr>
        <p:spPr>
          <a:xfrm>
            <a:off x="548640" y="3246120"/>
            <a:ext cx="3474720" cy="475488"/>
          </a:xfrm>
          <a:prstGeom prst="roundRect">
            <a:avLst>
              <a:gd name="adj" fmla="val 11538"/>
            </a:avLst>
          </a:prstGeom>
          <a:solidFill>
            <a:srgbClr val="4CAF50"/>
          </a:solidFill>
          <a:ln w="12700">
            <a:solidFill>
              <a:srgbClr val="4CAF50"/>
            </a:solidFill>
            <a:prstDash val="solid"/>
          </a:ln>
        </p:spPr>
      </p:sp>
      <p:sp>
        <p:nvSpPr>
          <p:cNvPr id="12" name="Text 10"/>
          <p:cNvSpPr/>
          <p:nvPr/>
        </p:nvSpPr>
        <p:spPr>
          <a:xfrm>
            <a:off x="594360" y="3291840"/>
            <a:ext cx="33832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乗車地 GPS取得</a:t>
            </a:r>
            <a:endParaRPr lang="en-US" sz="1000" dirty="0"/>
          </a:p>
        </p:txBody>
      </p:sp>
      <p:sp>
        <p:nvSpPr>
          <p:cNvPr id="13" name="Text 11"/>
          <p:cNvSpPr/>
          <p:nvPr/>
        </p:nvSpPr>
        <p:spPr>
          <a:xfrm>
            <a:off x="1828800" y="3291840"/>
            <a:ext cx="731520" cy="228600"/>
          </a:xfrm>
          <a:prstGeom prst="rect">
            <a:avLst/>
          </a:prstGeom>
          <a:noFill/>
          <a:ln/>
        </p:spPr>
        <p:txBody>
          <a:bodyPr wrap="square" lIns="0" tIns="0" rIns="0" bIns="0" rtlCol="0" anchor="ctr"/>
          <a:lstStyle/>
          <a:p>
            <a:pPr algn="ctr" indent="0" marL="0">
              <a:buNone/>
            </a:pPr>
            <a:r>
              <a:rPr lang="en-US" sz="1200" dirty="0">
                <a:solidFill>
                  <a:srgbClr val="4CAF50"/>
                </a:solidFill>
                <a:latin typeface="Meiryo" pitchFamily="34" charset="0"/>
                <a:ea typeface="Meiryo" pitchFamily="34" charset="-122"/>
                <a:cs typeface="Meiryo" pitchFamily="34" charset="-120"/>
              </a:rPr>
              <a:t>↓</a:t>
            </a:r>
            <a:endParaRPr lang="en-US" sz="1200" dirty="0"/>
          </a:p>
        </p:txBody>
      </p:sp>
      <p:sp>
        <p:nvSpPr>
          <p:cNvPr id="14" name="Shape 12"/>
          <p:cNvSpPr/>
          <p:nvPr/>
        </p:nvSpPr>
        <p:spPr>
          <a:xfrm>
            <a:off x="548640" y="3813048"/>
            <a:ext cx="3474720" cy="475488"/>
          </a:xfrm>
          <a:prstGeom prst="roundRect">
            <a:avLst>
              <a:gd name="adj" fmla="val 11538"/>
            </a:avLst>
          </a:prstGeom>
          <a:solidFill>
            <a:srgbClr val="4CAF50"/>
          </a:solidFill>
          <a:ln w="12700">
            <a:solidFill>
              <a:srgbClr val="4CAF50"/>
            </a:solidFill>
            <a:prstDash val="solid"/>
          </a:ln>
        </p:spPr>
      </p:sp>
      <p:sp>
        <p:nvSpPr>
          <p:cNvPr id="15" name="Text 13"/>
          <p:cNvSpPr/>
          <p:nvPr/>
        </p:nvSpPr>
        <p:spPr>
          <a:xfrm>
            <a:off x="594360" y="3858768"/>
            <a:ext cx="33832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降車地 GPS取得</a:t>
            </a:r>
            <a:endParaRPr lang="en-US" sz="1000" dirty="0"/>
          </a:p>
        </p:txBody>
      </p:sp>
      <p:sp>
        <p:nvSpPr>
          <p:cNvPr id="16" name="Text 14"/>
          <p:cNvSpPr/>
          <p:nvPr/>
        </p:nvSpPr>
        <p:spPr>
          <a:xfrm>
            <a:off x="1828800" y="3291840"/>
            <a:ext cx="731520" cy="228600"/>
          </a:xfrm>
          <a:prstGeom prst="rect">
            <a:avLst/>
          </a:prstGeom>
          <a:noFill/>
          <a:ln/>
        </p:spPr>
        <p:txBody>
          <a:bodyPr wrap="square" lIns="0" tIns="0" rIns="0" bIns="0" rtlCol="0" anchor="ctr"/>
          <a:lstStyle/>
          <a:p>
            <a:pPr algn="ctr" indent="0" marL="0">
              <a:buNone/>
            </a:pPr>
            <a:r>
              <a:rPr lang="en-US" sz="1200" dirty="0">
                <a:solidFill>
                  <a:srgbClr val="4CAF50"/>
                </a:solidFill>
                <a:latin typeface="Meiryo" pitchFamily="34" charset="0"/>
                <a:ea typeface="Meiryo" pitchFamily="34" charset="-122"/>
                <a:cs typeface="Meiryo" pitchFamily="34" charset="-120"/>
              </a:rPr>
              <a:t>↓</a:t>
            </a:r>
            <a:endParaRPr lang="en-US" sz="1200" dirty="0"/>
          </a:p>
        </p:txBody>
      </p:sp>
      <p:sp>
        <p:nvSpPr>
          <p:cNvPr id="17" name="Shape 15"/>
          <p:cNvSpPr/>
          <p:nvPr/>
        </p:nvSpPr>
        <p:spPr>
          <a:xfrm>
            <a:off x="548640" y="4379976"/>
            <a:ext cx="3474720" cy="475488"/>
          </a:xfrm>
          <a:prstGeom prst="roundRect">
            <a:avLst>
              <a:gd name="adj" fmla="val 11538"/>
            </a:avLst>
          </a:prstGeom>
          <a:solidFill>
            <a:srgbClr val="4CAF50"/>
          </a:solidFill>
          <a:ln w="12700">
            <a:solidFill>
              <a:srgbClr val="4CAF50"/>
            </a:solidFill>
            <a:prstDash val="solid"/>
          </a:ln>
        </p:spPr>
      </p:sp>
      <p:sp>
        <p:nvSpPr>
          <p:cNvPr id="18" name="Text 16"/>
          <p:cNvSpPr/>
          <p:nvPr/>
        </p:nvSpPr>
        <p:spPr>
          <a:xfrm>
            <a:off x="594360" y="4425696"/>
            <a:ext cx="33832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ペア成立 1pt付与</a:t>
            </a:r>
            <a:endParaRPr lang="en-US" sz="1000" dirty="0"/>
          </a:p>
        </p:txBody>
      </p:sp>
      <p:sp>
        <p:nvSpPr>
          <p:cNvPr id="19" name="Text 17"/>
          <p:cNvSpPr/>
          <p:nvPr/>
        </p:nvSpPr>
        <p:spPr>
          <a:xfrm>
            <a:off x="6126480" y="1005840"/>
            <a:ext cx="5760720" cy="320040"/>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判定ロジック② ｜ 自由路線（タクシー）</a:t>
            </a:r>
            <a:endParaRPr lang="en-US" sz="1200" dirty="0"/>
          </a:p>
        </p:txBody>
      </p:sp>
      <p:sp>
        <p:nvSpPr>
          <p:cNvPr id="20" name="Shape 18"/>
          <p:cNvSpPr/>
          <p:nvPr/>
        </p:nvSpPr>
        <p:spPr>
          <a:xfrm>
            <a:off x="6126480" y="1371600"/>
            <a:ext cx="5696712" cy="1828800"/>
          </a:xfrm>
          <a:prstGeom prst="roundRect">
            <a:avLst>
              <a:gd name="adj" fmla="val 4000"/>
            </a:avLst>
          </a:prstGeom>
          <a:solidFill>
            <a:srgbClr val="EEF2FF"/>
          </a:solidFill>
          <a:ln w="19050">
            <a:solidFill>
              <a:srgbClr val="6366F1"/>
            </a:solidFill>
            <a:prstDash val="solid"/>
          </a:ln>
        </p:spPr>
      </p:sp>
      <p:sp>
        <p:nvSpPr>
          <p:cNvPr id="21" name="Text 19"/>
          <p:cNvSpPr/>
          <p:nvPr/>
        </p:nvSpPr>
        <p:spPr>
          <a:xfrm>
            <a:off x="6263640" y="1463040"/>
            <a:ext cx="5394960" cy="365760"/>
          </a:xfrm>
          <a:prstGeom prst="rect">
            <a:avLst/>
          </a:prstGeom>
          <a:noFill/>
          <a:ln/>
        </p:spPr>
        <p:txBody>
          <a:bodyPr wrap="square" lIns="0" tIns="0" rIns="0" bIns="0" rtlCol="0" anchor="ctr"/>
          <a:lstStyle/>
          <a:p>
            <a:pPr indent="0" marL="0">
              <a:buNone/>
            </a:pPr>
            <a:r>
              <a:rPr lang="en-US" sz="1200" b="1" dirty="0">
                <a:solidFill>
                  <a:srgbClr val="4338CA"/>
                </a:solidFill>
                <a:latin typeface="Meiryo" pitchFamily="34" charset="0"/>
                <a:ea typeface="Meiryo" pitchFamily="34" charset="-122"/>
                <a:cs typeface="Meiryo" pitchFamily="34" charset="-120"/>
              </a:rPr>
              <a:t>🚕 レシートOCR 判定</a:t>
            </a:r>
            <a:endParaRPr lang="en-US" sz="1200" dirty="0"/>
          </a:p>
        </p:txBody>
      </p:sp>
      <p:sp>
        <p:nvSpPr>
          <p:cNvPr id="22" name="Text 20"/>
          <p:cNvSpPr/>
          <p:nvPr/>
        </p:nvSpPr>
        <p:spPr>
          <a:xfrm>
            <a:off x="6263640" y="1874520"/>
            <a:ext cx="5394960" cy="1234440"/>
          </a:xfrm>
          <a:prstGeom prst="rect">
            <a:avLst/>
          </a:prstGeom>
          <a:noFill/>
          <a:ln/>
        </p:spPr>
        <p:txBody>
          <a:bodyPr wrap="square" lIns="0" tIns="0" rIns="0" bIns="0" rtlCol="0" anchor="ctr"/>
          <a:lstStyle/>
          <a:p>
            <a:pPr indent="0" marL="0">
              <a:buNone/>
            </a:pPr>
            <a:r>
              <a:rPr lang="en-US" sz="1050" dirty="0">
                <a:solidFill>
                  <a:srgbClr val="444444"/>
                </a:solidFill>
                <a:latin typeface="Meiryo" pitchFamily="34" charset="0"/>
                <a:ea typeface="Meiryo" pitchFamily="34" charset="-122"/>
                <a:cs typeface="Meiryo" pitchFamily="34" charset="-120"/>
              </a:rPr>
              <a:t>GPSスポットの設定ができないため、降車時の「レシート画像アップロード（OCR解析・重複チェック）」をもって1乗車と判定。</a:t>
            </a:r>
            <a:endParaRPr lang="en-US" sz="1050" dirty="0"/>
          </a:p>
        </p:txBody>
      </p:sp>
      <p:sp>
        <p:nvSpPr>
          <p:cNvPr id="23" name="Shape 21"/>
          <p:cNvSpPr/>
          <p:nvPr/>
        </p:nvSpPr>
        <p:spPr>
          <a:xfrm>
            <a:off x="6126480" y="3246120"/>
            <a:ext cx="1325880" cy="640080"/>
          </a:xfrm>
          <a:prstGeom prst="roundRect">
            <a:avLst>
              <a:gd name="adj" fmla="val 8571"/>
            </a:avLst>
          </a:prstGeom>
          <a:solidFill>
            <a:srgbClr val="6366F1"/>
          </a:solidFill>
          <a:ln w="12700">
            <a:solidFill>
              <a:srgbClr val="6366F1"/>
            </a:solidFill>
            <a:prstDash val="solid"/>
          </a:ln>
        </p:spPr>
      </p:sp>
      <p:sp>
        <p:nvSpPr>
          <p:cNvPr id="24" name="Text 22"/>
          <p:cNvSpPr/>
          <p:nvPr/>
        </p:nvSpPr>
        <p:spPr>
          <a:xfrm>
            <a:off x="6126480" y="3273552"/>
            <a:ext cx="1325880" cy="5852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レシート撮影 ・アップロード</a:t>
            </a:r>
            <a:endParaRPr lang="en-US" sz="900" dirty="0"/>
          </a:p>
        </p:txBody>
      </p:sp>
      <p:sp>
        <p:nvSpPr>
          <p:cNvPr id="25" name="Text 23"/>
          <p:cNvSpPr/>
          <p:nvPr/>
        </p:nvSpPr>
        <p:spPr>
          <a:xfrm>
            <a:off x="7470648" y="3364992"/>
            <a:ext cx="118872" cy="274320"/>
          </a:xfrm>
          <a:prstGeom prst="rect">
            <a:avLst/>
          </a:prstGeom>
          <a:noFill/>
          <a:ln/>
        </p:spPr>
        <p:txBody>
          <a:bodyPr wrap="square" lIns="0" tIns="0" rIns="0" bIns="0" rtlCol="0" anchor="ctr"/>
          <a:lstStyle/>
          <a:p>
            <a:pPr indent="0" marL="0">
              <a:buNone/>
            </a:pPr>
            <a:r>
              <a:rPr lang="en-US" sz="1000" dirty="0">
                <a:solidFill>
                  <a:srgbClr val="888888"/>
                </a:solidFill>
                <a:latin typeface="Meiryo" pitchFamily="34" charset="0"/>
                <a:ea typeface="Meiryo" pitchFamily="34" charset="-122"/>
                <a:cs typeface="Meiryo" pitchFamily="34" charset="-120"/>
              </a:rPr>
              <a:t>→</a:t>
            </a:r>
            <a:endParaRPr lang="en-US" sz="1000" dirty="0"/>
          </a:p>
        </p:txBody>
      </p:sp>
      <p:sp>
        <p:nvSpPr>
          <p:cNvPr id="26" name="Shape 24"/>
          <p:cNvSpPr/>
          <p:nvPr/>
        </p:nvSpPr>
        <p:spPr>
          <a:xfrm>
            <a:off x="7607808" y="3246120"/>
            <a:ext cx="1325880" cy="640080"/>
          </a:xfrm>
          <a:prstGeom prst="roundRect">
            <a:avLst>
              <a:gd name="adj" fmla="val 8571"/>
            </a:avLst>
          </a:prstGeom>
          <a:solidFill>
            <a:srgbClr val="6366F1"/>
          </a:solidFill>
          <a:ln w="12700">
            <a:solidFill>
              <a:srgbClr val="6366F1"/>
            </a:solidFill>
            <a:prstDash val="solid"/>
          </a:ln>
        </p:spPr>
      </p:sp>
      <p:sp>
        <p:nvSpPr>
          <p:cNvPr id="27" name="Text 25"/>
          <p:cNvSpPr/>
          <p:nvPr/>
        </p:nvSpPr>
        <p:spPr>
          <a:xfrm>
            <a:off x="7607808" y="3273552"/>
            <a:ext cx="1325880" cy="5852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OCR自動判定</a:t>
            </a:r>
            <a:endParaRPr lang="en-US" sz="900" dirty="0"/>
          </a:p>
        </p:txBody>
      </p:sp>
      <p:sp>
        <p:nvSpPr>
          <p:cNvPr id="28" name="Text 26"/>
          <p:cNvSpPr/>
          <p:nvPr/>
        </p:nvSpPr>
        <p:spPr>
          <a:xfrm>
            <a:off x="8951976" y="3364992"/>
            <a:ext cx="118872" cy="274320"/>
          </a:xfrm>
          <a:prstGeom prst="rect">
            <a:avLst/>
          </a:prstGeom>
          <a:noFill/>
          <a:ln/>
        </p:spPr>
        <p:txBody>
          <a:bodyPr wrap="square" lIns="0" tIns="0" rIns="0" bIns="0" rtlCol="0" anchor="ctr"/>
          <a:lstStyle/>
          <a:p>
            <a:pPr indent="0" marL="0">
              <a:buNone/>
            </a:pPr>
            <a:r>
              <a:rPr lang="en-US" sz="1000" dirty="0">
                <a:solidFill>
                  <a:srgbClr val="888888"/>
                </a:solidFill>
                <a:latin typeface="Meiryo" pitchFamily="34" charset="0"/>
                <a:ea typeface="Meiryo" pitchFamily="34" charset="-122"/>
                <a:cs typeface="Meiryo" pitchFamily="34" charset="-120"/>
              </a:rPr>
              <a:t>→</a:t>
            </a:r>
            <a:endParaRPr lang="en-US" sz="1000" dirty="0"/>
          </a:p>
        </p:txBody>
      </p:sp>
      <p:sp>
        <p:nvSpPr>
          <p:cNvPr id="29" name="Shape 27"/>
          <p:cNvSpPr/>
          <p:nvPr/>
        </p:nvSpPr>
        <p:spPr>
          <a:xfrm>
            <a:off x="9089136" y="3246120"/>
            <a:ext cx="1325880" cy="640080"/>
          </a:xfrm>
          <a:prstGeom prst="roundRect">
            <a:avLst>
              <a:gd name="adj" fmla="val 8571"/>
            </a:avLst>
          </a:prstGeom>
          <a:solidFill>
            <a:srgbClr val="6366F1"/>
          </a:solidFill>
          <a:ln w="12700">
            <a:solidFill>
              <a:srgbClr val="6366F1"/>
            </a:solidFill>
            <a:prstDash val="solid"/>
          </a:ln>
        </p:spPr>
      </p:sp>
      <p:sp>
        <p:nvSpPr>
          <p:cNvPr id="30" name="Text 28"/>
          <p:cNvSpPr/>
          <p:nvPr/>
        </p:nvSpPr>
        <p:spPr>
          <a:xfrm>
            <a:off x="9089136" y="3273552"/>
            <a:ext cx="1325880" cy="5852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事務局審査 （日次）</a:t>
            </a:r>
            <a:endParaRPr lang="en-US" sz="900" dirty="0"/>
          </a:p>
        </p:txBody>
      </p:sp>
      <p:sp>
        <p:nvSpPr>
          <p:cNvPr id="31" name="Text 29"/>
          <p:cNvSpPr/>
          <p:nvPr/>
        </p:nvSpPr>
        <p:spPr>
          <a:xfrm>
            <a:off x="10433304" y="3364992"/>
            <a:ext cx="118872" cy="274320"/>
          </a:xfrm>
          <a:prstGeom prst="rect">
            <a:avLst/>
          </a:prstGeom>
          <a:noFill/>
          <a:ln/>
        </p:spPr>
        <p:txBody>
          <a:bodyPr wrap="square" lIns="0" tIns="0" rIns="0" bIns="0" rtlCol="0" anchor="ctr"/>
          <a:lstStyle/>
          <a:p>
            <a:pPr indent="0" marL="0">
              <a:buNone/>
            </a:pPr>
            <a:r>
              <a:rPr lang="en-US" sz="1000" dirty="0">
                <a:solidFill>
                  <a:srgbClr val="888888"/>
                </a:solidFill>
                <a:latin typeface="Meiryo" pitchFamily="34" charset="0"/>
                <a:ea typeface="Meiryo" pitchFamily="34" charset="-122"/>
                <a:cs typeface="Meiryo" pitchFamily="34" charset="-120"/>
              </a:rPr>
              <a:t>→</a:t>
            </a:r>
            <a:endParaRPr lang="en-US" sz="1000" dirty="0"/>
          </a:p>
        </p:txBody>
      </p:sp>
      <p:sp>
        <p:nvSpPr>
          <p:cNvPr id="32" name="Shape 30"/>
          <p:cNvSpPr/>
          <p:nvPr/>
        </p:nvSpPr>
        <p:spPr>
          <a:xfrm>
            <a:off x="10570464" y="3246120"/>
            <a:ext cx="1325880" cy="640080"/>
          </a:xfrm>
          <a:prstGeom prst="roundRect">
            <a:avLst>
              <a:gd name="adj" fmla="val 8571"/>
            </a:avLst>
          </a:prstGeom>
          <a:solidFill>
            <a:srgbClr val="6366F1"/>
          </a:solidFill>
          <a:ln w="12700">
            <a:solidFill>
              <a:srgbClr val="6366F1"/>
            </a:solidFill>
            <a:prstDash val="solid"/>
          </a:ln>
        </p:spPr>
      </p:sp>
      <p:sp>
        <p:nvSpPr>
          <p:cNvPr id="33" name="Text 31"/>
          <p:cNvSpPr/>
          <p:nvPr/>
        </p:nvSpPr>
        <p:spPr>
          <a:xfrm>
            <a:off x="10570464" y="3273552"/>
            <a:ext cx="1325880" cy="585216"/>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承認→ 1pt付与</a:t>
            </a:r>
            <a:endParaRPr lang="en-US" sz="900" dirty="0"/>
          </a:p>
        </p:txBody>
      </p:sp>
      <p:sp>
        <p:nvSpPr>
          <p:cNvPr id="34" name="Text 32"/>
          <p:cNvSpPr/>
          <p:nvPr/>
        </p:nvSpPr>
        <p:spPr>
          <a:xfrm>
            <a:off x="365760" y="4160520"/>
            <a:ext cx="10972800" cy="292608"/>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その他要件</a:t>
            </a:r>
            <a:endParaRPr lang="en-US" sz="1200" dirty="0"/>
          </a:p>
        </p:txBody>
      </p:sp>
      <p:sp>
        <p:nvSpPr>
          <p:cNvPr id="35" name="Shape 33"/>
          <p:cNvSpPr/>
          <p:nvPr/>
        </p:nvSpPr>
        <p:spPr>
          <a:xfrm>
            <a:off x="365760" y="4526280"/>
            <a:ext cx="5394960" cy="411480"/>
          </a:xfrm>
          <a:prstGeom prst="rect">
            <a:avLst/>
          </a:prstGeom>
          <a:solidFill>
            <a:srgbClr val="F5F5F5"/>
          </a:solidFill>
          <a:ln w="6350">
            <a:solidFill>
              <a:srgbClr val="E8E8E8"/>
            </a:solidFill>
            <a:prstDash val="solid"/>
          </a:ln>
        </p:spPr>
      </p:sp>
      <p:sp>
        <p:nvSpPr>
          <p:cNvPr id="36" name="Text 34"/>
          <p:cNvSpPr/>
          <p:nvPr/>
        </p:nvSpPr>
        <p:spPr>
          <a:xfrm>
            <a:off x="457200" y="4581144"/>
            <a:ext cx="521208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 ポイント蓄積 → 賞品応募（または即時抽選）まで一気通貫</a:t>
            </a:r>
            <a:endParaRPr lang="en-US" sz="1000" dirty="0"/>
          </a:p>
        </p:txBody>
      </p:sp>
      <p:sp>
        <p:nvSpPr>
          <p:cNvPr id="37" name="Shape 35"/>
          <p:cNvSpPr/>
          <p:nvPr/>
        </p:nvSpPr>
        <p:spPr>
          <a:xfrm>
            <a:off x="6126480" y="4526280"/>
            <a:ext cx="5394960" cy="411480"/>
          </a:xfrm>
          <a:prstGeom prst="rect">
            <a:avLst/>
          </a:prstGeom>
          <a:solidFill>
            <a:srgbClr val="F5F5F5"/>
          </a:solidFill>
          <a:ln w="6350">
            <a:solidFill>
              <a:srgbClr val="E8E8E8"/>
            </a:solidFill>
            <a:prstDash val="solid"/>
          </a:ln>
        </p:spPr>
      </p:sp>
      <p:sp>
        <p:nvSpPr>
          <p:cNvPr id="38" name="Text 36"/>
          <p:cNvSpPr/>
          <p:nvPr/>
        </p:nvSpPr>
        <p:spPr>
          <a:xfrm>
            <a:off x="6217920" y="4581144"/>
            <a:ext cx="521208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 個人情報のセキュアな取得</a:t>
            </a:r>
            <a:endParaRPr lang="en-US" sz="1000" dirty="0"/>
          </a:p>
        </p:txBody>
      </p:sp>
      <p:sp>
        <p:nvSpPr>
          <p:cNvPr id="39" name="Shape 37"/>
          <p:cNvSpPr/>
          <p:nvPr/>
        </p:nvSpPr>
        <p:spPr>
          <a:xfrm>
            <a:off x="365760" y="5029200"/>
            <a:ext cx="5394960" cy="411480"/>
          </a:xfrm>
          <a:prstGeom prst="rect">
            <a:avLst/>
          </a:prstGeom>
          <a:solidFill>
            <a:srgbClr val="F5F5F5"/>
          </a:solidFill>
          <a:ln w="6350">
            <a:solidFill>
              <a:srgbClr val="E8E8E8"/>
            </a:solidFill>
            <a:prstDash val="solid"/>
          </a:ln>
        </p:spPr>
      </p:sp>
      <p:sp>
        <p:nvSpPr>
          <p:cNvPr id="40" name="Text 38"/>
          <p:cNvSpPr/>
          <p:nvPr/>
        </p:nvSpPr>
        <p:spPr>
          <a:xfrm>
            <a:off x="457200" y="5084064"/>
            <a:ext cx="521208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 GTFSデータの一括取り込み可否を確認したい</a:t>
            </a:r>
            <a:endParaRPr lang="en-US" sz="1000" dirty="0"/>
          </a:p>
        </p:txBody>
      </p:sp>
      <p:sp>
        <p:nvSpPr>
          <p:cNvPr id="41" name="Shape 39"/>
          <p:cNvSpPr/>
          <p:nvPr/>
        </p:nvSpPr>
        <p:spPr>
          <a:xfrm>
            <a:off x="6126480" y="5029200"/>
            <a:ext cx="5394960" cy="411480"/>
          </a:xfrm>
          <a:prstGeom prst="rect">
            <a:avLst/>
          </a:prstGeom>
          <a:solidFill>
            <a:srgbClr val="FFF3E0"/>
          </a:solidFill>
          <a:ln w="6350">
            <a:solidFill>
              <a:srgbClr val="E8E8E8"/>
            </a:solidFill>
            <a:prstDash val="solid"/>
          </a:ln>
        </p:spPr>
      </p:sp>
      <p:sp>
        <p:nvSpPr>
          <p:cNvPr id="42" name="Text 40"/>
          <p:cNvSpPr/>
          <p:nvPr/>
        </p:nvSpPr>
        <p:spPr>
          <a:xfrm>
            <a:off x="6217920" y="5084064"/>
            <a:ext cx="5212080" cy="292608"/>
          </a:xfrm>
          <a:prstGeom prst="rect">
            <a:avLst/>
          </a:prstGeom>
          <a:noFill/>
          <a:ln/>
        </p:spPr>
        <p:txBody>
          <a:bodyPr wrap="square" lIns="0" tIns="0" rIns="0" bIns="0" rtlCol="0" anchor="ctr"/>
          <a:lstStyle/>
          <a:p>
            <a:pPr indent="0" marL="0">
              <a:buNone/>
            </a:pPr>
            <a:r>
              <a:rPr lang="en-US" sz="1000" dirty="0">
                <a:solidFill>
                  <a:srgbClr val="E87722"/>
                </a:solidFill>
                <a:latin typeface="Meiryo" pitchFamily="34" charset="0"/>
                <a:ea typeface="Meiryo" pitchFamily="34" charset="-122"/>
                <a:cs typeface="Meiryo" pitchFamily="34" charset="-120"/>
              </a:rPr>
              <a:t>⚡ コンペ参加案件のため競合他社との差別化が必要</a:t>
            </a:r>
            <a:endParaRPr lang="en-US" sz="1000" dirty="0"/>
          </a:p>
        </p:txBody>
      </p:sp>
      <p:sp>
        <p:nvSpPr>
          <p:cNvPr id="43" name="Text 41"/>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2 / 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提案方針</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SmartStampCard × SmartRecieco｜3段階プランで柔軟対応</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P3 提案方針</a:t>
            </a:r>
            <a:endParaRPr lang="en-US" sz="900" dirty="0"/>
          </a:p>
        </p:txBody>
      </p:sp>
      <p:sp>
        <p:nvSpPr>
          <p:cNvPr id="7" name="Shape 5"/>
          <p:cNvSpPr/>
          <p:nvPr/>
        </p:nvSpPr>
        <p:spPr>
          <a:xfrm>
            <a:off x="365760" y="987552"/>
            <a:ext cx="11457432" cy="502920"/>
          </a:xfrm>
          <a:prstGeom prst="rect">
            <a:avLst/>
          </a:prstGeom>
          <a:solidFill>
            <a:srgbClr val="FFF8F0"/>
          </a:solidFill>
          <a:ln w="12700">
            <a:solidFill>
              <a:srgbClr val="E87722"/>
            </a:solidFill>
            <a:prstDash val="solid"/>
          </a:ln>
        </p:spPr>
      </p:sp>
      <p:sp>
        <p:nvSpPr>
          <p:cNvPr id="8" name="Text 6"/>
          <p:cNvSpPr/>
          <p:nvPr/>
        </p:nvSpPr>
        <p:spPr>
          <a:xfrm>
            <a:off x="502920" y="1060704"/>
            <a:ext cx="11155680" cy="365760"/>
          </a:xfrm>
          <a:prstGeom prst="rect">
            <a:avLst/>
          </a:prstGeom>
          <a:noFill/>
          <a:ln/>
        </p:spPr>
        <p:txBody>
          <a:bodyPr wrap="square" lIns="0" tIns="0" rIns="0" bIns="0" rtlCol="0" anchor="ctr"/>
          <a:lstStyle/>
          <a:p>
            <a:pPr indent="0" marL="0">
              <a:buNone/>
            </a:pPr>
            <a:r>
              <a:rPr lang="en-US" sz="1100" i="1" dirty="0">
                <a:solidFill>
                  <a:srgbClr val="7A4200"/>
                </a:solidFill>
                <a:latin typeface="Meiryo" pitchFamily="34" charset="0"/>
                <a:ea typeface="Meiryo" pitchFamily="34" charset="-122"/>
                <a:cs typeface="Meiryo" pitchFamily="34" charset="-120"/>
              </a:rPr>
              <a:t>「要件を100%満たせなくても、目的（公共交通利用促進）を達成できる提案をする」</a:t>
            </a:r>
            <a:endParaRPr lang="en-US" sz="1100" dirty="0"/>
          </a:p>
        </p:txBody>
      </p:sp>
      <p:sp>
        <p:nvSpPr>
          <p:cNvPr id="9" name="Text 7"/>
          <p:cNvSpPr/>
          <p:nvPr/>
        </p:nvSpPr>
        <p:spPr>
          <a:xfrm>
            <a:off x="365760" y="1627632"/>
            <a:ext cx="5029200" cy="292608"/>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プロダクト選定</a:t>
            </a:r>
            <a:endParaRPr lang="en-US" sz="1200" dirty="0"/>
          </a:p>
        </p:txBody>
      </p:sp>
      <p:sp>
        <p:nvSpPr>
          <p:cNvPr id="10" name="Shape 8"/>
          <p:cNvSpPr/>
          <p:nvPr/>
        </p:nvSpPr>
        <p:spPr>
          <a:xfrm>
            <a:off x="365760" y="1993392"/>
            <a:ext cx="5029200" cy="1188720"/>
          </a:xfrm>
          <a:prstGeom prst="roundRect">
            <a:avLst>
              <a:gd name="adj" fmla="val 6154"/>
            </a:avLst>
          </a:prstGeom>
          <a:solidFill>
            <a:srgbClr val="FFF8F0"/>
          </a:solidFill>
          <a:ln w="19050">
            <a:solidFill>
              <a:srgbClr val="E87722"/>
            </a:solidFill>
            <a:prstDash val="solid"/>
          </a:ln>
        </p:spPr>
      </p:sp>
      <p:sp>
        <p:nvSpPr>
          <p:cNvPr id="11" name="Text 9"/>
          <p:cNvSpPr/>
          <p:nvPr/>
        </p:nvSpPr>
        <p:spPr>
          <a:xfrm>
            <a:off x="502920" y="2084832"/>
            <a:ext cx="4754880" cy="320040"/>
          </a:xfrm>
          <a:prstGeom prst="rect">
            <a:avLst/>
          </a:prstGeom>
          <a:noFill/>
          <a:ln/>
        </p:spPr>
        <p:txBody>
          <a:bodyPr wrap="square" lIns="0" tIns="0" rIns="0" bIns="0" rtlCol="0" anchor="ctr"/>
          <a:lstStyle/>
          <a:p>
            <a:pPr indent="0" marL="0">
              <a:buNone/>
            </a:pPr>
            <a:r>
              <a:rPr lang="en-US" sz="1100" b="1" dirty="0">
                <a:solidFill>
                  <a:srgbClr val="E87722"/>
                </a:solidFill>
                <a:latin typeface="Meiryo" pitchFamily="34" charset="0"/>
                <a:ea typeface="Meiryo" pitchFamily="34" charset="-122"/>
                <a:cs typeface="Meiryo" pitchFamily="34" charset="-120"/>
              </a:rPr>
              <a:t>SmartStampCard（スタンダード）</a:t>
            </a:r>
            <a:endParaRPr lang="en-US" sz="1100" dirty="0"/>
          </a:p>
        </p:txBody>
      </p:sp>
      <p:sp>
        <p:nvSpPr>
          <p:cNvPr id="12" name="Text 10"/>
          <p:cNvSpPr/>
          <p:nvPr/>
        </p:nvSpPr>
        <p:spPr>
          <a:xfrm>
            <a:off x="548640" y="2432304"/>
            <a:ext cx="4663440" cy="237744"/>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GPS乗降2点チェックイン → 固定路線の乗車判定</a:t>
            </a:r>
            <a:endParaRPr lang="en-US" sz="950" dirty="0"/>
          </a:p>
        </p:txBody>
      </p:sp>
      <p:sp>
        <p:nvSpPr>
          <p:cNvPr id="13" name="Text 11"/>
          <p:cNvSpPr/>
          <p:nvPr/>
        </p:nvSpPr>
        <p:spPr>
          <a:xfrm>
            <a:off x="548640" y="2688336"/>
            <a:ext cx="4663440" cy="237744"/>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マイレージ機能（OP） → ポイント累積・賞品応募</a:t>
            </a:r>
            <a:endParaRPr lang="en-US" sz="950" dirty="0"/>
          </a:p>
        </p:txBody>
      </p:sp>
      <p:sp>
        <p:nvSpPr>
          <p:cNvPr id="14" name="Text 12"/>
          <p:cNvSpPr/>
          <p:nvPr/>
        </p:nvSpPr>
        <p:spPr>
          <a:xfrm>
            <a:off x="548640" y="2944368"/>
            <a:ext cx="4663440" cy="237744"/>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LINEログイン（OP） → ブラウザ参加・認証基盤</a:t>
            </a:r>
            <a:endParaRPr lang="en-US" sz="950" dirty="0"/>
          </a:p>
        </p:txBody>
      </p:sp>
      <p:sp>
        <p:nvSpPr>
          <p:cNvPr id="15" name="Shape 13"/>
          <p:cNvSpPr/>
          <p:nvPr/>
        </p:nvSpPr>
        <p:spPr>
          <a:xfrm>
            <a:off x="365760" y="3319272"/>
            <a:ext cx="5029200" cy="1188720"/>
          </a:xfrm>
          <a:prstGeom prst="roundRect">
            <a:avLst>
              <a:gd name="adj" fmla="val 6154"/>
            </a:avLst>
          </a:prstGeom>
          <a:solidFill>
            <a:srgbClr val="EEF2FF"/>
          </a:solidFill>
          <a:ln w="19050">
            <a:solidFill>
              <a:srgbClr val="1D4ED8"/>
            </a:solidFill>
            <a:prstDash val="solid"/>
          </a:ln>
        </p:spPr>
      </p:sp>
      <p:sp>
        <p:nvSpPr>
          <p:cNvPr id="16" name="Text 14"/>
          <p:cNvSpPr/>
          <p:nvPr/>
        </p:nvSpPr>
        <p:spPr>
          <a:xfrm>
            <a:off x="502920" y="3410712"/>
            <a:ext cx="4754880" cy="320040"/>
          </a:xfrm>
          <a:prstGeom prst="rect">
            <a:avLst/>
          </a:prstGeom>
          <a:noFill/>
          <a:ln/>
        </p:spPr>
        <p:txBody>
          <a:bodyPr wrap="square" lIns="0" tIns="0" rIns="0" bIns="0" rtlCol="0" anchor="ctr"/>
          <a:lstStyle/>
          <a:p>
            <a:pPr indent="0" marL="0">
              <a:buNone/>
            </a:pPr>
            <a:r>
              <a:rPr lang="en-US" sz="1100" b="1" dirty="0">
                <a:solidFill>
                  <a:srgbClr val="1D4ED8"/>
                </a:solidFill>
                <a:latin typeface="Meiryo" pitchFamily="34" charset="0"/>
                <a:ea typeface="Meiryo" pitchFamily="34" charset="-122"/>
                <a:cs typeface="Meiryo" pitchFamily="34" charset="-120"/>
              </a:rPr>
              <a:t>SmartRecieco（WEB版 マイレージ＋LINE OP）</a:t>
            </a:r>
            <a:endParaRPr lang="en-US" sz="1100" dirty="0"/>
          </a:p>
        </p:txBody>
      </p:sp>
      <p:sp>
        <p:nvSpPr>
          <p:cNvPr id="17" name="Text 15"/>
          <p:cNvSpPr/>
          <p:nvPr/>
        </p:nvSpPr>
        <p:spPr>
          <a:xfrm>
            <a:off x="548640" y="3758184"/>
            <a:ext cx="4663440" cy="237744"/>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OCR自動審査 → タクシー領収書の乗車判定</a:t>
            </a:r>
            <a:endParaRPr lang="en-US" sz="950" dirty="0"/>
          </a:p>
        </p:txBody>
      </p:sp>
      <p:sp>
        <p:nvSpPr>
          <p:cNvPr id="18" name="Text 16"/>
          <p:cNvSpPr/>
          <p:nvPr/>
        </p:nvSpPr>
        <p:spPr>
          <a:xfrm>
            <a:off x="548640" y="4014216"/>
            <a:ext cx="4663440" cy="237744"/>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事務局日次審査 → 重複・不正チェック</a:t>
            </a:r>
            <a:endParaRPr lang="en-US" sz="950" dirty="0"/>
          </a:p>
        </p:txBody>
      </p:sp>
      <p:sp>
        <p:nvSpPr>
          <p:cNvPr id="19" name="Shape 17"/>
          <p:cNvSpPr/>
          <p:nvPr/>
        </p:nvSpPr>
        <p:spPr>
          <a:xfrm>
            <a:off x="365760" y="4663440"/>
            <a:ext cx="5029200" cy="347472"/>
          </a:xfrm>
          <a:prstGeom prst="rect">
            <a:avLst/>
          </a:prstGeom>
          <a:solidFill>
            <a:srgbClr val="E8F5E9"/>
          </a:solidFill>
          <a:ln w="12700">
            <a:solidFill>
              <a:srgbClr val="4CAF50"/>
            </a:solidFill>
            <a:prstDash val="solid"/>
          </a:ln>
        </p:spPr>
      </p:sp>
      <p:sp>
        <p:nvSpPr>
          <p:cNvPr id="20" name="Text 18"/>
          <p:cNvSpPr/>
          <p:nvPr/>
        </p:nvSpPr>
        <p:spPr>
          <a:xfrm>
            <a:off x="502920" y="4727448"/>
            <a:ext cx="4754880" cy="256032"/>
          </a:xfrm>
          <a:prstGeom prst="rect">
            <a:avLst/>
          </a:prstGeom>
          <a:noFill/>
          <a:ln/>
        </p:spPr>
        <p:txBody>
          <a:bodyPr wrap="square" lIns="0" tIns="0" rIns="0" bIns="0" rtlCol="0" anchor="ctr"/>
          <a:lstStyle/>
          <a:p>
            <a:pPr indent="0" marL="0">
              <a:buNone/>
            </a:pPr>
            <a:r>
              <a:rPr lang="en-US" sz="950" dirty="0">
                <a:solidFill>
                  <a:srgbClr val="2E7D32"/>
                </a:solidFill>
                <a:latin typeface="Meiryo" pitchFamily="34" charset="0"/>
                <a:ea typeface="Meiryo" pitchFamily="34" charset="-122"/>
                <a:cs typeface="Meiryo" pitchFamily="34" charset="-120"/>
              </a:rPr>
              <a:t>🔗 連携：Receico承認 → Cardポイント加算（カスタム開発・B-02）</a:t>
            </a:r>
            <a:endParaRPr lang="en-US" sz="950" dirty="0"/>
          </a:p>
        </p:txBody>
      </p:sp>
      <p:sp>
        <p:nvSpPr>
          <p:cNvPr id="21" name="Text 19"/>
          <p:cNvSpPr/>
          <p:nvPr/>
        </p:nvSpPr>
        <p:spPr>
          <a:xfrm>
            <a:off x="5760720" y="1627632"/>
            <a:ext cx="6035040" cy="292608"/>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3段階プラン</a:t>
            </a:r>
            <a:endParaRPr lang="en-US" sz="1200" dirty="0"/>
          </a:p>
        </p:txBody>
      </p:sp>
      <p:sp>
        <p:nvSpPr>
          <p:cNvPr id="22" name="Shape 20"/>
          <p:cNvSpPr/>
          <p:nvPr/>
        </p:nvSpPr>
        <p:spPr>
          <a:xfrm>
            <a:off x="5760720" y="1993392"/>
            <a:ext cx="1874520" cy="3108960"/>
          </a:xfrm>
          <a:prstGeom prst="roundRect">
            <a:avLst>
              <a:gd name="adj" fmla="val 4878"/>
            </a:avLst>
          </a:prstGeom>
          <a:solidFill>
            <a:srgbClr val="F5F5F5"/>
          </a:solidFill>
          <a:ln w="12700">
            <a:solidFill>
              <a:srgbClr val="CCCCCC"/>
            </a:solidFill>
            <a:prstDash val="solid"/>
          </a:ln>
        </p:spPr>
      </p:sp>
      <p:sp>
        <p:nvSpPr>
          <p:cNvPr id="23" name="Text 21"/>
          <p:cNvSpPr/>
          <p:nvPr/>
        </p:nvSpPr>
        <p:spPr>
          <a:xfrm>
            <a:off x="5806440" y="2130552"/>
            <a:ext cx="1783080" cy="411480"/>
          </a:xfrm>
          <a:prstGeom prst="rect">
            <a:avLst/>
          </a:prstGeom>
          <a:noFill/>
          <a:ln/>
        </p:spPr>
        <p:txBody>
          <a:bodyPr wrap="square" lIns="0" tIns="0" rIns="0" bIns="0" rtlCol="0" anchor="ctr"/>
          <a:lstStyle/>
          <a:p>
            <a:pPr algn="ctr" indent="0" marL="0">
              <a:buNone/>
            </a:pPr>
            <a:r>
              <a:rPr lang="en-US" sz="1300" b="1" dirty="0">
                <a:solidFill>
                  <a:srgbClr val="555555"/>
                </a:solidFill>
                <a:latin typeface="Meiryo" pitchFamily="34" charset="0"/>
                <a:ea typeface="Meiryo" pitchFamily="34" charset="-122"/>
                <a:cs typeface="Meiryo" pitchFamily="34" charset="-120"/>
              </a:rPr>
              <a:t>標準プラン</a:t>
            </a:r>
            <a:endParaRPr lang="en-US" sz="1300" dirty="0"/>
          </a:p>
        </p:txBody>
      </p:sp>
      <p:sp>
        <p:nvSpPr>
          <p:cNvPr id="24" name="Text 22"/>
          <p:cNvSpPr/>
          <p:nvPr/>
        </p:nvSpPr>
        <p:spPr>
          <a:xfrm>
            <a:off x="5806440" y="2587752"/>
            <a:ext cx="1783080" cy="457200"/>
          </a:xfrm>
          <a:prstGeom prst="rect">
            <a:avLst/>
          </a:prstGeom>
          <a:noFill/>
          <a:ln/>
        </p:spPr>
        <p:txBody>
          <a:bodyPr wrap="square" lIns="0" tIns="0" rIns="0" bIns="0" rtlCol="0" anchor="ctr"/>
          <a:lstStyle/>
          <a:p>
            <a:pPr algn="ctr" indent="0" marL="0">
              <a:buNone/>
            </a:pPr>
            <a:r>
              <a:rPr lang="en-US" sz="950" dirty="0">
                <a:solidFill>
                  <a:srgbClr val="888888"/>
                </a:solidFill>
                <a:latin typeface="Meiryo" pitchFamily="34" charset="0"/>
                <a:ea typeface="Meiryo" pitchFamily="34" charset="-122"/>
                <a:cs typeface="Meiryo" pitchFamily="34" charset="-120"/>
              </a:rPr>
              <a:t>初期25万〜 / 月3万〜</a:t>
            </a:r>
            <a:endParaRPr lang="en-US" sz="950" dirty="0"/>
          </a:p>
        </p:txBody>
      </p:sp>
      <p:sp>
        <p:nvSpPr>
          <p:cNvPr id="25" name="Shape 23"/>
          <p:cNvSpPr/>
          <p:nvPr/>
        </p:nvSpPr>
        <p:spPr>
          <a:xfrm>
            <a:off x="7690104" y="1993392"/>
            <a:ext cx="1874520" cy="3108960"/>
          </a:xfrm>
          <a:prstGeom prst="roundRect">
            <a:avLst>
              <a:gd name="adj" fmla="val 4878"/>
            </a:avLst>
          </a:prstGeom>
          <a:solidFill>
            <a:srgbClr val="FFF8F0"/>
          </a:solidFill>
          <a:ln w="25400">
            <a:solidFill>
              <a:srgbClr val="E87722"/>
            </a:solidFill>
            <a:prstDash val="solid"/>
          </a:ln>
        </p:spPr>
      </p:sp>
      <p:sp>
        <p:nvSpPr>
          <p:cNvPr id="26" name="Text 24"/>
          <p:cNvSpPr/>
          <p:nvPr/>
        </p:nvSpPr>
        <p:spPr>
          <a:xfrm>
            <a:off x="8055864" y="1810512"/>
            <a:ext cx="1143000" cy="237744"/>
          </a:xfrm>
          <a:prstGeom prst="rect">
            <a:avLst/>
          </a:prstGeom>
          <a:solidFill>
            <a:srgbClr val="E87722"/>
          </a:solidFill>
          <a:ln/>
        </p:spPr>
        <p:txBody>
          <a:bodyPr wrap="square" lIns="25400" tIns="25400" rIns="25400" bIns="2540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 推奨</a:t>
            </a:r>
            <a:endParaRPr lang="en-US" sz="900" dirty="0"/>
          </a:p>
        </p:txBody>
      </p:sp>
      <p:sp>
        <p:nvSpPr>
          <p:cNvPr id="27" name="Text 25"/>
          <p:cNvSpPr/>
          <p:nvPr/>
        </p:nvSpPr>
        <p:spPr>
          <a:xfrm>
            <a:off x="7735824" y="2130552"/>
            <a:ext cx="1783080" cy="411480"/>
          </a:xfrm>
          <a:prstGeom prst="rect">
            <a:avLst/>
          </a:prstGeom>
          <a:noFill/>
          <a:ln/>
        </p:spPr>
        <p:txBody>
          <a:bodyPr wrap="square" lIns="0" tIns="0" rIns="0" bIns="0" rtlCol="0" anchor="ctr"/>
          <a:lstStyle/>
          <a:p>
            <a:pPr algn="ctr" indent="0" marL="0">
              <a:buNone/>
            </a:pPr>
            <a:r>
              <a:rPr lang="en-US" sz="1300" b="1" dirty="0">
                <a:solidFill>
                  <a:srgbClr val="E87722"/>
                </a:solidFill>
                <a:latin typeface="Meiryo" pitchFamily="34" charset="0"/>
                <a:ea typeface="Meiryo" pitchFamily="34" charset="-122"/>
                <a:cs typeface="Meiryo" pitchFamily="34" charset="-120"/>
              </a:rPr>
              <a:t>推奨プラン</a:t>
            </a:r>
            <a:endParaRPr lang="en-US" sz="1300" dirty="0"/>
          </a:p>
        </p:txBody>
      </p:sp>
      <p:sp>
        <p:nvSpPr>
          <p:cNvPr id="28" name="Text 26"/>
          <p:cNvSpPr/>
          <p:nvPr/>
        </p:nvSpPr>
        <p:spPr>
          <a:xfrm>
            <a:off x="7735824" y="2587752"/>
            <a:ext cx="1783080" cy="457200"/>
          </a:xfrm>
          <a:prstGeom prst="rect">
            <a:avLst/>
          </a:prstGeom>
          <a:noFill/>
          <a:ln/>
        </p:spPr>
        <p:txBody>
          <a:bodyPr wrap="square" lIns="0" tIns="0" rIns="0" bIns="0" rtlCol="0" anchor="ctr"/>
          <a:lstStyle/>
          <a:p>
            <a:pPr algn="ctr" indent="0" marL="0">
              <a:buNone/>
            </a:pPr>
            <a:r>
              <a:rPr lang="en-US" sz="950" dirty="0">
                <a:solidFill>
                  <a:srgbClr val="888888"/>
                </a:solidFill>
                <a:latin typeface="Meiryo" pitchFamily="34" charset="0"/>
                <a:ea typeface="Meiryo" pitchFamily="34" charset="-122"/>
                <a:cs typeface="Meiryo" pitchFamily="34" charset="-120"/>
              </a:rPr>
              <a:t>初期65万〜 / 月5万〜</a:t>
            </a:r>
            <a:endParaRPr lang="en-US" sz="950" dirty="0"/>
          </a:p>
        </p:txBody>
      </p:sp>
      <p:sp>
        <p:nvSpPr>
          <p:cNvPr id="29" name="Shape 27"/>
          <p:cNvSpPr/>
          <p:nvPr/>
        </p:nvSpPr>
        <p:spPr>
          <a:xfrm>
            <a:off x="9619488" y="1993392"/>
            <a:ext cx="1874520" cy="3108960"/>
          </a:xfrm>
          <a:prstGeom prst="roundRect">
            <a:avLst>
              <a:gd name="adj" fmla="val 4878"/>
            </a:avLst>
          </a:prstGeom>
          <a:solidFill>
            <a:srgbClr val="F5F5F5"/>
          </a:solidFill>
          <a:ln w="12700">
            <a:solidFill>
              <a:srgbClr val="CCCCCC"/>
            </a:solidFill>
            <a:prstDash val="solid"/>
          </a:ln>
        </p:spPr>
      </p:sp>
      <p:sp>
        <p:nvSpPr>
          <p:cNvPr id="30" name="Text 28"/>
          <p:cNvSpPr/>
          <p:nvPr/>
        </p:nvSpPr>
        <p:spPr>
          <a:xfrm>
            <a:off x="9665208" y="2130552"/>
            <a:ext cx="1783080" cy="411480"/>
          </a:xfrm>
          <a:prstGeom prst="rect">
            <a:avLst/>
          </a:prstGeom>
          <a:noFill/>
          <a:ln/>
        </p:spPr>
        <p:txBody>
          <a:bodyPr wrap="square" lIns="0" tIns="0" rIns="0" bIns="0" rtlCol="0" anchor="ctr"/>
          <a:lstStyle/>
          <a:p>
            <a:pPr algn="ctr" indent="0" marL="0">
              <a:buNone/>
            </a:pPr>
            <a:r>
              <a:rPr lang="en-US" sz="1300" b="1" dirty="0">
                <a:solidFill>
                  <a:srgbClr val="555555"/>
                </a:solidFill>
                <a:latin typeface="Meiryo" pitchFamily="34" charset="0"/>
                <a:ea typeface="Meiryo" pitchFamily="34" charset="-122"/>
                <a:cs typeface="Meiryo" pitchFamily="34" charset="-120"/>
              </a:rPr>
              <a:t>フルカスタム</a:t>
            </a:r>
            <a:endParaRPr lang="en-US" sz="1300" dirty="0"/>
          </a:p>
        </p:txBody>
      </p:sp>
      <p:sp>
        <p:nvSpPr>
          <p:cNvPr id="31" name="Text 29"/>
          <p:cNvSpPr/>
          <p:nvPr/>
        </p:nvSpPr>
        <p:spPr>
          <a:xfrm>
            <a:off x="9665208" y="2587752"/>
            <a:ext cx="1783080" cy="457200"/>
          </a:xfrm>
          <a:prstGeom prst="rect">
            <a:avLst/>
          </a:prstGeom>
          <a:noFill/>
          <a:ln/>
        </p:spPr>
        <p:txBody>
          <a:bodyPr wrap="square" lIns="0" tIns="0" rIns="0" bIns="0" rtlCol="0" anchor="ctr"/>
          <a:lstStyle/>
          <a:p>
            <a:pPr algn="ctr" indent="0" marL="0">
              <a:buNone/>
            </a:pPr>
            <a:r>
              <a:rPr lang="en-US" sz="950" dirty="0">
                <a:solidFill>
                  <a:srgbClr val="888888"/>
                </a:solidFill>
                <a:latin typeface="Meiryo" pitchFamily="34" charset="0"/>
                <a:ea typeface="Meiryo" pitchFamily="34" charset="-122"/>
                <a:cs typeface="Meiryo" pitchFamily="34" charset="-120"/>
              </a:rPr>
              <a:t>要相談</a:t>
            </a:r>
            <a:endParaRPr lang="en-US" sz="950" dirty="0"/>
          </a:p>
        </p:txBody>
      </p:sp>
      <p:sp>
        <p:nvSpPr>
          <p:cNvPr id="32" name="Text 30"/>
          <p:cNvSpPr/>
          <p:nvPr/>
        </p:nvSpPr>
        <p:spPr>
          <a:xfrm>
            <a:off x="5760720" y="5257800"/>
            <a:ext cx="6035040" cy="292608"/>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コンペ戦略</a:t>
            </a:r>
            <a:endParaRPr lang="en-US" sz="1200" dirty="0"/>
          </a:p>
        </p:txBody>
      </p:sp>
      <p:sp>
        <p:nvSpPr>
          <p:cNvPr id="33" name="Text 31"/>
          <p:cNvSpPr/>
          <p:nvPr/>
        </p:nvSpPr>
        <p:spPr>
          <a:xfrm>
            <a:off x="5760720" y="5577840"/>
            <a:ext cx="6035040" cy="347472"/>
          </a:xfrm>
          <a:prstGeom prst="rect">
            <a:avLst/>
          </a:prstGeom>
          <a:noFill/>
          <a:ln/>
        </p:spPr>
        <p:txBody>
          <a:bodyPr wrap="square" lIns="0" tIns="0" rIns="0" bIns="0" rtlCol="0" anchor="ctr"/>
          <a:lstStyle/>
          <a:p>
            <a:pPr indent="0" marL="0">
              <a:buNone/>
            </a:pPr>
            <a:r>
              <a:rPr lang="en-US" sz="1000" dirty="0">
                <a:solidFill>
                  <a:srgbClr val="444444"/>
                </a:solidFill>
                <a:latin typeface="Meiryo" pitchFamily="34" charset="0"/>
                <a:ea typeface="Meiryo" pitchFamily="34" charset="-122"/>
                <a:cs typeface="Meiryo" pitchFamily="34" charset="-120"/>
              </a:rPr>
              <a:t>▶ 行政案件は「スケジュール確実性」と「費用の透明性」が刺さる</a:t>
            </a:r>
            <a:endParaRPr lang="en-US" sz="1000" dirty="0"/>
          </a:p>
        </p:txBody>
      </p:sp>
      <p:sp>
        <p:nvSpPr>
          <p:cNvPr id="34" name="Text 32"/>
          <p:cNvSpPr/>
          <p:nvPr/>
        </p:nvSpPr>
        <p:spPr>
          <a:xfrm>
            <a:off x="5760720" y="5980176"/>
            <a:ext cx="6035040" cy="347472"/>
          </a:xfrm>
          <a:prstGeom prst="rect">
            <a:avLst/>
          </a:prstGeom>
          <a:noFill/>
          <a:ln/>
        </p:spPr>
        <p:txBody>
          <a:bodyPr wrap="square" lIns="0" tIns="0" rIns="0" bIns="0" rtlCol="0" anchor="ctr"/>
          <a:lstStyle/>
          <a:p>
            <a:pPr indent="0" marL="0">
              <a:buNone/>
            </a:pPr>
            <a:r>
              <a:rPr lang="en-US" sz="1000" dirty="0">
                <a:solidFill>
                  <a:srgbClr val="444444"/>
                </a:solidFill>
                <a:latin typeface="Meiryo" pitchFamily="34" charset="0"/>
                <a:ea typeface="Meiryo" pitchFamily="34" charset="-122"/>
                <a:cs typeface="Meiryo" pitchFamily="34" charset="-120"/>
              </a:rPr>
              <a:t>▶ Ph.1 MVP（早期稼働）→ Ph.2 GTFS完全版のフェーズ提案</a:t>
            </a:r>
            <a:endParaRPr lang="en-US" sz="1000" dirty="0"/>
          </a:p>
        </p:txBody>
      </p:sp>
      <p:sp>
        <p:nvSpPr>
          <p:cNvPr id="35" name="Text 33"/>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3 / 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技術的な合意事項</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打合せで決定した設計内容</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P4 技術合意</a:t>
            </a:r>
            <a:endParaRPr lang="en-US" sz="900" dirty="0"/>
          </a:p>
        </p:txBody>
      </p:sp>
      <p:sp>
        <p:nvSpPr>
          <p:cNvPr id="7" name="Shape 5"/>
          <p:cNvSpPr/>
          <p:nvPr/>
        </p:nvSpPr>
        <p:spPr>
          <a:xfrm>
            <a:off x="274320" y="960120"/>
            <a:ext cx="3749040" cy="384048"/>
          </a:xfrm>
          <a:prstGeom prst="rect">
            <a:avLst/>
          </a:prstGeom>
          <a:solidFill>
            <a:srgbClr val="4CAF50"/>
          </a:solidFill>
          <a:ln w="12700">
            <a:solidFill>
              <a:srgbClr val="4CAF50"/>
            </a:solidFill>
            <a:prstDash val="solid"/>
          </a:ln>
        </p:spPr>
      </p:sp>
      <p:sp>
        <p:nvSpPr>
          <p:cNvPr id="8" name="Text 6"/>
          <p:cNvSpPr/>
          <p:nvPr/>
        </p:nvSpPr>
        <p:spPr>
          <a:xfrm>
            <a:off x="347472" y="1005840"/>
            <a:ext cx="3602736" cy="310896"/>
          </a:xfrm>
          <a:prstGeom prst="rect">
            <a:avLst/>
          </a:prstGeom>
          <a:noFill/>
          <a:ln/>
        </p:spPr>
        <p:txBody>
          <a:bodyPr wrap="square" lIns="0" tIns="0" rIns="0" bIns="0" rtlCol="0" anchor="ctr"/>
          <a:lstStyle/>
          <a:p>
            <a:pPr indent="0" marL="0">
              <a:buNone/>
            </a:pPr>
            <a:r>
              <a:rPr lang="en-US" sz="1000" b="1" dirty="0">
                <a:solidFill>
                  <a:srgbClr val="FFFFFF"/>
                </a:solidFill>
                <a:latin typeface="Meiryo" pitchFamily="34" charset="0"/>
                <a:ea typeface="Meiryo" pitchFamily="34" charset="-122"/>
                <a:cs typeface="Meiryo" pitchFamily="34" charset="-120"/>
              </a:rPr>
              <a:t>乗降2点チェックインの仕組み</a:t>
            </a:r>
            <a:endParaRPr lang="en-US" sz="1000" dirty="0"/>
          </a:p>
        </p:txBody>
      </p:sp>
      <p:sp>
        <p:nvSpPr>
          <p:cNvPr id="9" name="Shape 7"/>
          <p:cNvSpPr/>
          <p:nvPr/>
        </p:nvSpPr>
        <p:spPr>
          <a:xfrm>
            <a:off x="274320" y="1389888"/>
            <a:ext cx="3749040" cy="713232"/>
          </a:xfrm>
          <a:prstGeom prst="rect">
            <a:avLst/>
          </a:prstGeom>
          <a:solidFill>
            <a:srgbClr val="FAFAFA"/>
          </a:solidFill>
          <a:ln w="6350">
            <a:solidFill>
              <a:srgbClr val="EEEEEE"/>
            </a:solidFill>
            <a:prstDash val="solid"/>
          </a:ln>
        </p:spPr>
      </p:sp>
      <p:sp>
        <p:nvSpPr>
          <p:cNvPr id="10" name="Text 8"/>
          <p:cNvSpPr/>
          <p:nvPr/>
        </p:nvSpPr>
        <p:spPr>
          <a:xfrm>
            <a:off x="329184" y="1426464"/>
            <a:ext cx="822960" cy="256032"/>
          </a:xfrm>
          <a:prstGeom prst="rect">
            <a:avLst/>
          </a:prstGeom>
          <a:noFill/>
          <a:ln/>
        </p:spPr>
        <p:txBody>
          <a:bodyPr wrap="square" lIns="0" tIns="0" rIns="0" bIns="0" rtlCol="0" anchor="ctr"/>
          <a:lstStyle/>
          <a:p>
            <a:pPr indent="0" marL="0">
              <a:buNone/>
            </a:pPr>
            <a:r>
              <a:rPr lang="en-US" sz="850" b="1" dirty="0">
                <a:solidFill>
                  <a:srgbClr val="4CAF50"/>
                </a:solidFill>
                <a:latin typeface="Meiryo" pitchFamily="34" charset="0"/>
                <a:ea typeface="Meiryo" pitchFamily="34" charset="-122"/>
                <a:cs typeface="Meiryo" pitchFamily="34" charset="-120"/>
              </a:rPr>
              <a:t>①</a:t>
            </a:r>
            <a:endParaRPr lang="en-US" sz="850" dirty="0"/>
          </a:p>
        </p:txBody>
      </p:sp>
      <p:sp>
        <p:nvSpPr>
          <p:cNvPr id="11" name="Text 9"/>
          <p:cNvSpPr/>
          <p:nvPr/>
        </p:nvSpPr>
        <p:spPr>
          <a:xfrm>
            <a:off x="329184" y="1682496"/>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管理画面に各駅・停留所を事前登録（GTFS等から取り込み）</a:t>
            </a:r>
            <a:endParaRPr lang="en-US" sz="900" dirty="0"/>
          </a:p>
        </p:txBody>
      </p:sp>
      <p:sp>
        <p:nvSpPr>
          <p:cNvPr id="12" name="Shape 10"/>
          <p:cNvSpPr/>
          <p:nvPr/>
        </p:nvSpPr>
        <p:spPr>
          <a:xfrm>
            <a:off x="274320" y="2139696"/>
            <a:ext cx="3749040" cy="713232"/>
          </a:xfrm>
          <a:prstGeom prst="rect">
            <a:avLst/>
          </a:prstGeom>
          <a:solidFill>
            <a:srgbClr val="FFFFFF"/>
          </a:solidFill>
          <a:ln w="6350">
            <a:solidFill>
              <a:srgbClr val="EEEEEE"/>
            </a:solidFill>
            <a:prstDash val="solid"/>
          </a:ln>
        </p:spPr>
      </p:sp>
      <p:sp>
        <p:nvSpPr>
          <p:cNvPr id="13" name="Text 11"/>
          <p:cNvSpPr/>
          <p:nvPr/>
        </p:nvSpPr>
        <p:spPr>
          <a:xfrm>
            <a:off x="329184" y="2176272"/>
            <a:ext cx="822960" cy="256032"/>
          </a:xfrm>
          <a:prstGeom prst="rect">
            <a:avLst/>
          </a:prstGeom>
          <a:noFill/>
          <a:ln/>
        </p:spPr>
        <p:txBody>
          <a:bodyPr wrap="square" lIns="0" tIns="0" rIns="0" bIns="0" rtlCol="0" anchor="ctr"/>
          <a:lstStyle/>
          <a:p>
            <a:pPr indent="0" marL="0">
              <a:buNone/>
            </a:pPr>
            <a:r>
              <a:rPr lang="en-US" sz="850" b="1" dirty="0">
                <a:solidFill>
                  <a:srgbClr val="4CAF50"/>
                </a:solidFill>
                <a:latin typeface="Meiryo" pitchFamily="34" charset="0"/>
                <a:ea typeface="Meiryo" pitchFamily="34" charset="-122"/>
                <a:cs typeface="Meiryo" pitchFamily="34" charset="-120"/>
              </a:rPr>
              <a:t>②</a:t>
            </a:r>
            <a:endParaRPr lang="en-US" sz="850" dirty="0"/>
          </a:p>
        </p:txBody>
      </p:sp>
      <p:sp>
        <p:nvSpPr>
          <p:cNvPr id="14" name="Text 12"/>
          <p:cNvSpPr/>
          <p:nvPr/>
        </p:nvSpPr>
        <p:spPr>
          <a:xfrm>
            <a:off x="329184" y="2432304"/>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ユーザーが「乗車」→「降車」の順でGPSスタンプを2回押す</a:t>
            </a:r>
            <a:endParaRPr lang="en-US" sz="900" dirty="0"/>
          </a:p>
        </p:txBody>
      </p:sp>
      <p:sp>
        <p:nvSpPr>
          <p:cNvPr id="15" name="Shape 13"/>
          <p:cNvSpPr/>
          <p:nvPr/>
        </p:nvSpPr>
        <p:spPr>
          <a:xfrm>
            <a:off x="274320" y="2889504"/>
            <a:ext cx="3749040" cy="713232"/>
          </a:xfrm>
          <a:prstGeom prst="rect">
            <a:avLst/>
          </a:prstGeom>
          <a:solidFill>
            <a:srgbClr val="FAFAFA"/>
          </a:solidFill>
          <a:ln w="6350">
            <a:solidFill>
              <a:srgbClr val="EEEEEE"/>
            </a:solidFill>
            <a:prstDash val="solid"/>
          </a:ln>
        </p:spPr>
      </p:sp>
      <p:sp>
        <p:nvSpPr>
          <p:cNvPr id="16" name="Text 14"/>
          <p:cNvSpPr/>
          <p:nvPr/>
        </p:nvSpPr>
        <p:spPr>
          <a:xfrm>
            <a:off x="329184" y="2926080"/>
            <a:ext cx="822960" cy="256032"/>
          </a:xfrm>
          <a:prstGeom prst="rect">
            <a:avLst/>
          </a:prstGeom>
          <a:noFill/>
          <a:ln/>
        </p:spPr>
        <p:txBody>
          <a:bodyPr wrap="square" lIns="0" tIns="0" rIns="0" bIns="0" rtlCol="0" anchor="ctr"/>
          <a:lstStyle/>
          <a:p>
            <a:pPr indent="0" marL="0">
              <a:buNone/>
            </a:pPr>
            <a:r>
              <a:rPr lang="en-US" sz="850" b="1" dirty="0">
                <a:solidFill>
                  <a:srgbClr val="4CAF50"/>
                </a:solidFill>
                <a:latin typeface="Meiryo" pitchFamily="34" charset="0"/>
                <a:ea typeface="Meiryo" pitchFamily="34" charset="-122"/>
                <a:cs typeface="Meiryo" pitchFamily="34" charset="-120"/>
              </a:rPr>
              <a:t>③</a:t>
            </a:r>
            <a:endParaRPr lang="en-US" sz="850" dirty="0"/>
          </a:p>
        </p:txBody>
      </p:sp>
      <p:sp>
        <p:nvSpPr>
          <p:cNvPr id="17" name="Text 15"/>
          <p:cNvSpPr/>
          <p:nvPr/>
        </p:nvSpPr>
        <p:spPr>
          <a:xfrm>
            <a:off x="329184" y="3182112"/>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乗車地＋降車地のペア成立で1ポイント付与</a:t>
            </a:r>
            <a:endParaRPr lang="en-US" sz="900" dirty="0"/>
          </a:p>
        </p:txBody>
      </p:sp>
      <p:sp>
        <p:nvSpPr>
          <p:cNvPr id="18" name="Shape 16"/>
          <p:cNvSpPr/>
          <p:nvPr/>
        </p:nvSpPr>
        <p:spPr>
          <a:xfrm>
            <a:off x="274320" y="3639312"/>
            <a:ext cx="3749040" cy="713232"/>
          </a:xfrm>
          <a:prstGeom prst="rect">
            <a:avLst/>
          </a:prstGeom>
          <a:solidFill>
            <a:srgbClr val="FFFFFF"/>
          </a:solidFill>
          <a:ln w="6350">
            <a:solidFill>
              <a:srgbClr val="EEEEEE"/>
            </a:solidFill>
            <a:prstDash val="solid"/>
          </a:ln>
        </p:spPr>
      </p:sp>
      <p:sp>
        <p:nvSpPr>
          <p:cNvPr id="19" name="Text 17"/>
          <p:cNvSpPr/>
          <p:nvPr/>
        </p:nvSpPr>
        <p:spPr>
          <a:xfrm>
            <a:off x="329184" y="3675888"/>
            <a:ext cx="822960" cy="256032"/>
          </a:xfrm>
          <a:prstGeom prst="rect">
            <a:avLst/>
          </a:prstGeom>
          <a:noFill/>
          <a:ln/>
        </p:spPr>
        <p:txBody>
          <a:bodyPr wrap="square" lIns="0" tIns="0" rIns="0" bIns="0" rtlCol="0" anchor="ctr"/>
          <a:lstStyle/>
          <a:p>
            <a:pPr indent="0" marL="0">
              <a:buNone/>
            </a:pPr>
            <a:r>
              <a:rPr lang="en-US" sz="850" b="1" dirty="0">
                <a:solidFill>
                  <a:srgbClr val="4CAF50"/>
                </a:solidFill>
                <a:latin typeface="Meiryo" pitchFamily="34" charset="0"/>
                <a:ea typeface="Meiryo" pitchFamily="34" charset="-122"/>
                <a:cs typeface="Meiryo" pitchFamily="34" charset="-120"/>
              </a:rPr>
              <a:t>⚠️</a:t>
            </a:r>
            <a:endParaRPr lang="en-US" sz="850" dirty="0"/>
          </a:p>
        </p:txBody>
      </p:sp>
      <p:sp>
        <p:nvSpPr>
          <p:cNvPr id="20" name="Text 18"/>
          <p:cNvSpPr/>
          <p:nvPr/>
        </p:nvSpPr>
        <p:spPr>
          <a:xfrm>
            <a:off x="329184" y="3931920"/>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どちらか片方のみでは付与しない（B-01 カスタム開発）</a:t>
            </a:r>
            <a:endParaRPr lang="en-US" sz="900" dirty="0"/>
          </a:p>
        </p:txBody>
      </p:sp>
      <p:sp>
        <p:nvSpPr>
          <p:cNvPr id="21" name="Shape 19"/>
          <p:cNvSpPr/>
          <p:nvPr/>
        </p:nvSpPr>
        <p:spPr>
          <a:xfrm>
            <a:off x="4206240" y="960120"/>
            <a:ext cx="3749040" cy="384048"/>
          </a:xfrm>
          <a:prstGeom prst="rect">
            <a:avLst/>
          </a:prstGeom>
          <a:solidFill>
            <a:srgbClr val="6366F1"/>
          </a:solidFill>
          <a:ln w="12700">
            <a:solidFill>
              <a:srgbClr val="6366F1"/>
            </a:solidFill>
            <a:prstDash val="solid"/>
          </a:ln>
        </p:spPr>
      </p:sp>
      <p:sp>
        <p:nvSpPr>
          <p:cNvPr id="22" name="Text 20"/>
          <p:cNvSpPr/>
          <p:nvPr/>
        </p:nvSpPr>
        <p:spPr>
          <a:xfrm>
            <a:off x="4279392" y="1005840"/>
            <a:ext cx="3602736" cy="310896"/>
          </a:xfrm>
          <a:prstGeom prst="rect">
            <a:avLst/>
          </a:prstGeom>
          <a:noFill/>
          <a:ln/>
        </p:spPr>
        <p:txBody>
          <a:bodyPr wrap="square" lIns="0" tIns="0" rIns="0" bIns="0" rtlCol="0" anchor="ctr"/>
          <a:lstStyle/>
          <a:p>
            <a:pPr indent="0" marL="0">
              <a:buNone/>
            </a:pPr>
            <a:r>
              <a:rPr lang="en-US" sz="1000" b="1" dirty="0">
                <a:solidFill>
                  <a:srgbClr val="FFFFFF"/>
                </a:solidFill>
                <a:latin typeface="Meiryo" pitchFamily="34" charset="0"/>
                <a:ea typeface="Meiryo" pitchFamily="34" charset="-122"/>
                <a:cs typeface="Meiryo" pitchFamily="34" charset="-120"/>
              </a:rPr>
              <a:t>タクシーレシートの運用フロー</a:t>
            </a:r>
            <a:endParaRPr lang="en-US" sz="1000" dirty="0"/>
          </a:p>
        </p:txBody>
      </p:sp>
      <p:sp>
        <p:nvSpPr>
          <p:cNvPr id="23" name="Shape 21"/>
          <p:cNvSpPr/>
          <p:nvPr/>
        </p:nvSpPr>
        <p:spPr>
          <a:xfrm>
            <a:off x="4206240" y="1389888"/>
            <a:ext cx="3749040" cy="713232"/>
          </a:xfrm>
          <a:prstGeom prst="rect">
            <a:avLst/>
          </a:prstGeom>
          <a:solidFill>
            <a:srgbClr val="FAFAFA"/>
          </a:solidFill>
          <a:ln w="6350">
            <a:solidFill>
              <a:srgbClr val="EEEEEE"/>
            </a:solidFill>
            <a:prstDash val="solid"/>
          </a:ln>
        </p:spPr>
      </p:sp>
      <p:sp>
        <p:nvSpPr>
          <p:cNvPr id="24" name="Text 22"/>
          <p:cNvSpPr/>
          <p:nvPr/>
        </p:nvSpPr>
        <p:spPr>
          <a:xfrm>
            <a:off x="4261104" y="1426464"/>
            <a:ext cx="822960" cy="256032"/>
          </a:xfrm>
          <a:prstGeom prst="rect">
            <a:avLst/>
          </a:prstGeom>
          <a:noFill/>
          <a:ln/>
        </p:spPr>
        <p:txBody>
          <a:bodyPr wrap="square" lIns="0" tIns="0" rIns="0" bIns="0" rtlCol="0" anchor="ctr"/>
          <a:lstStyle/>
          <a:p>
            <a:pPr indent="0" marL="0">
              <a:buNone/>
            </a:pPr>
            <a:r>
              <a:rPr lang="en-US" sz="850" b="1" dirty="0">
                <a:solidFill>
                  <a:srgbClr val="6366F1"/>
                </a:solidFill>
                <a:latin typeface="Meiryo" pitchFamily="34" charset="0"/>
                <a:ea typeface="Meiryo" pitchFamily="34" charset="-122"/>
                <a:cs typeface="Meiryo" pitchFamily="34" charset="-120"/>
              </a:rPr>
              <a:t>ユーザー</a:t>
            </a:r>
            <a:endParaRPr lang="en-US" sz="850" dirty="0"/>
          </a:p>
        </p:txBody>
      </p:sp>
      <p:sp>
        <p:nvSpPr>
          <p:cNvPr id="25" name="Text 23"/>
          <p:cNvSpPr/>
          <p:nvPr/>
        </p:nvSpPr>
        <p:spPr>
          <a:xfrm>
            <a:off x="4261104" y="1682496"/>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領収書を撮影・アップロード（写真を選択ボタン）</a:t>
            </a:r>
            <a:endParaRPr lang="en-US" sz="900" dirty="0"/>
          </a:p>
        </p:txBody>
      </p:sp>
      <p:sp>
        <p:nvSpPr>
          <p:cNvPr id="26" name="Shape 24"/>
          <p:cNvSpPr/>
          <p:nvPr/>
        </p:nvSpPr>
        <p:spPr>
          <a:xfrm>
            <a:off x="4206240" y="2139696"/>
            <a:ext cx="3749040" cy="713232"/>
          </a:xfrm>
          <a:prstGeom prst="rect">
            <a:avLst/>
          </a:prstGeom>
          <a:solidFill>
            <a:srgbClr val="FFFFFF"/>
          </a:solidFill>
          <a:ln w="6350">
            <a:solidFill>
              <a:srgbClr val="EEEEEE"/>
            </a:solidFill>
            <a:prstDash val="solid"/>
          </a:ln>
        </p:spPr>
      </p:sp>
      <p:sp>
        <p:nvSpPr>
          <p:cNvPr id="27" name="Text 25"/>
          <p:cNvSpPr/>
          <p:nvPr/>
        </p:nvSpPr>
        <p:spPr>
          <a:xfrm>
            <a:off x="4261104" y="2176272"/>
            <a:ext cx="822960" cy="256032"/>
          </a:xfrm>
          <a:prstGeom prst="rect">
            <a:avLst/>
          </a:prstGeom>
          <a:noFill/>
          <a:ln/>
        </p:spPr>
        <p:txBody>
          <a:bodyPr wrap="square" lIns="0" tIns="0" rIns="0" bIns="0" rtlCol="0" anchor="ctr"/>
          <a:lstStyle/>
          <a:p>
            <a:pPr indent="0" marL="0">
              <a:buNone/>
            </a:pPr>
            <a:r>
              <a:rPr lang="en-US" sz="850" b="1" dirty="0">
                <a:solidFill>
                  <a:srgbClr val="6366F1"/>
                </a:solidFill>
                <a:latin typeface="Meiryo" pitchFamily="34" charset="0"/>
                <a:ea typeface="Meiryo" pitchFamily="34" charset="-122"/>
                <a:cs typeface="Meiryo" pitchFamily="34" charset="-120"/>
              </a:rPr>
              <a:t>OCR自動</a:t>
            </a:r>
            <a:endParaRPr lang="en-US" sz="850" dirty="0"/>
          </a:p>
        </p:txBody>
      </p:sp>
      <p:sp>
        <p:nvSpPr>
          <p:cNvPr id="28" name="Text 26"/>
          <p:cNvSpPr/>
          <p:nvPr/>
        </p:nvSpPr>
        <p:spPr>
          <a:xfrm>
            <a:off x="4261104" y="2432304"/>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タクシー会社名・日時をタグ条件で自動判定</a:t>
            </a:r>
            <a:endParaRPr lang="en-US" sz="900" dirty="0"/>
          </a:p>
        </p:txBody>
      </p:sp>
      <p:sp>
        <p:nvSpPr>
          <p:cNvPr id="29" name="Shape 27"/>
          <p:cNvSpPr/>
          <p:nvPr/>
        </p:nvSpPr>
        <p:spPr>
          <a:xfrm>
            <a:off x="4206240" y="2889504"/>
            <a:ext cx="3749040" cy="713232"/>
          </a:xfrm>
          <a:prstGeom prst="rect">
            <a:avLst/>
          </a:prstGeom>
          <a:solidFill>
            <a:srgbClr val="FAFAFA"/>
          </a:solidFill>
          <a:ln w="6350">
            <a:solidFill>
              <a:srgbClr val="EEEEEE"/>
            </a:solidFill>
            <a:prstDash val="solid"/>
          </a:ln>
        </p:spPr>
      </p:sp>
      <p:sp>
        <p:nvSpPr>
          <p:cNvPr id="30" name="Text 28"/>
          <p:cNvSpPr/>
          <p:nvPr/>
        </p:nvSpPr>
        <p:spPr>
          <a:xfrm>
            <a:off x="4261104" y="2926080"/>
            <a:ext cx="822960" cy="256032"/>
          </a:xfrm>
          <a:prstGeom prst="rect">
            <a:avLst/>
          </a:prstGeom>
          <a:noFill/>
          <a:ln/>
        </p:spPr>
        <p:txBody>
          <a:bodyPr wrap="square" lIns="0" tIns="0" rIns="0" bIns="0" rtlCol="0" anchor="ctr"/>
          <a:lstStyle/>
          <a:p>
            <a:pPr indent="0" marL="0">
              <a:buNone/>
            </a:pPr>
            <a:r>
              <a:rPr lang="en-US" sz="850" b="1" dirty="0">
                <a:solidFill>
                  <a:srgbClr val="6366F1"/>
                </a:solidFill>
                <a:latin typeface="Meiryo" pitchFamily="34" charset="0"/>
                <a:ea typeface="Meiryo" pitchFamily="34" charset="-122"/>
                <a:cs typeface="Meiryo" pitchFamily="34" charset="-120"/>
              </a:rPr>
              <a:t>⚠️ 重要</a:t>
            </a:r>
            <a:endParaRPr lang="en-US" sz="850" dirty="0"/>
          </a:p>
        </p:txBody>
      </p:sp>
      <p:sp>
        <p:nvSpPr>
          <p:cNvPr id="31" name="Text 29"/>
          <p:cNvSpPr/>
          <p:nvPr/>
        </p:nvSpPr>
        <p:spPr>
          <a:xfrm>
            <a:off x="4261104" y="3182112"/>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OCR結果はユーザー画面に表示しない（管理側のみ）</a:t>
            </a:r>
            <a:endParaRPr lang="en-US" sz="900" dirty="0"/>
          </a:p>
        </p:txBody>
      </p:sp>
      <p:sp>
        <p:nvSpPr>
          <p:cNvPr id="32" name="Shape 30"/>
          <p:cNvSpPr/>
          <p:nvPr/>
        </p:nvSpPr>
        <p:spPr>
          <a:xfrm>
            <a:off x="4206240" y="3639312"/>
            <a:ext cx="3749040" cy="713232"/>
          </a:xfrm>
          <a:prstGeom prst="rect">
            <a:avLst/>
          </a:prstGeom>
          <a:solidFill>
            <a:srgbClr val="FFFFFF"/>
          </a:solidFill>
          <a:ln w="6350">
            <a:solidFill>
              <a:srgbClr val="EEEEEE"/>
            </a:solidFill>
            <a:prstDash val="solid"/>
          </a:ln>
        </p:spPr>
      </p:sp>
      <p:sp>
        <p:nvSpPr>
          <p:cNvPr id="33" name="Text 31"/>
          <p:cNvSpPr/>
          <p:nvPr/>
        </p:nvSpPr>
        <p:spPr>
          <a:xfrm>
            <a:off x="4261104" y="3675888"/>
            <a:ext cx="822960" cy="256032"/>
          </a:xfrm>
          <a:prstGeom prst="rect">
            <a:avLst/>
          </a:prstGeom>
          <a:noFill/>
          <a:ln/>
        </p:spPr>
        <p:txBody>
          <a:bodyPr wrap="square" lIns="0" tIns="0" rIns="0" bIns="0" rtlCol="0" anchor="ctr"/>
          <a:lstStyle/>
          <a:p>
            <a:pPr indent="0" marL="0">
              <a:buNone/>
            </a:pPr>
            <a:r>
              <a:rPr lang="en-US" sz="850" b="1" dirty="0">
                <a:solidFill>
                  <a:srgbClr val="6366F1"/>
                </a:solidFill>
                <a:latin typeface="Meiryo" pitchFamily="34" charset="0"/>
                <a:ea typeface="Meiryo" pitchFamily="34" charset="-122"/>
                <a:cs typeface="Meiryo" pitchFamily="34" charset="-120"/>
              </a:rPr>
              <a:t>事務局</a:t>
            </a:r>
            <a:endParaRPr lang="en-US" sz="850" dirty="0"/>
          </a:p>
        </p:txBody>
      </p:sp>
      <p:sp>
        <p:nvSpPr>
          <p:cNvPr id="34" name="Text 32"/>
          <p:cNvSpPr/>
          <p:nvPr/>
        </p:nvSpPr>
        <p:spPr>
          <a:xfrm>
            <a:off x="4261104" y="3931920"/>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1日1回目視確認（最大100件/日）→ 承認でCardにポイント反映</a:t>
            </a:r>
            <a:endParaRPr lang="en-US" sz="900" dirty="0"/>
          </a:p>
        </p:txBody>
      </p:sp>
      <p:sp>
        <p:nvSpPr>
          <p:cNvPr id="35" name="Shape 33"/>
          <p:cNvSpPr/>
          <p:nvPr/>
        </p:nvSpPr>
        <p:spPr>
          <a:xfrm>
            <a:off x="4206240" y="4389120"/>
            <a:ext cx="3749040" cy="713232"/>
          </a:xfrm>
          <a:prstGeom prst="rect">
            <a:avLst/>
          </a:prstGeom>
          <a:solidFill>
            <a:srgbClr val="FAFAFA"/>
          </a:solidFill>
          <a:ln w="6350">
            <a:solidFill>
              <a:srgbClr val="EEEEEE"/>
            </a:solidFill>
            <a:prstDash val="solid"/>
          </a:ln>
        </p:spPr>
      </p:sp>
      <p:sp>
        <p:nvSpPr>
          <p:cNvPr id="36" name="Text 34"/>
          <p:cNvSpPr/>
          <p:nvPr/>
        </p:nvSpPr>
        <p:spPr>
          <a:xfrm>
            <a:off x="4261104" y="4425696"/>
            <a:ext cx="822960" cy="256032"/>
          </a:xfrm>
          <a:prstGeom prst="rect">
            <a:avLst/>
          </a:prstGeom>
          <a:noFill/>
          <a:ln/>
        </p:spPr>
        <p:txBody>
          <a:bodyPr wrap="square" lIns="0" tIns="0" rIns="0" bIns="0" rtlCol="0" anchor="ctr"/>
          <a:lstStyle/>
          <a:p>
            <a:pPr indent="0" marL="0">
              <a:buNone/>
            </a:pPr>
            <a:r>
              <a:rPr lang="en-US" sz="850" b="1" dirty="0">
                <a:solidFill>
                  <a:srgbClr val="6366F1"/>
                </a:solidFill>
                <a:latin typeface="Meiryo" pitchFamily="34" charset="0"/>
                <a:ea typeface="Meiryo" pitchFamily="34" charset="-122"/>
                <a:cs typeface="Meiryo" pitchFamily="34" charset="-120"/>
              </a:rPr>
              <a:t>表示</a:t>
            </a:r>
            <a:endParaRPr lang="en-US" sz="850" dirty="0"/>
          </a:p>
        </p:txBody>
      </p:sp>
      <p:sp>
        <p:nvSpPr>
          <p:cNvPr id="37" name="Text 35"/>
          <p:cNvSpPr/>
          <p:nvPr/>
        </p:nvSpPr>
        <p:spPr>
          <a:xfrm>
            <a:off x="4261104" y="4681728"/>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「2〜3営業日以内に付与」と表示</a:t>
            </a:r>
            <a:endParaRPr lang="en-US" sz="900" dirty="0"/>
          </a:p>
        </p:txBody>
      </p:sp>
      <p:sp>
        <p:nvSpPr>
          <p:cNvPr id="38" name="Shape 36"/>
          <p:cNvSpPr/>
          <p:nvPr/>
        </p:nvSpPr>
        <p:spPr>
          <a:xfrm>
            <a:off x="8138160" y="960120"/>
            <a:ext cx="3749040" cy="384048"/>
          </a:xfrm>
          <a:prstGeom prst="rect">
            <a:avLst/>
          </a:prstGeom>
          <a:solidFill>
            <a:srgbClr val="E87722"/>
          </a:solidFill>
          <a:ln w="12700">
            <a:solidFill>
              <a:srgbClr val="E87722"/>
            </a:solidFill>
            <a:prstDash val="solid"/>
          </a:ln>
        </p:spPr>
      </p:sp>
      <p:sp>
        <p:nvSpPr>
          <p:cNvPr id="39" name="Text 37"/>
          <p:cNvSpPr/>
          <p:nvPr/>
        </p:nvSpPr>
        <p:spPr>
          <a:xfrm>
            <a:off x="8211312" y="1005840"/>
            <a:ext cx="3602736" cy="310896"/>
          </a:xfrm>
          <a:prstGeom prst="rect">
            <a:avLst/>
          </a:prstGeom>
          <a:noFill/>
          <a:ln/>
        </p:spPr>
        <p:txBody>
          <a:bodyPr wrap="square" lIns="0" tIns="0" rIns="0" bIns="0" rtlCol="0" anchor="ctr"/>
          <a:lstStyle/>
          <a:p>
            <a:pPr indent="0" marL="0">
              <a:buNone/>
            </a:pPr>
            <a:r>
              <a:rPr lang="en-US" sz="1000" b="1" dirty="0">
                <a:solidFill>
                  <a:srgbClr val="FFFFFF"/>
                </a:solidFill>
                <a:latin typeface="Meiryo" pitchFamily="34" charset="0"/>
                <a:ea typeface="Meiryo" pitchFamily="34" charset="-122"/>
                <a:cs typeface="Meiryo" pitchFamily="34" charset="-120"/>
              </a:rPr>
              <a:t>ポイント統合の設計</a:t>
            </a:r>
            <a:endParaRPr lang="en-US" sz="1000" dirty="0"/>
          </a:p>
        </p:txBody>
      </p:sp>
      <p:sp>
        <p:nvSpPr>
          <p:cNvPr id="40" name="Shape 38"/>
          <p:cNvSpPr/>
          <p:nvPr/>
        </p:nvSpPr>
        <p:spPr>
          <a:xfrm>
            <a:off x="8138160" y="1389888"/>
            <a:ext cx="3749040" cy="713232"/>
          </a:xfrm>
          <a:prstGeom prst="rect">
            <a:avLst/>
          </a:prstGeom>
          <a:solidFill>
            <a:srgbClr val="FAFAFA"/>
          </a:solidFill>
          <a:ln w="6350">
            <a:solidFill>
              <a:srgbClr val="EEEEEE"/>
            </a:solidFill>
            <a:prstDash val="solid"/>
          </a:ln>
        </p:spPr>
      </p:sp>
      <p:sp>
        <p:nvSpPr>
          <p:cNvPr id="41" name="Text 39"/>
          <p:cNvSpPr/>
          <p:nvPr/>
        </p:nvSpPr>
        <p:spPr>
          <a:xfrm>
            <a:off x="8193024" y="1426464"/>
            <a:ext cx="822960" cy="256032"/>
          </a:xfrm>
          <a:prstGeom prst="rect">
            <a:avLst/>
          </a:prstGeom>
          <a:noFill/>
          <a:ln/>
        </p:spPr>
        <p:txBody>
          <a:bodyPr wrap="square" lIns="0" tIns="0" rIns="0" bIns="0" rtlCol="0" anchor="ctr"/>
          <a:lstStyle/>
          <a:p>
            <a:pPr indent="0" marL="0">
              <a:buNone/>
            </a:pPr>
            <a:r>
              <a:rPr lang="en-US" sz="850" b="1" dirty="0">
                <a:solidFill>
                  <a:srgbClr val="E87722"/>
                </a:solidFill>
                <a:latin typeface="Meiryo" pitchFamily="34" charset="0"/>
                <a:ea typeface="Meiryo" pitchFamily="34" charset="-122"/>
                <a:cs typeface="Meiryo" pitchFamily="34" charset="-120"/>
              </a:rPr>
              <a:t>基盤</a:t>
            </a:r>
            <a:endParaRPr lang="en-US" sz="850" dirty="0"/>
          </a:p>
        </p:txBody>
      </p:sp>
      <p:sp>
        <p:nvSpPr>
          <p:cNvPr id="42" name="Text 40"/>
          <p:cNvSpPr/>
          <p:nvPr/>
        </p:nvSpPr>
        <p:spPr>
          <a:xfrm>
            <a:off x="8193024" y="1682496"/>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StampCardをポイント管理の基盤とする</a:t>
            </a:r>
            <a:endParaRPr lang="en-US" sz="900" dirty="0"/>
          </a:p>
        </p:txBody>
      </p:sp>
      <p:sp>
        <p:nvSpPr>
          <p:cNvPr id="43" name="Shape 41"/>
          <p:cNvSpPr/>
          <p:nvPr/>
        </p:nvSpPr>
        <p:spPr>
          <a:xfrm>
            <a:off x="8138160" y="2139696"/>
            <a:ext cx="3749040" cy="713232"/>
          </a:xfrm>
          <a:prstGeom prst="rect">
            <a:avLst/>
          </a:prstGeom>
          <a:solidFill>
            <a:srgbClr val="FFFFFF"/>
          </a:solidFill>
          <a:ln w="6350">
            <a:solidFill>
              <a:srgbClr val="EEEEEE"/>
            </a:solidFill>
            <a:prstDash val="solid"/>
          </a:ln>
        </p:spPr>
      </p:sp>
      <p:sp>
        <p:nvSpPr>
          <p:cNvPr id="44" name="Text 42"/>
          <p:cNvSpPr/>
          <p:nvPr/>
        </p:nvSpPr>
        <p:spPr>
          <a:xfrm>
            <a:off x="8193024" y="2176272"/>
            <a:ext cx="822960" cy="256032"/>
          </a:xfrm>
          <a:prstGeom prst="rect">
            <a:avLst/>
          </a:prstGeom>
          <a:noFill/>
          <a:ln/>
        </p:spPr>
        <p:txBody>
          <a:bodyPr wrap="square" lIns="0" tIns="0" rIns="0" bIns="0" rtlCol="0" anchor="ctr"/>
          <a:lstStyle/>
          <a:p>
            <a:pPr indent="0" marL="0">
              <a:buNone/>
            </a:pPr>
            <a:r>
              <a:rPr lang="en-US" sz="850" b="1" dirty="0">
                <a:solidFill>
                  <a:srgbClr val="E87722"/>
                </a:solidFill>
                <a:latin typeface="Meiryo" pitchFamily="34" charset="0"/>
                <a:ea typeface="Meiryo" pitchFamily="34" charset="-122"/>
                <a:cs typeface="Meiryo" pitchFamily="34" charset="-120"/>
              </a:rPr>
              <a:t>SSO</a:t>
            </a:r>
            <a:endParaRPr lang="en-US" sz="850" dirty="0"/>
          </a:p>
        </p:txBody>
      </p:sp>
      <p:sp>
        <p:nvSpPr>
          <p:cNvPr id="45" name="Text 43"/>
          <p:cNvSpPr/>
          <p:nvPr/>
        </p:nvSpPr>
        <p:spPr>
          <a:xfrm>
            <a:off x="8193024" y="2432304"/>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ReceicoはLINEトークン引き継ぎ（SSO）でCardからシームレス遷移</a:t>
            </a:r>
            <a:endParaRPr lang="en-US" sz="900" dirty="0"/>
          </a:p>
        </p:txBody>
      </p:sp>
      <p:sp>
        <p:nvSpPr>
          <p:cNvPr id="46" name="Shape 44"/>
          <p:cNvSpPr/>
          <p:nvPr/>
        </p:nvSpPr>
        <p:spPr>
          <a:xfrm>
            <a:off x="8138160" y="2889504"/>
            <a:ext cx="3749040" cy="713232"/>
          </a:xfrm>
          <a:prstGeom prst="rect">
            <a:avLst/>
          </a:prstGeom>
          <a:solidFill>
            <a:srgbClr val="FAFAFA"/>
          </a:solidFill>
          <a:ln w="6350">
            <a:solidFill>
              <a:srgbClr val="EEEEEE"/>
            </a:solidFill>
            <a:prstDash val="solid"/>
          </a:ln>
        </p:spPr>
      </p:sp>
      <p:sp>
        <p:nvSpPr>
          <p:cNvPr id="47" name="Text 45"/>
          <p:cNvSpPr/>
          <p:nvPr/>
        </p:nvSpPr>
        <p:spPr>
          <a:xfrm>
            <a:off x="8193024" y="2926080"/>
            <a:ext cx="822960" cy="256032"/>
          </a:xfrm>
          <a:prstGeom prst="rect">
            <a:avLst/>
          </a:prstGeom>
          <a:noFill/>
          <a:ln/>
        </p:spPr>
        <p:txBody>
          <a:bodyPr wrap="square" lIns="0" tIns="0" rIns="0" bIns="0" rtlCol="0" anchor="ctr"/>
          <a:lstStyle/>
          <a:p>
            <a:pPr indent="0" marL="0">
              <a:buNone/>
            </a:pPr>
            <a:r>
              <a:rPr lang="en-US" sz="850" b="1" dirty="0">
                <a:solidFill>
                  <a:srgbClr val="E87722"/>
                </a:solidFill>
                <a:latin typeface="Meiryo" pitchFamily="34" charset="0"/>
                <a:ea typeface="Meiryo" pitchFamily="34" charset="-122"/>
                <a:cs typeface="Meiryo" pitchFamily="34" charset="-120"/>
              </a:rPr>
              <a:t>連携</a:t>
            </a:r>
            <a:endParaRPr lang="en-US" sz="850" dirty="0"/>
          </a:p>
        </p:txBody>
      </p:sp>
      <p:sp>
        <p:nvSpPr>
          <p:cNvPr id="48" name="Text 46"/>
          <p:cNvSpPr/>
          <p:nvPr/>
        </p:nvSpPr>
        <p:spPr>
          <a:xfrm>
            <a:off x="8193024" y="3182112"/>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タクシー承認ポイントはReceico→CardへのAPI連携（Webhook）で反映</a:t>
            </a:r>
            <a:endParaRPr lang="en-US" sz="900" dirty="0"/>
          </a:p>
        </p:txBody>
      </p:sp>
      <p:sp>
        <p:nvSpPr>
          <p:cNvPr id="49" name="Shape 47"/>
          <p:cNvSpPr/>
          <p:nvPr/>
        </p:nvSpPr>
        <p:spPr>
          <a:xfrm>
            <a:off x="8138160" y="3639312"/>
            <a:ext cx="3749040" cy="713232"/>
          </a:xfrm>
          <a:prstGeom prst="rect">
            <a:avLst/>
          </a:prstGeom>
          <a:solidFill>
            <a:srgbClr val="FFFFFF"/>
          </a:solidFill>
          <a:ln w="6350">
            <a:solidFill>
              <a:srgbClr val="EEEEEE"/>
            </a:solidFill>
            <a:prstDash val="solid"/>
          </a:ln>
        </p:spPr>
      </p:sp>
      <p:sp>
        <p:nvSpPr>
          <p:cNvPr id="50" name="Text 48"/>
          <p:cNvSpPr/>
          <p:nvPr/>
        </p:nvSpPr>
        <p:spPr>
          <a:xfrm>
            <a:off x="8193024" y="3675888"/>
            <a:ext cx="822960" cy="256032"/>
          </a:xfrm>
          <a:prstGeom prst="rect">
            <a:avLst/>
          </a:prstGeom>
          <a:noFill/>
          <a:ln/>
        </p:spPr>
        <p:txBody>
          <a:bodyPr wrap="square" lIns="0" tIns="0" rIns="0" bIns="0" rtlCol="0" anchor="ctr"/>
          <a:lstStyle/>
          <a:p>
            <a:pPr indent="0" marL="0">
              <a:buNone/>
            </a:pPr>
            <a:r>
              <a:rPr lang="en-US" sz="850" b="1" dirty="0">
                <a:solidFill>
                  <a:srgbClr val="E87722"/>
                </a:solidFill>
                <a:latin typeface="Meiryo" pitchFamily="34" charset="0"/>
                <a:ea typeface="Meiryo" pitchFamily="34" charset="-122"/>
                <a:cs typeface="Meiryo" pitchFamily="34" charset="-120"/>
              </a:rPr>
              <a:t>表示</a:t>
            </a:r>
            <a:endParaRPr lang="en-US" sz="850" dirty="0"/>
          </a:p>
        </p:txBody>
      </p:sp>
      <p:sp>
        <p:nvSpPr>
          <p:cNvPr id="51" name="Text 49"/>
          <p:cNvSpPr/>
          <p:nvPr/>
        </p:nvSpPr>
        <p:spPr>
          <a:xfrm>
            <a:off x="8193024" y="3931920"/>
            <a:ext cx="3639312" cy="36576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「GPS乗車分」「タクシー承認済」「審査中（予定）」を内訳表示</a:t>
            </a:r>
            <a:endParaRPr lang="en-US" sz="900" dirty="0"/>
          </a:p>
        </p:txBody>
      </p:sp>
      <p:sp>
        <p:nvSpPr>
          <p:cNvPr id="52" name="Text 50"/>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4 / 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カスタム開発が必要な箇所</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SE算定対象｜標準機能以外のカスタム開発ポイント</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P5 カスタム開発</a:t>
            </a:r>
            <a:endParaRPr lang="en-US" sz="900" dirty="0"/>
          </a:p>
        </p:txBody>
      </p:sp>
      <p:sp>
        <p:nvSpPr>
          <p:cNvPr id="7" name="Shape 5"/>
          <p:cNvSpPr/>
          <p:nvPr/>
        </p:nvSpPr>
        <p:spPr>
          <a:xfrm>
            <a:off x="274320" y="987552"/>
            <a:ext cx="731520" cy="365760"/>
          </a:xfrm>
          <a:prstGeom prst="rect">
            <a:avLst/>
          </a:prstGeom>
          <a:solidFill>
            <a:srgbClr val="E87722"/>
          </a:solidFill>
          <a:ln w="12700">
            <a:solidFill>
              <a:srgbClr val="E87722"/>
            </a:solidFill>
            <a:prstDash val="solid"/>
          </a:ln>
        </p:spPr>
      </p:sp>
      <p:sp>
        <p:nvSpPr>
          <p:cNvPr id="8" name="Text 6"/>
          <p:cNvSpPr/>
          <p:nvPr/>
        </p:nvSpPr>
        <p:spPr>
          <a:xfrm>
            <a:off x="320040" y="1024128"/>
            <a:ext cx="640080"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ID</a:t>
            </a:r>
            <a:endParaRPr lang="en-US" sz="900" dirty="0"/>
          </a:p>
        </p:txBody>
      </p:sp>
      <p:sp>
        <p:nvSpPr>
          <p:cNvPr id="9" name="Shape 7"/>
          <p:cNvSpPr/>
          <p:nvPr/>
        </p:nvSpPr>
        <p:spPr>
          <a:xfrm>
            <a:off x="1005840" y="987552"/>
            <a:ext cx="914400" cy="365760"/>
          </a:xfrm>
          <a:prstGeom prst="rect">
            <a:avLst/>
          </a:prstGeom>
          <a:solidFill>
            <a:srgbClr val="E87722"/>
          </a:solidFill>
          <a:ln w="12700">
            <a:solidFill>
              <a:srgbClr val="E87722"/>
            </a:solidFill>
            <a:prstDash val="solid"/>
          </a:ln>
        </p:spPr>
      </p:sp>
      <p:sp>
        <p:nvSpPr>
          <p:cNvPr id="10" name="Text 8"/>
          <p:cNvSpPr/>
          <p:nvPr/>
        </p:nvSpPr>
        <p:spPr>
          <a:xfrm>
            <a:off x="1051560" y="1024128"/>
            <a:ext cx="822960"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区分</a:t>
            </a:r>
            <a:endParaRPr lang="en-US" sz="900" dirty="0"/>
          </a:p>
        </p:txBody>
      </p:sp>
      <p:sp>
        <p:nvSpPr>
          <p:cNvPr id="11" name="Shape 9"/>
          <p:cNvSpPr/>
          <p:nvPr/>
        </p:nvSpPr>
        <p:spPr>
          <a:xfrm>
            <a:off x="1920240" y="987552"/>
            <a:ext cx="2286000" cy="365760"/>
          </a:xfrm>
          <a:prstGeom prst="rect">
            <a:avLst/>
          </a:prstGeom>
          <a:solidFill>
            <a:srgbClr val="E87722"/>
          </a:solidFill>
          <a:ln w="12700">
            <a:solidFill>
              <a:srgbClr val="E87722"/>
            </a:solidFill>
            <a:prstDash val="solid"/>
          </a:ln>
        </p:spPr>
      </p:sp>
      <p:sp>
        <p:nvSpPr>
          <p:cNvPr id="12" name="Text 10"/>
          <p:cNvSpPr/>
          <p:nvPr/>
        </p:nvSpPr>
        <p:spPr>
          <a:xfrm>
            <a:off x="1965960" y="1024128"/>
            <a:ext cx="2194560"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機能名</a:t>
            </a:r>
            <a:endParaRPr lang="en-US" sz="900" dirty="0"/>
          </a:p>
        </p:txBody>
      </p:sp>
      <p:sp>
        <p:nvSpPr>
          <p:cNvPr id="13" name="Shape 11"/>
          <p:cNvSpPr/>
          <p:nvPr/>
        </p:nvSpPr>
        <p:spPr>
          <a:xfrm>
            <a:off x="4206240" y="987552"/>
            <a:ext cx="5120640" cy="365760"/>
          </a:xfrm>
          <a:prstGeom prst="rect">
            <a:avLst/>
          </a:prstGeom>
          <a:solidFill>
            <a:srgbClr val="E87722"/>
          </a:solidFill>
          <a:ln w="12700">
            <a:solidFill>
              <a:srgbClr val="E87722"/>
            </a:solidFill>
            <a:prstDash val="solid"/>
          </a:ln>
        </p:spPr>
      </p:sp>
      <p:sp>
        <p:nvSpPr>
          <p:cNvPr id="14" name="Text 12"/>
          <p:cNvSpPr/>
          <p:nvPr/>
        </p:nvSpPr>
        <p:spPr>
          <a:xfrm>
            <a:off x="4251960" y="1024128"/>
            <a:ext cx="5029200"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要件概要</a:t>
            </a:r>
            <a:endParaRPr lang="en-US" sz="900" dirty="0"/>
          </a:p>
        </p:txBody>
      </p:sp>
      <p:sp>
        <p:nvSpPr>
          <p:cNvPr id="15" name="Shape 13"/>
          <p:cNvSpPr/>
          <p:nvPr/>
        </p:nvSpPr>
        <p:spPr>
          <a:xfrm>
            <a:off x="9326880" y="987552"/>
            <a:ext cx="914400" cy="365760"/>
          </a:xfrm>
          <a:prstGeom prst="rect">
            <a:avLst/>
          </a:prstGeom>
          <a:solidFill>
            <a:srgbClr val="E87722"/>
          </a:solidFill>
          <a:ln w="12700">
            <a:solidFill>
              <a:srgbClr val="E87722"/>
            </a:solidFill>
            <a:prstDash val="solid"/>
          </a:ln>
        </p:spPr>
      </p:sp>
      <p:sp>
        <p:nvSpPr>
          <p:cNvPr id="16" name="Text 14"/>
          <p:cNvSpPr/>
          <p:nvPr/>
        </p:nvSpPr>
        <p:spPr>
          <a:xfrm>
            <a:off x="9372600" y="1024128"/>
            <a:ext cx="822960"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難易度</a:t>
            </a:r>
            <a:endParaRPr lang="en-US" sz="900" dirty="0"/>
          </a:p>
        </p:txBody>
      </p:sp>
      <p:sp>
        <p:nvSpPr>
          <p:cNvPr id="17" name="Shape 15"/>
          <p:cNvSpPr/>
          <p:nvPr/>
        </p:nvSpPr>
        <p:spPr>
          <a:xfrm>
            <a:off x="10241280" y="987552"/>
            <a:ext cx="1764792" cy="365760"/>
          </a:xfrm>
          <a:prstGeom prst="rect">
            <a:avLst/>
          </a:prstGeom>
          <a:solidFill>
            <a:srgbClr val="E87722"/>
          </a:solidFill>
          <a:ln w="12700">
            <a:solidFill>
              <a:srgbClr val="E87722"/>
            </a:solidFill>
            <a:prstDash val="solid"/>
          </a:ln>
        </p:spPr>
      </p:sp>
      <p:sp>
        <p:nvSpPr>
          <p:cNvPr id="18" name="Text 16"/>
          <p:cNvSpPr/>
          <p:nvPr/>
        </p:nvSpPr>
        <p:spPr>
          <a:xfrm>
            <a:off x="10287000" y="1024128"/>
            <a:ext cx="1673352" cy="274320"/>
          </a:xfrm>
          <a:prstGeom prst="rect">
            <a:avLst/>
          </a:prstGeom>
          <a:noFill/>
          <a:ln/>
        </p:spPr>
        <p:txBody>
          <a:bodyPr wrap="square" lIns="0" tIns="0" rIns="0" bIns="0" rtlCol="0" anchor="ctr"/>
          <a:lstStyle/>
          <a:p>
            <a:pPr indent="0" marL="0">
              <a:buNone/>
            </a:pPr>
            <a:r>
              <a:rPr lang="en-US" sz="900" b="1" dirty="0">
                <a:solidFill>
                  <a:srgbClr val="FFFFFF"/>
                </a:solidFill>
                <a:latin typeface="Meiryo" pitchFamily="34" charset="0"/>
                <a:ea typeface="Meiryo" pitchFamily="34" charset="-122"/>
                <a:cs typeface="Meiryo" pitchFamily="34" charset="-120"/>
              </a:rPr>
              <a:t>確認事項</a:t>
            </a:r>
            <a:endParaRPr lang="en-US" sz="900" dirty="0"/>
          </a:p>
        </p:txBody>
      </p:sp>
      <p:sp>
        <p:nvSpPr>
          <p:cNvPr id="19" name="Shape 17"/>
          <p:cNvSpPr/>
          <p:nvPr/>
        </p:nvSpPr>
        <p:spPr>
          <a:xfrm>
            <a:off x="274320" y="1389888"/>
            <a:ext cx="731520" cy="566928"/>
          </a:xfrm>
          <a:prstGeom prst="rect">
            <a:avLst/>
          </a:prstGeom>
          <a:solidFill>
            <a:srgbClr val="FAFAFA"/>
          </a:solidFill>
          <a:ln w="6350">
            <a:solidFill>
              <a:srgbClr val="EEEEEE"/>
            </a:solidFill>
            <a:prstDash val="solid"/>
          </a:ln>
        </p:spPr>
      </p:sp>
      <p:sp>
        <p:nvSpPr>
          <p:cNvPr id="20" name="Shape 18"/>
          <p:cNvSpPr/>
          <p:nvPr/>
        </p:nvSpPr>
        <p:spPr>
          <a:xfrm>
            <a:off x="1005840" y="1389888"/>
            <a:ext cx="914400" cy="566928"/>
          </a:xfrm>
          <a:prstGeom prst="rect">
            <a:avLst/>
          </a:prstGeom>
          <a:solidFill>
            <a:srgbClr val="FAFAFA"/>
          </a:solidFill>
          <a:ln w="6350">
            <a:solidFill>
              <a:srgbClr val="EEEEEE"/>
            </a:solidFill>
            <a:prstDash val="solid"/>
          </a:ln>
        </p:spPr>
      </p:sp>
      <p:sp>
        <p:nvSpPr>
          <p:cNvPr id="21" name="Shape 19"/>
          <p:cNvSpPr/>
          <p:nvPr/>
        </p:nvSpPr>
        <p:spPr>
          <a:xfrm>
            <a:off x="1920240" y="1389888"/>
            <a:ext cx="2286000" cy="566928"/>
          </a:xfrm>
          <a:prstGeom prst="rect">
            <a:avLst/>
          </a:prstGeom>
          <a:solidFill>
            <a:srgbClr val="FAFAFA"/>
          </a:solidFill>
          <a:ln w="6350">
            <a:solidFill>
              <a:srgbClr val="EEEEEE"/>
            </a:solidFill>
            <a:prstDash val="solid"/>
          </a:ln>
        </p:spPr>
      </p:sp>
      <p:sp>
        <p:nvSpPr>
          <p:cNvPr id="22" name="Shape 20"/>
          <p:cNvSpPr/>
          <p:nvPr/>
        </p:nvSpPr>
        <p:spPr>
          <a:xfrm>
            <a:off x="4206240" y="1389888"/>
            <a:ext cx="5120640" cy="566928"/>
          </a:xfrm>
          <a:prstGeom prst="rect">
            <a:avLst/>
          </a:prstGeom>
          <a:solidFill>
            <a:srgbClr val="FAFAFA"/>
          </a:solidFill>
          <a:ln w="6350">
            <a:solidFill>
              <a:srgbClr val="EEEEEE"/>
            </a:solidFill>
            <a:prstDash val="solid"/>
          </a:ln>
        </p:spPr>
      </p:sp>
      <p:sp>
        <p:nvSpPr>
          <p:cNvPr id="23" name="Shape 21"/>
          <p:cNvSpPr/>
          <p:nvPr/>
        </p:nvSpPr>
        <p:spPr>
          <a:xfrm>
            <a:off x="9326880" y="1389888"/>
            <a:ext cx="914400" cy="566928"/>
          </a:xfrm>
          <a:prstGeom prst="rect">
            <a:avLst/>
          </a:prstGeom>
          <a:solidFill>
            <a:srgbClr val="FAFAFA"/>
          </a:solidFill>
          <a:ln w="6350">
            <a:solidFill>
              <a:srgbClr val="EEEEEE"/>
            </a:solidFill>
            <a:prstDash val="solid"/>
          </a:ln>
        </p:spPr>
      </p:sp>
      <p:sp>
        <p:nvSpPr>
          <p:cNvPr id="24" name="Shape 22"/>
          <p:cNvSpPr/>
          <p:nvPr/>
        </p:nvSpPr>
        <p:spPr>
          <a:xfrm>
            <a:off x="10241280" y="1389888"/>
            <a:ext cx="1764792" cy="566928"/>
          </a:xfrm>
          <a:prstGeom prst="rect">
            <a:avLst/>
          </a:prstGeom>
          <a:solidFill>
            <a:srgbClr val="FAFAFA"/>
          </a:solidFill>
          <a:ln w="6350">
            <a:solidFill>
              <a:srgbClr val="EEEEEE"/>
            </a:solidFill>
            <a:prstDash val="solid"/>
          </a:ln>
        </p:spPr>
      </p:sp>
      <p:sp>
        <p:nvSpPr>
          <p:cNvPr id="25" name="Text 23"/>
          <p:cNvSpPr/>
          <p:nvPr/>
        </p:nvSpPr>
        <p:spPr>
          <a:xfrm>
            <a:off x="320040" y="1444752"/>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F-01</a:t>
            </a:r>
            <a:endParaRPr lang="en-US" sz="900" dirty="0"/>
          </a:p>
        </p:txBody>
      </p:sp>
      <p:sp>
        <p:nvSpPr>
          <p:cNvPr id="26" name="Text 24"/>
          <p:cNvSpPr/>
          <p:nvPr/>
        </p:nvSpPr>
        <p:spPr>
          <a:xfrm>
            <a:off x="1051560" y="1527048"/>
            <a:ext cx="822960" cy="274320"/>
          </a:xfrm>
          <a:prstGeom prst="rect">
            <a:avLst/>
          </a:prstGeom>
          <a:solidFill>
            <a:srgbClr val="DBEAFE"/>
          </a:solidFill>
          <a:ln/>
        </p:spPr>
        <p:txBody>
          <a:bodyPr wrap="square" lIns="25400" tIns="25400" rIns="25400" bIns="25400"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フロント</a:t>
            </a:r>
            <a:endParaRPr lang="en-US" sz="850" dirty="0"/>
          </a:p>
        </p:txBody>
      </p:sp>
      <p:sp>
        <p:nvSpPr>
          <p:cNvPr id="27" name="Text 25"/>
          <p:cNvSpPr/>
          <p:nvPr/>
        </p:nvSpPr>
        <p:spPr>
          <a:xfrm>
            <a:off x="1965960" y="1444752"/>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マイページ ボタン追加＋乗車中UI</a:t>
            </a:r>
            <a:endParaRPr lang="en-US" sz="900" dirty="0"/>
          </a:p>
        </p:txBody>
      </p:sp>
      <p:sp>
        <p:nvSpPr>
          <p:cNvPr id="28" name="Text 26"/>
          <p:cNvSpPr/>
          <p:nvPr/>
        </p:nvSpPr>
        <p:spPr>
          <a:xfrm>
            <a:off x="4251960" y="1426464"/>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乗車/タクシー2ボタン分岐・乗車中バー・降りるボタン解放・キャンセル確認</a:t>
            </a:r>
            <a:endParaRPr lang="en-US" sz="900" dirty="0"/>
          </a:p>
        </p:txBody>
      </p:sp>
      <p:sp>
        <p:nvSpPr>
          <p:cNvPr id="29" name="Text 27"/>
          <p:cNvSpPr/>
          <p:nvPr/>
        </p:nvSpPr>
        <p:spPr>
          <a:xfrm>
            <a:off x="9372600" y="1527048"/>
            <a:ext cx="822960" cy="274320"/>
          </a:xfrm>
          <a:prstGeom prst="rect">
            <a:avLst/>
          </a:prstGeom>
          <a:solidFill>
            <a:srgbClr val="FEF3C7"/>
          </a:solidFill>
          <a:ln/>
        </p:spPr>
        <p:txBody>
          <a:bodyPr wrap="square" lIns="25400" tIns="25400" rIns="25400" bIns="25400" rtlCol="0" anchor="ctr"/>
          <a:lstStyle/>
          <a:p>
            <a:pPr algn="ctr" indent="0" marL="0">
              <a:buNone/>
            </a:pPr>
            <a:r>
              <a:rPr lang="en-US" sz="800" b="1" dirty="0">
                <a:solidFill>
                  <a:srgbClr val="92400E"/>
                </a:solidFill>
                <a:latin typeface="Meiryo" pitchFamily="34" charset="0"/>
                <a:ea typeface="Meiryo" pitchFamily="34" charset="-122"/>
                <a:cs typeface="Meiryo" pitchFamily="34" charset="-120"/>
              </a:rPr>
              <a:t>小〜中</a:t>
            </a:r>
            <a:endParaRPr lang="en-US" sz="800" dirty="0"/>
          </a:p>
        </p:txBody>
      </p:sp>
      <p:sp>
        <p:nvSpPr>
          <p:cNvPr id="30" name="Text 28"/>
          <p:cNvSpPr/>
          <p:nvPr/>
        </p:nvSpPr>
        <p:spPr>
          <a:xfrm>
            <a:off x="10287000" y="1426464"/>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マイページHTML</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カスタマイズ範囲</a:t>
            </a:r>
            <a:endParaRPr lang="en-US" sz="850" dirty="0"/>
          </a:p>
        </p:txBody>
      </p:sp>
      <p:sp>
        <p:nvSpPr>
          <p:cNvPr id="31" name="Shape 29"/>
          <p:cNvSpPr/>
          <p:nvPr/>
        </p:nvSpPr>
        <p:spPr>
          <a:xfrm>
            <a:off x="274320" y="1993392"/>
            <a:ext cx="731520" cy="566928"/>
          </a:xfrm>
          <a:prstGeom prst="rect">
            <a:avLst/>
          </a:prstGeom>
          <a:solidFill>
            <a:srgbClr val="FFFFFF"/>
          </a:solidFill>
          <a:ln w="6350">
            <a:solidFill>
              <a:srgbClr val="EEEEEE"/>
            </a:solidFill>
            <a:prstDash val="solid"/>
          </a:ln>
        </p:spPr>
      </p:sp>
      <p:sp>
        <p:nvSpPr>
          <p:cNvPr id="32" name="Shape 30"/>
          <p:cNvSpPr/>
          <p:nvPr/>
        </p:nvSpPr>
        <p:spPr>
          <a:xfrm>
            <a:off x="1005840" y="1993392"/>
            <a:ext cx="914400" cy="566928"/>
          </a:xfrm>
          <a:prstGeom prst="rect">
            <a:avLst/>
          </a:prstGeom>
          <a:solidFill>
            <a:srgbClr val="FFFFFF"/>
          </a:solidFill>
          <a:ln w="6350">
            <a:solidFill>
              <a:srgbClr val="EEEEEE"/>
            </a:solidFill>
            <a:prstDash val="solid"/>
          </a:ln>
        </p:spPr>
      </p:sp>
      <p:sp>
        <p:nvSpPr>
          <p:cNvPr id="33" name="Shape 31"/>
          <p:cNvSpPr/>
          <p:nvPr/>
        </p:nvSpPr>
        <p:spPr>
          <a:xfrm>
            <a:off x="1920240" y="1993392"/>
            <a:ext cx="2286000" cy="566928"/>
          </a:xfrm>
          <a:prstGeom prst="rect">
            <a:avLst/>
          </a:prstGeom>
          <a:solidFill>
            <a:srgbClr val="FFFFFF"/>
          </a:solidFill>
          <a:ln w="6350">
            <a:solidFill>
              <a:srgbClr val="EEEEEE"/>
            </a:solidFill>
            <a:prstDash val="solid"/>
          </a:ln>
        </p:spPr>
      </p:sp>
      <p:sp>
        <p:nvSpPr>
          <p:cNvPr id="34" name="Shape 32"/>
          <p:cNvSpPr/>
          <p:nvPr/>
        </p:nvSpPr>
        <p:spPr>
          <a:xfrm>
            <a:off x="4206240" y="1993392"/>
            <a:ext cx="5120640" cy="566928"/>
          </a:xfrm>
          <a:prstGeom prst="rect">
            <a:avLst/>
          </a:prstGeom>
          <a:solidFill>
            <a:srgbClr val="FFFFFF"/>
          </a:solidFill>
          <a:ln w="6350">
            <a:solidFill>
              <a:srgbClr val="EEEEEE"/>
            </a:solidFill>
            <a:prstDash val="solid"/>
          </a:ln>
        </p:spPr>
      </p:sp>
      <p:sp>
        <p:nvSpPr>
          <p:cNvPr id="35" name="Shape 33"/>
          <p:cNvSpPr/>
          <p:nvPr/>
        </p:nvSpPr>
        <p:spPr>
          <a:xfrm>
            <a:off x="9326880" y="1993392"/>
            <a:ext cx="914400" cy="566928"/>
          </a:xfrm>
          <a:prstGeom prst="rect">
            <a:avLst/>
          </a:prstGeom>
          <a:solidFill>
            <a:srgbClr val="FFFFFF"/>
          </a:solidFill>
          <a:ln w="6350">
            <a:solidFill>
              <a:srgbClr val="EEEEEE"/>
            </a:solidFill>
            <a:prstDash val="solid"/>
          </a:ln>
        </p:spPr>
      </p:sp>
      <p:sp>
        <p:nvSpPr>
          <p:cNvPr id="36" name="Shape 34"/>
          <p:cNvSpPr/>
          <p:nvPr/>
        </p:nvSpPr>
        <p:spPr>
          <a:xfrm>
            <a:off x="10241280" y="1993392"/>
            <a:ext cx="1764792" cy="566928"/>
          </a:xfrm>
          <a:prstGeom prst="rect">
            <a:avLst/>
          </a:prstGeom>
          <a:solidFill>
            <a:srgbClr val="FFFFFF"/>
          </a:solidFill>
          <a:ln w="6350">
            <a:solidFill>
              <a:srgbClr val="EEEEEE"/>
            </a:solidFill>
            <a:prstDash val="solid"/>
          </a:ln>
        </p:spPr>
      </p:sp>
      <p:sp>
        <p:nvSpPr>
          <p:cNvPr id="37" name="Text 35"/>
          <p:cNvSpPr/>
          <p:nvPr/>
        </p:nvSpPr>
        <p:spPr>
          <a:xfrm>
            <a:off x="320040" y="2048256"/>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F-02</a:t>
            </a:r>
            <a:endParaRPr lang="en-US" sz="900" dirty="0"/>
          </a:p>
        </p:txBody>
      </p:sp>
      <p:sp>
        <p:nvSpPr>
          <p:cNvPr id="38" name="Text 36"/>
          <p:cNvSpPr/>
          <p:nvPr/>
        </p:nvSpPr>
        <p:spPr>
          <a:xfrm>
            <a:off x="1051560" y="2130552"/>
            <a:ext cx="822960" cy="274320"/>
          </a:xfrm>
          <a:prstGeom prst="rect">
            <a:avLst/>
          </a:prstGeom>
          <a:solidFill>
            <a:srgbClr val="DBEAFE"/>
          </a:solidFill>
          <a:ln/>
        </p:spPr>
        <p:txBody>
          <a:bodyPr wrap="square" lIns="25400" tIns="25400" rIns="25400" bIns="25400"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フロント</a:t>
            </a:r>
            <a:endParaRPr lang="en-US" sz="850" dirty="0"/>
          </a:p>
        </p:txBody>
      </p:sp>
      <p:sp>
        <p:nvSpPr>
          <p:cNvPr id="39" name="Text 37"/>
          <p:cNvSpPr/>
          <p:nvPr/>
        </p:nvSpPr>
        <p:spPr>
          <a:xfrm>
            <a:off x="1965960" y="2048256"/>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乗車地検索フロー （BoardingSearchFlow）</a:t>
            </a:r>
            <a:endParaRPr lang="en-US" sz="900" dirty="0"/>
          </a:p>
        </p:txBody>
      </p:sp>
      <p:sp>
        <p:nvSpPr>
          <p:cNvPr id="40" name="Text 38"/>
          <p:cNvSpPr/>
          <p:nvPr/>
        </p:nvSpPr>
        <p:spPr>
          <a:xfrm>
            <a:off x="4251960" y="2029968"/>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交通種別→会社→路線選択→GPS→停留所選択 全12画面</a:t>
            </a:r>
            <a:endParaRPr lang="en-US" sz="900" dirty="0"/>
          </a:p>
        </p:txBody>
      </p:sp>
      <p:sp>
        <p:nvSpPr>
          <p:cNvPr id="41" name="Text 39"/>
          <p:cNvSpPr/>
          <p:nvPr/>
        </p:nvSpPr>
        <p:spPr>
          <a:xfrm>
            <a:off x="9372600" y="2130552"/>
            <a:ext cx="822960" cy="274320"/>
          </a:xfrm>
          <a:prstGeom prst="rect">
            <a:avLst/>
          </a:prstGeom>
          <a:solidFill>
            <a:srgbClr val="FEE2E2"/>
          </a:solidFill>
          <a:ln/>
        </p:spPr>
        <p:txBody>
          <a:bodyPr wrap="square" lIns="25400" tIns="25400" rIns="25400" bIns="25400" rtlCol="0" anchor="ctr"/>
          <a:lstStyle/>
          <a:p>
            <a:pPr algn="ctr" indent="0" marL="0">
              <a:buNone/>
            </a:pPr>
            <a:r>
              <a:rPr lang="en-US" sz="800" b="1" dirty="0">
                <a:solidFill>
                  <a:srgbClr val="991B1B"/>
                </a:solidFill>
                <a:latin typeface="Meiryo" pitchFamily="34" charset="0"/>
                <a:ea typeface="Meiryo" pitchFamily="34" charset="-122"/>
                <a:cs typeface="Meiryo" pitchFamily="34" charset="-120"/>
              </a:rPr>
              <a:t>中〜大</a:t>
            </a:r>
            <a:endParaRPr lang="en-US" sz="800" dirty="0"/>
          </a:p>
        </p:txBody>
      </p:sp>
      <p:sp>
        <p:nvSpPr>
          <p:cNvPr id="42" name="Text 40"/>
          <p:cNvSpPr/>
          <p:nvPr/>
        </p:nvSpPr>
        <p:spPr>
          <a:xfrm>
            <a:off x="10287000" y="2029968"/>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停留所検索API</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実装方式を確認</a:t>
            </a:r>
            <a:endParaRPr lang="en-US" sz="850" dirty="0"/>
          </a:p>
        </p:txBody>
      </p:sp>
      <p:sp>
        <p:nvSpPr>
          <p:cNvPr id="43" name="Shape 41"/>
          <p:cNvSpPr/>
          <p:nvPr/>
        </p:nvSpPr>
        <p:spPr>
          <a:xfrm>
            <a:off x="274320" y="2596896"/>
            <a:ext cx="731520" cy="566928"/>
          </a:xfrm>
          <a:prstGeom prst="rect">
            <a:avLst/>
          </a:prstGeom>
          <a:solidFill>
            <a:srgbClr val="FAFAFA"/>
          </a:solidFill>
          <a:ln w="6350">
            <a:solidFill>
              <a:srgbClr val="EEEEEE"/>
            </a:solidFill>
            <a:prstDash val="solid"/>
          </a:ln>
        </p:spPr>
      </p:sp>
      <p:sp>
        <p:nvSpPr>
          <p:cNvPr id="44" name="Shape 42"/>
          <p:cNvSpPr/>
          <p:nvPr/>
        </p:nvSpPr>
        <p:spPr>
          <a:xfrm>
            <a:off x="1005840" y="2596896"/>
            <a:ext cx="914400" cy="566928"/>
          </a:xfrm>
          <a:prstGeom prst="rect">
            <a:avLst/>
          </a:prstGeom>
          <a:solidFill>
            <a:srgbClr val="FAFAFA"/>
          </a:solidFill>
          <a:ln w="6350">
            <a:solidFill>
              <a:srgbClr val="EEEEEE"/>
            </a:solidFill>
            <a:prstDash val="solid"/>
          </a:ln>
        </p:spPr>
      </p:sp>
      <p:sp>
        <p:nvSpPr>
          <p:cNvPr id="45" name="Shape 43"/>
          <p:cNvSpPr/>
          <p:nvPr/>
        </p:nvSpPr>
        <p:spPr>
          <a:xfrm>
            <a:off x="1920240" y="2596896"/>
            <a:ext cx="2286000" cy="566928"/>
          </a:xfrm>
          <a:prstGeom prst="rect">
            <a:avLst/>
          </a:prstGeom>
          <a:solidFill>
            <a:srgbClr val="FAFAFA"/>
          </a:solidFill>
          <a:ln w="6350">
            <a:solidFill>
              <a:srgbClr val="EEEEEE"/>
            </a:solidFill>
            <a:prstDash val="solid"/>
          </a:ln>
        </p:spPr>
      </p:sp>
      <p:sp>
        <p:nvSpPr>
          <p:cNvPr id="46" name="Shape 44"/>
          <p:cNvSpPr/>
          <p:nvPr/>
        </p:nvSpPr>
        <p:spPr>
          <a:xfrm>
            <a:off x="4206240" y="2596896"/>
            <a:ext cx="5120640" cy="566928"/>
          </a:xfrm>
          <a:prstGeom prst="rect">
            <a:avLst/>
          </a:prstGeom>
          <a:solidFill>
            <a:srgbClr val="FAFAFA"/>
          </a:solidFill>
          <a:ln w="6350">
            <a:solidFill>
              <a:srgbClr val="EEEEEE"/>
            </a:solidFill>
            <a:prstDash val="solid"/>
          </a:ln>
        </p:spPr>
      </p:sp>
      <p:sp>
        <p:nvSpPr>
          <p:cNvPr id="47" name="Shape 45"/>
          <p:cNvSpPr/>
          <p:nvPr/>
        </p:nvSpPr>
        <p:spPr>
          <a:xfrm>
            <a:off x="9326880" y="2596896"/>
            <a:ext cx="914400" cy="566928"/>
          </a:xfrm>
          <a:prstGeom prst="rect">
            <a:avLst/>
          </a:prstGeom>
          <a:solidFill>
            <a:srgbClr val="FAFAFA"/>
          </a:solidFill>
          <a:ln w="6350">
            <a:solidFill>
              <a:srgbClr val="EEEEEE"/>
            </a:solidFill>
            <a:prstDash val="solid"/>
          </a:ln>
        </p:spPr>
      </p:sp>
      <p:sp>
        <p:nvSpPr>
          <p:cNvPr id="48" name="Shape 46"/>
          <p:cNvSpPr/>
          <p:nvPr/>
        </p:nvSpPr>
        <p:spPr>
          <a:xfrm>
            <a:off x="10241280" y="2596896"/>
            <a:ext cx="1764792" cy="566928"/>
          </a:xfrm>
          <a:prstGeom prst="rect">
            <a:avLst/>
          </a:prstGeom>
          <a:solidFill>
            <a:srgbClr val="FAFAFA"/>
          </a:solidFill>
          <a:ln w="6350">
            <a:solidFill>
              <a:srgbClr val="EEEEEE"/>
            </a:solidFill>
            <a:prstDash val="solid"/>
          </a:ln>
        </p:spPr>
      </p:sp>
      <p:sp>
        <p:nvSpPr>
          <p:cNvPr id="49" name="Text 47"/>
          <p:cNvSpPr/>
          <p:nvPr/>
        </p:nvSpPr>
        <p:spPr>
          <a:xfrm>
            <a:off x="320040" y="2651760"/>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B-01</a:t>
            </a:r>
            <a:endParaRPr lang="en-US" sz="900" dirty="0"/>
          </a:p>
        </p:txBody>
      </p:sp>
      <p:sp>
        <p:nvSpPr>
          <p:cNvPr id="50" name="Text 48"/>
          <p:cNvSpPr/>
          <p:nvPr/>
        </p:nvSpPr>
        <p:spPr>
          <a:xfrm>
            <a:off x="1051560" y="2734056"/>
            <a:ext cx="822960" cy="274320"/>
          </a:xfrm>
          <a:prstGeom prst="rect">
            <a:avLst/>
          </a:prstGeom>
          <a:solidFill>
            <a:srgbClr val="EDE9FE"/>
          </a:solidFill>
          <a:ln/>
        </p:spPr>
        <p:txBody>
          <a:bodyPr wrap="square" lIns="25400" tIns="25400" rIns="25400" bIns="25400" rtlCol="0" anchor="ctr"/>
          <a:lstStyle/>
          <a:p>
            <a:pPr algn="ctr" indent="0" marL="0">
              <a:buNone/>
            </a:pPr>
            <a:r>
              <a:rPr lang="en-US" sz="850" b="1" dirty="0">
                <a:solidFill>
                  <a:srgbClr val="7C3AED"/>
                </a:solidFill>
                <a:latin typeface="Meiryo" pitchFamily="34" charset="0"/>
                <a:ea typeface="Meiryo" pitchFamily="34" charset="-122"/>
                <a:cs typeface="Meiryo" pitchFamily="34" charset="-120"/>
              </a:rPr>
              <a:t>バック</a:t>
            </a:r>
            <a:endParaRPr lang="en-US" sz="850" dirty="0"/>
          </a:p>
        </p:txBody>
      </p:sp>
      <p:sp>
        <p:nvSpPr>
          <p:cNvPr id="51" name="Text 49"/>
          <p:cNvSpPr/>
          <p:nvPr/>
        </p:nvSpPr>
        <p:spPr>
          <a:xfrm>
            <a:off x="1965960" y="2651760"/>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会社・路線マスタ 停留所DB・ペア判定</a:t>
            </a:r>
            <a:endParaRPr lang="en-US" sz="900" dirty="0"/>
          </a:p>
        </p:txBody>
      </p:sp>
      <p:sp>
        <p:nvSpPr>
          <p:cNvPr id="52" name="Text 50"/>
          <p:cNvSpPr/>
          <p:nvPr/>
        </p:nvSpPr>
        <p:spPr>
          <a:xfrm>
            <a:off x="4251960" y="2633472"/>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TransitCompany/Route/Stop DB、現在地→停留所検索API、乗降セッション管理</a:t>
            </a:r>
            <a:endParaRPr lang="en-US" sz="900" dirty="0"/>
          </a:p>
        </p:txBody>
      </p:sp>
      <p:sp>
        <p:nvSpPr>
          <p:cNvPr id="53" name="Text 51"/>
          <p:cNvSpPr/>
          <p:nvPr/>
        </p:nvSpPr>
        <p:spPr>
          <a:xfrm>
            <a:off x="9372600" y="2734056"/>
            <a:ext cx="822960" cy="274320"/>
          </a:xfrm>
          <a:prstGeom prst="rect">
            <a:avLst/>
          </a:prstGeom>
          <a:solidFill>
            <a:srgbClr val="FEE2E2"/>
          </a:solidFill>
          <a:ln/>
        </p:spPr>
        <p:txBody>
          <a:bodyPr wrap="square" lIns="25400" tIns="25400" rIns="25400" bIns="25400" rtlCol="0" anchor="ctr"/>
          <a:lstStyle/>
          <a:p>
            <a:pPr algn="ctr" indent="0" marL="0">
              <a:buNone/>
            </a:pPr>
            <a:r>
              <a:rPr lang="en-US" sz="800" b="1" dirty="0">
                <a:solidFill>
                  <a:srgbClr val="991B1B"/>
                </a:solidFill>
                <a:latin typeface="Meiryo" pitchFamily="34" charset="0"/>
                <a:ea typeface="Meiryo" pitchFamily="34" charset="-122"/>
                <a:cs typeface="Meiryo" pitchFamily="34" charset="-120"/>
              </a:rPr>
              <a:t>大</a:t>
            </a:r>
            <a:endParaRPr lang="en-US" sz="800" dirty="0"/>
          </a:p>
        </p:txBody>
      </p:sp>
      <p:sp>
        <p:nvSpPr>
          <p:cNvPr id="54" name="Text 52"/>
          <p:cNvSpPr/>
          <p:nvPr/>
        </p:nvSpPr>
        <p:spPr>
          <a:xfrm>
            <a:off x="10287000" y="2633472"/>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GTFSインポート</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Card標準対応確認</a:t>
            </a:r>
            <a:endParaRPr lang="en-US" sz="850" dirty="0"/>
          </a:p>
        </p:txBody>
      </p:sp>
      <p:sp>
        <p:nvSpPr>
          <p:cNvPr id="55" name="Shape 53"/>
          <p:cNvSpPr/>
          <p:nvPr/>
        </p:nvSpPr>
        <p:spPr>
          <a:xfrm>
            <a:off x="274320" y="3200400"/>
            <a:ext cx="731520" cy="566928"/>
          </a:xfrm>
          <a:prstGeom prst="rect">
            <a:avLst/>
          </a:prstGeom>
          <a:solidFill>
            <a:srgbClr val="FFFFFF"/>
          </a:solidFill>
          <a:ln w="6350">
            <a:solidFill>
              <a:srgbClr val="EEEEEE"/>
            </a:solidFill>
            <a:prstDash val="solid"/>
          </a:ln>
        </p:spPr>
      </p:sp>
      <p:sp>
        <p:nvSpPr>
          <p:cNvPr id="56" name="Shape 54"/>
          <p:cNvSpPr/>
          <p:nvPr/>
        </p:nvSpPr>
        <p:spPr>
          <a:xfrm>
            <a:off x="1005840" y="3200400"/>
            <a:ext cx="914400" cy="566928"/>
          </a:xfrm>
          <a:prstGeom prst="rect">
            <a:avLst/>
          </a:prstGeom>
          <a:solidFill>
            <a:srgbClr val="FFFFFF"/>
          </a:solidFill>
          <a:ln w="6350">
            <a:solidFill>
              <a:srgbClr val="EEEEEE"/>
            </a:solidFill>
            <a:prstDash val="solid"/>
          </a:ln>
        </p:spPr>
      </p:sp>
      <p:sp>
        <p:nvSpPr>
          <p:cNvPr id="57" name="Shape 55"/>
          <p:cNvSpPr/>
          <p:nvPr/>
        </p:nvSpPr>
        <p:spPr>
          <a:xfrm>
            <a:off x="1920240" y="3200400"/>
            <a:ext cx="2286000" cy="566928"/>
          </a:xfrm>
          <a:prstGeom prst="rect">
            <a:avLst/>
          </a:prstGeom>
          <a:solidFill>
            <a:srgbClr val="FFFFFF"/>
          </a:solidFill>
          <a:ln w="6350">
            <a:solidFill>
              <a:srgbClr val="EEEEEE"/>
            </a:solidFill>
            <a:prstDash val="solid"/>
          </a:ln>
        </p:spPr>
      </p:sp>
      <p:sp>
        <p:nvSpPr>
          <p:cNvPr id="58" name="Shape 56"/>
          <p:cNvSpPr/>
          <p:nvPr/>
        </p:nvSpPr>
        <p:spPr>
          <a:xfrm>
            <a:off x="4206240" y="3200400"/>
            <a:ext cx="5120640" cy="566928"/>
          </a:xfrm>
          <a:prstGeom prst="rect">
            <a:avLst/>
          </a:prstGeom>
          <a:solidFill>
            <a:srgbClr val="FFFFFF"/>
          </a:solidFill>
          <a:ln w="6350">
            <a:solidFill>
              <a:srgbClr val="EEEEEE"/>
            </a:solidFill>
            <a:prstDash val="solid"/>
          </a:ln>
        </p:spPr>
      </p:sp>
      <p:sp>
        <p:nvSpPr>
          <p:cNvPr id="59" name="Shape 57"/>
          <p:cNvSpPr/>
          <p:nvPr/>
        </p:nvSpPr>
        <p:spPr>
          <a:xfrm>
            <a:off x="9326880" y="3200400"/>
            <a:ext cx="914400" cy="566928"/>
          </a:xfrm>
          <a:prstGeom prst="rect">
            <a:avLst/>
          </a:prstGeom>
          <a:solidFill>
            <a:srgbClr val="FFFFFF"/>
          </a:solidFill>
          <a:ln w="6350">
            <a:solidFill>
              <a:srgbClr val="EEEEEE"/>
            </a:solidFill>
            <a:prstDash val="solid"/>
          </a:ln>
        </p:spPr>
      </p:sp>
      <p:sp>
        <p:nvSpPr>
          <p:cNvPr id="60" name="Shape 58"/>
          <p:cNvSpPr/>
          <p:nvPr/>
        </p:nvSpPr>
        <p:spPr>
          <a:xfrm>
            <a:off x="10241280" y="3200400"/>
            <a:ext cx="1764792" cy="566928"/>
          </a:xfrm>
          <a:prstGeom prst="rect">
            <a:avLst/>
          </a:prstGeom>
          <a:solidFill>
            <a:srgbClr val="FFFFFF"/>
          </a:solidFill>
          <a:ln w="6350">
            <a:solidFill>
              <a:srgbClr val="EEEEEE"/>
            </a:solidFill>
            <a:prstDash val="solid"/>
          </a:ln>
        </p:spPr>
      </p:sp>
      <p:sp>
        <p:nvSpPr>
          <p:cNvPr id="61" name="Text 59"/>
          <p:cNvSpPr/>
          <p:nvPr/>
        </p:nvSpPr>
        <p:spPr>
          <a:xfrm>
            <a:off x="320040" y="3255264"/>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B-02</a:t>
            </a:r>
            <a:endParaRPr lang="en-US" sz="900" dirty="0"/>
          </a:p>
        </p:txBody>
      </p:sp>
      <p:sp>
        <p:nvSpPr>
          <p:cNvPr id="62" name="Text 60"/>
          <p:cNvSpPr/>
          <p:nvPr/>
        </p:nvSpPr>
        <p:spPr>
          <a:xfrm>
            <a:off x="1051560" y="3337560"/>
            <a:ext cx="822960" cy="274320"/>
          </a:xfrm>
          <a:prstGeom prst="rect">
            <a:avLst/>
          </a:prstGeom>
          <a:solidFill>
            <a:srgbClr val="EDE9FE"/>
          </a:solidFill>
          <a:ln/>
        </p:spPr>
        <p:txBody>
          <a:bodyPr wrap="square" lIns="25400" tIns="25400" rIns="25400" bIns="25400" rtlCol="0" anchor="ctr"/>
          <a:lstStyle/>
          <a:p>
            <a:pPr algn="ctr" indent="0" marL="0">
              <a:buNone/>
            </a:pPr>
            <a:r>
              <a:rPr lang="en-US" sz="850" b="1" dirty="0">
                <a:solidFill>
                  <a:srgbClr val="7C3AED"/>
                </a:solidFill>
                <a:latin typeface="Meiryo" pitchFamily="34" charset="0"/>
                <a:ea typeface="Meiryo" pitchFamily="34" charset="-122"/>
                <a:cs typeface="Meiryo" pitchFamily="34" charset="-120"/>
              </a:rPr>
              <a:t>バック</a:t>
            </a:r>
            <a:endParaRPr lang="en-US" sz="850" dirty="0"/>
          </a:p>
        </p:txBody>
      </p:sp>
      <p:sp>
        <p:nvSpPr>
          <p:cNvPr id="63" name="Text 61"/>
          <p:cNvSpPr/>
          <p:nvPr/>
        </p:nvSpPr>
        <p:spPr>
          <a:xfrm>
            <a:off x="1965960" y="3255264"/>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Receico→Card ポイント連携</a:t>
            </a:r>
            <a:endParaRPr lang="en-US" sz="900" dirty="0"/>
          </a:p>
        </p:txBody>
      </p:sp>
      <p:sp>
        <p:nvSpPr>
          <p:cNvPr id="64" name="Text 62"/>
          <p:cNvSpPr/>
          <p:nvPr/>
        </p:nvSpPr>
        <p:spPr>
          <a:xfrm>
            <a:off x="4251960" y="3236976"/>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Receico承認Webhook → Card 1pt付与。未対応時は日次バッチで代替</a:t>
            </a:r>
            <a:endParaRPr lang="en-US" sz="900" dirty="0"/>
          </a:p>
        </p:txBody>
      </p:sp>
      <p:sp>
        <p:nvSpPr>
          <p:cNvPr id="65" name="Text 63"/>
          <p:cNvSpPr/>
          <p:nvPr/>
        </p:nvSpPr>
        <p:spPr>
          <a:xfrm>
            <a:off x="9372600" y="3337560"/>
            <a:ext cx="822960" cy="274320"/>
          </a:xfrm>
          <a:prstGeom prst="rect">
            <a:avLst/>
          </a:prstGeom>
          <a:solidFill>
            <a:srgbClr val="FEE2E2"/>
          </a:solidFill>
          <a:ln/>
        </p:spPr>
        <p:txBody>
          <a:bodyPr wrap="square" lIns="25400" tIns="25400" rIns="25400" bIns="25400" rtlCol="0" anchor="ctr"/>
          <a:lstStyle/>
          <a:p>
            <a:pPr algn="ctr" indent="0" marL="0">
              <a:buNone/>
            </a:pPr>
            <a:r>
              <a:rPr lang="en-US" sz="800" b="1" dirty="0">
                <a:solidFill>
                  <a:srgbClr val="991B1B"/>
                </a:solidFill>
                <a:latin typeface="Meiryo" pitchFamily="34" charset="0"/>
                <a:ea typeface="Meiryo" pitchFamily="34" charset="-122"/>
                <a:cs typeface="Meiryo" pitchFamily="34" charset="-120"/>
              </a:rPr>
              <a:t>中〜大</a:t>
            </a:r>
            <a:endParaRPr lang="en-US" sz="800" dirty="0"/>
          </a:p>
        </p:txBody>
      </p:sp>
      <p:sp>
        <p:nvSpPr>
          <p:cNvPr id="66" name="Text 64"/>
          <p:cNvSpPr/>
          <p:nvPr/>
        </p:nvSpPr>
        <p:spPr>
          <a:xfrm>
            <a:off x="10287000" y="3236976"/>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Webhook有無</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確認必須</a:t>
            </a:r>
            <a:endParaRPr lang="en-US" sz="850" dirty="0"/>
          </a:p>
        </p:txBody>
      </p:sp>
      <p:sp>
        <p:nvSpPr>
          <p:cNvPr id="67" name="Shape 65"/>
          <p:cNvSpPr/>
          <p:nvPr/>
        </p:nvSpPr>
        <p:spPr>
          <a:xfrm>
            <a:off x="274320" y="3803904"/>
            <a:ext cx="731520" cy="566928"/>
          </a:xfrm>
          <a:prstGeom prst="rect">
            <a:avLst/>
          </a:prstGeom>
          <a:solidFill>
            <a:srgbClr val="FAFAFA"/>
          </a:solidFill>
          <a:ln w="6350">
            <a:solidFill>
              <a:srgbClr val="EEEEEE"/>
            </a:solidFill>
            <a:prstDash val="solid"/>
          </a:ln>
        </p:spPr>
      </p:sp>
      <p:sp>
        <p:nvSpPr>
          <p:cNvPr id="68" name="Shape 66"/>
          <p:cNvSpPr/>
          <p:nvPr/>
        </p:nvSpPr>
        <p:spPr>
          <a:xfrm>
            <a:off x="1005840" y="3803904"/>
            <a:ext cx="914400" cy="566928"/>
          </a:xfrm>
          <a:prstGeom prst="rect">
            <a:avLst/>
          </a:prstGeom>
          <a:solidFill>
            <a:srgbClr val="FAFAFA"/>
          </a:solidFill>
          <a:ln w="6350">
            <a:solidFill>
              <a:srgbClr val="EEEEEE"/>
            </a:solidFill>
            <a:prstDash val="solid"/>
          </a:ln>
        </p:spPr>
      </p:sp>
      <p:sp>
        <p:nvSpPr>
          <p:cNvPr id="69" name="Shape 67"/>
          <p:cNvSpPr/>
          <p:nvPr/>
        </p:nvSpPr>
        <p:spPr>
          <a:xfrm>
            <a:off x="1920240" y="3803904"/>
            <a:ext cx="2286000" cy="566928"/>
          </a:xfrm>
          <a:prstGeom prst="rect">
            <a:avLst/>
          </a:prstGeom>
          <a:solidFill>
            <a:srgbClr val="FAFAFA"/>
          </a:solidFill>
          <a:ln w="6350">
            <a:solidFill>
              <a:srgbClr val="EEEEEE"/>
            </a:solidFill>
            <a:prstDash val="solid"/>
          </a:ln>
        </p:spPr>
      </p:sp>
      <p:sp>
        <p:nvSpPr>
          <p:cNvPr id="70" name="Shape 68"/>
          <p:cNvSpPr/>
          <p:nvPr/>
        </p:nvSpPr>
        <p:spPr>
          <a:xfrm>
            <a:off x="4206240" y="3803904"/>
            <a:ext cx="5120640" cy="566928"/>
          </a:xfrm>
          <a:prstGeom prst="rect">
            <a:avLst/>
          </a:prstGeom>
          <a:solidFill>
            <a:srgbClr val="FAFAFA"/>
          </a:solidFill>
          <a:ln w="6350">
            <a:solidFill>
              <a:srgbClr val="EEEEEE"/>
            </a:solidFill>
            <a:prstDash val="solid"/>
          </a:ln>
        </p:spPr>
      </p:sp>
      <p:sp>
        <p:nvSpPr>
          <p:cNvPr id="71" name="Shape 69"/>
          <p:cNvSpPr/>
          <p:nvPr/>
        </p:nvSpPr>
        <p:spPr>
          <a:xfrm>
            <a:off x="9326880" y="3803904"/>
            <a:ext cx="914400" cy="566928"/>
          </a:xfrm>
          <a:prstGeom prst="rect">
            <a:avLst/>
          </a:prstGeom>
          <a:solidFill>
            <a:srgbClr val="FAFAFA"/>
          </a:solidFill>
          <a:ln w="6350">
            <a:solidFill>
              <a:srgbClr val="EEEEEE"/>
            </a:solidFill>
            <a:prstDash val="solid"/>
          </a:ln>
        </p:spPr>
      </p:sp>
      <p:sp>
        <p:nvSpPr>
          <p:cNvPr id="72" name="Shape 70"/>
          <p:cNvSpPr/>
          <p:nvPr/>
        </p:nvSpPr>
        <p:spPr>
          <a:xfrm>
            <a:off x="10241280" y="3803904"/>
            <a:ext cx="1764792" cy="566928"/>
          </a:xfrm>
          <a:prstGeom prst="rect">
            <a:avLst/>
          </a:prstGeom>
          <a:solidFill>
            <a:srgbClr val="FAFAFA"/>
          </a:solidFill>
          <a:ln w="6350">
            <a:solidFill>
              <a:srgbClr val="EEEEEE"/>
            </a:solidFill>
            <a:prstDash val="solid"/>
          </a:ln>
        </p:spPr>
      </p:sp>
      <p:sp>
        <p:nvSpPr>
          <p:cNvPr id="73" name="Text 71"/>
          <p:cNvSpPr/>
          <p:nvPr/>
        </p:nvSpPr>
        <p:spPr>
          <a:xfrm>
            <a:off x="320040" y="3858768"/>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F/B-03</a:t>
            </a:r>
            <a:endParaRPr lang="en-US" sz="900" dirty="0"/>
          </a:p>
        </p:txBody>
      </p:sp>
      <p:sp>
        <p:nvSpPr>
          <p:cNvPr id="74" name="Text 72"/>
          <p:cNvSpPr/>
          <p:nvPr/>
        </p:nvSpPr>
        <p:spPr>
          <a:xfrm>
            <a:off x="1051560" y="3941064"/>
            <a:ext cx="822960" cy="274320"/>
          </a:xfrm>
          <a:prstGeom prst="rect">
            <a:avLst/>
          </a:prstGeom>
          <a:solidFill>
            <a:srgbClr val="D1FAE5"/>
          </a:solidFill>
          <a:ln/>
        </p:spPr>
        <p:txBody>
          <a:bodyPr wrap="square" lIns="25400" tIns="25400" rIns="25400" bIns="25400" rtlCol="0" anchor="ctr"/>
          <a:lstStyle/>
          <a:p>
            <a:pPr algn="ctr" indent="0" marL="0">
              <a:buNone/>
            </a:pPr>
            <a:r>
              <a:rPr lang="en-US" sz="850" b="1" dirty="0">
                <a:solidFill>
                  <a:srgbClr val="065F46"/>
                </a:solidFill>
                <a:latin typeface="Meiryo" pitchFamily="34" charset="0"/>
                <a:ea typeface="Meiryo" pitchFamily="34" charset="-122"/>
                <a:cs typeface="Meiryo" pitchFamily="34" charset="-120"/>
              </a:rPr>
              <a:t>F+B</a:t>
            </a:r>
            <a:endParaRPr lang="en-US" sz="850" dirty="0"/>
          </a:p>
        </p:txBody>
      </p:sp>
      <p:sp>
        <p:nvSpPr>
          <p:cNvPr id="75" name="Text 73"/>
          <p:cNvSpPr/>
          <p:nvPr/>
        </p:nvSpPr>
        <p:spPr>
          <a:xfrm>
            <a:off x="1965960" y="3858768"/>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Card→Receico SSO連携</a:t>
            </a:r>
            <a:endParaRPr lang="en-US" sz="900" dirty="0"/>
          </a:p>
        </p:txBody>
      </p:sp>
      <p:sp>
        <p:nvSpPr>
          <p:cNvPr id="76" name="Text 74"/>
          <p:cNvSpPr/>
          <p:nvPr/>
        </p:nvSpPr>
        <p:spPr>
          <a:xfrm>
            <a:off x="4251960" y="3840480"/>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LINEトークン引き継ぎ。チャネル共通→トークン渡し、別→ワンタイム方式</a:t>
            </a:r>
            <a:endParaRPr lang="en-US" sz="900" dirty="0"/>
          </a:p>
        </p:txBody>
      </p:sp>
      <p:sp>
        <p:nvSpPr>
          <p:cNvPr id="77" name="Text 75"/>
          <p:cNvSpPr/>
          <p:nvPr/>
        </p:nvSpPr>
        <p:spPr>
          <a:xfrm>
            <a:off x="9372600" y="3941064"/>
            <a:ext cx="822960" cy="274320"/>
          </a:xfrm>
          <a:prstGeom prst="rect">
            <a:avLst/>
          </a:prstGeom>
          <a:solidFill>
            <a:srgbClr val="FEF3C7"/>
          </a:solidFill>
          <a:ln/>
        </p:spPr>
        <p:txBody>
          <a:bodyPr wrap="square" lIns="25400" tIns="25400" rIns="25400" bIns="25400" rtlCol="0" anchor="ctr"/>
          <a:lstStyle/>
          <a:p>
            <a:pPr algn="ctr" indent="0" marL="0">
              <a:buNone/>
            </a:pPr>
            <a:r>
              <a:rPr lang="en-US" sz="800" b="1" dirty="0">
                <a:solidFill>
                  <a:srgbClr val="92400E"/>
                </a:solidFill>
                <a:latin typeface="Meiryo" pitchFamily="34" charset="0"/>
                <a:ea typeface="Meiryo" pitchFamily="34" charset="-122"/>
                <a:cs typeface="Meiryo" pitchFamily="34" charset="-120"/>
              </a:rPr>
              <a:t>中</a:t>
            </a:r>
            <a:endParaRPr lang="en-US" sz="800" dirty="0"/>
          </a:p>
        </p:txBody>
      </p:sp>
      <p:sp>
        <p:nvSpPr>
          <p:cNvPr id="78" name="Text 76"/>
          <p:cNvSpPr/>
          <p:nvPr/>
        </p:nvSpPr>
        <p:spPr>
          <a:xfrm>
            <a:off x="10287000" y="3840480"/>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LINEチャネル</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共通か確認</a:t>
            </a:r>
            <a:endParaRPr lang="en-US" sz="850" dirty="0"/>
          </a:p>
        </p:txBody>
      </p:sp>
      <p:sp>
        <p:nvSpPr>
          <p:cNvPr id="79" name="Shape 77"/>
          <p:cNvSpPr/>
          <p:nvPr/>
        </p:nvSpPr>
        <p:spPr>
          <a:xfrm>
            <a:off x="274320" y="4407408"/>
            <a:ext cx="731520" cy="566928"/>
          </a:xfrm>
          <a:prstGeom prst="rect">
            <a:avLst/>
          </a:prstGeom>
          <a:solidFill>
            <a:srgbClr val="FFFFFF"/>
          </a:solidFill>
          <a:ln w="6350">
            <a:solidFill>
              <a:srgbClr val="EEEEEE"/>
            </a:solidFill>
            <a:prstDash val="solid"/>
          </a:ln>
        </p:spPr>
      </p:sp>
      <p:sp>
        <p:nvSpPr>
          <p:cNvPr id="80" name="Shape 78"/>
          <p:cNvSpPr/>
          <p:nvPr/>
        </p:nvSpPr>
        <p:spPr>
          <a:xfrm>
            <a:off x="1005840" y="4407408"/>
            <a:ext cx="914400" cy="566928"/>
          </a:xfrm>
          <a:prstGeom prst="rect">
            <a:avLst/>
          </a:prstGeom>
          <a:solidFill>
            <a:srgbClr val="FFFFFF"/>
          </a:solidFill>
          <a:ln w="6350">
            <a:solidFill>
              <a:srgbClr val="EEEEEE"/>
            </a:solidFill>
            <a:prstDash val="solid"/>
          </a:ln>
        </p:spPr>
      </p:sp>
      <p:sp>
        <p:nvSpPr>
          <p:cNvPr id="81" name="Shape 79"/>
          <p:cNvSpPr/>
          <p:nvPr/>
        </p:nvSpPr>
        <p:spPr>
          <a:xfrm>
            <a:off x="1920240" y="4407408"/>
            <a:ext cx="2286000" cy="566928"/>
          </a:xfrm>
          <a:prstGeom prst="rect">
            <a:avLst/>
          </a:prstGeom>
          <a:solidFill>
            <a:srgbClr val="FFFFFF"/>
          </a:solidFill>
          <a:ln w="6350">
            <a:solidFill>
              <a:srgbClr val="EEEEEE"/>
            </a:solidFill>
            <a:prstDash val="solid"/>
          </a:ln>
        </p:spPr>
      </p:sp>
      <p:sp>
        <p:nvSpPr>
          <p:cNvPr id="82" name="Shape 80"/>
          <p:cNvSpPr/>
          <p:nvPr/>
        </p:nvSpPr>
        <p:spPr>
          <a:xfrm>
            <a:off x="4206240" y="4407408"/>
            <a:ext cx="5120640" cy="566928"/>
          </a:xfrm>
          <a:prstGeom prst="rect">
            <a:avLst/>
          </a:prstGeom>
          <a:solidFill>
            <a:srgbClr val="FFFFFF"/>
          </a:solidFill>
          <a:ln w="6350">
            <a:solidFill>
              <a:srgbClr val="EEEEEE"/>
            </a:solidFill>
            <a:prstDash val="solid"/>
          </a:ln>
        </p:spPr>
      </p:sp>
      <p:sp>
        <p:nvSpPr>
          <p:cNvPr id="83" name="Shape 81"/>
          <p:cNvSpPr/>
          <p:nvPr/>
        </p:nvSpPr>
        <p:spPr>
          <a:xfrm>
            <a:off x="9326880" y="4407408"/>
            <a:ext cx="914400" cy="566928"/>
          </a:xfrm>
          <a:prstGeom prst="rect">
            <a:avLst/>
          </a:prstGeom>
          <a:solidFill>
            <a:srgbClr val="FFFFFF"/>
          </a:solidFill>
          <a:ln w="6350">
            <a:solidFill>
              <a:srgbClr val="EEEEEE"/>
            </a:solidFill>
            <a:prstDash val="solid"/>
          </a:ln>
        </p:spPr>
      </p:sp>
      <p:sp>
        <p:nvSpPr>
          <p:cNvPr id="84" name="Shape 82"/>
          <p:cNvSpPr/>
          <p:nvPr/>
        </p:nvSpPr>
        <p:spPr>
          <a:xfrm>
            <a:off x="10241280" y="4407408"/>
            <a:ext cx="1764792" cy="566928"/>
          </a:xfrm>
          <a:prstGeom prst="rect">
            <a:avLst/>
          </a:prstGeom>
          <a:solidFill>
            <a:srgbClr val="FFFFFF"/>
          </a:solidFill>
          <a:ln w="6350">
            <a:solidFill>
              <a:srgbClr val="EEEEEE"/>
            </a:solidFill>
            <a:prstDash val="solid"/>
          </a:ln>
        </p:spPr>
      </p:sp>
      <p:sp>
        <p:nvSpPr>
          <p:cNvPr id="85" name="Text 83"/>
          <p:cNvSpPr/>
          <p:nvPr/>
        </p:nvSpPr>
        <p:spPr>
          <a:xfrm>
            <a:off x="320040" y="4462272"/>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F-04</a:t>
            </a:r>
            <a:endParaRPr lang="en-US" sz="900" dirty="0"/>
          </a:p>
        </p:txBody>
      </p:sp>
      <p:sp>
        <p:nvSpPr>
          <p:cNvPr id="86" name="Text 84"/>
          <p:cNvSpPr/>
          <p:nvPr/>
        </p:nvSpPr>
        <p:spPr>
          <a:xfrm>
            <a:off x="1051560" y="4544568"/>
            <a:ext cx="822960" cy="274320"/>
          </a:xfrm>
          <a:prstGeom prst="rect">
            <a:avLst/>
          </a:prstGeom>
          <a:solidFill>
            <a:srgbClr val="DBEAFE"/>
          </a:solidFill>
          <a:ln/>
        </p:spPr>
        <p:txBody>
          <a:bodyPr wrap="square" lIns="25400" tIns="25400" rIns="25400" bIns="25400"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フロント</a:t>
            </a:r>
            <a:endParaRPr lang="en-US" sz="850" dirty="0"/>
          </a:p>
        </p:txBody>
      </p:sp>
      <p:sp>
        <p:nvSpPr>
          <p:cNvPr id="87" name="Text 85"/>
          <p:cNvSpPr/>
          <p:nvPr/>
        </p:nvSpPr>
        <p:spPr>
          <a:xfrm>
            <a:off x="1965960" y="4462272"/>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審査ステータス表示</a:t>
            </a:r>
            <a:endParaRPr lang="en-US" sz="900" dirty="0"/>
          </a:p>
        </p:txBody>
      </p:sp>
      <p:sp>
        <p:nvSpPr>
          <p:cNvPr id="88" name="Text 86"/>
          <p:cNvSpPr/>
          <p:nvPr/>
        </p:nvSpPr>
        <p:spPr>
          <a:xfrm>
            <a:off x="4251960" y="4443984"/>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「審査中（オレンジ）」「承認済（グリーン）」バッジをマイページ履歴に表示</a:t>
            </a:r>
            <a:endParaRPr lang="en-US" sz="900" dirty="0"/>
          </a:p>
        </p:txBody>
      </p:sp>
      <p:sp>
        <p:nvSpPr>
          <p:cNvPr id="89" name="Text 87"/>
          <p:cNvSpPr/>
          <p:nvPr/>
        </p:nvSpPr>
        <p:spPr>
          <a:xfrm>
            <a:off x="9372600" y="4544568"/>
            <a:ext cx="822960" cy="274320"/>
          </a:xfrm>
          <a:prstGeom prst="rect">
            <a:avLst/>
          </a:prstGeom>
          <a:solidFill>
            <a:srgbClr val="FEF3C7"/>
          </a:solidFill>
          <a:ln/>
        </p:spPr>
        <p:txBody>
          <a:bodyPr wrap="square" lIns="25400" tIns="25400" rIns="25400" bIns="25400" rtlCol="0" anchor="ctr"/>
          <a:lstStyle/>
          <a:p>
            <a:pPr algn="ctr" indent="0" marL="0">
              <a:buNone/>
            </a:pPr>
            <a:r>
              <a:rPr lang="en-US" sz="800" b="1" dirty="0">
                <a:solidFill>
                  <a:srgbClr val="92400E"/>
                </a:solidFill>
                <a:latin typeface="Meiryo" pitchFamily="34" charset="0"/>
                <a:ea typeface="Meiryo" pitchFamily="34" charset="-122"/>
                <a:cs typeface="Meiryo" pitchFamily="34" charset="-120"/>
              </a:rPr>
              <a:t>小〜中</a:t>
            </a:r>
            <a:endParaRPr lang="en-US" sz="800" dirty="0"/>
          </a:p>
        </p:txBody>
      </p:sp>
      <p:sp>
        <p:nvSpPr>
          <p:cNvPr id="90" name="Text 88"/>
          <p:cNvSpPr/>
          <p:nvPr/>
        </p:nvSpPr>
        <p:spPr>
          <a:xfrm>
            <a:off x="10287000" y="4443984"/>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a:t>
            </a:r>
            <a:endParaRPr lang="en-US" sz="850" dirty="0"/>
          </a:p>
        </p:txBody>
      </p:sp>
      <p:sp>
        <p:nvSpPr>
          <p:cNvPr id="91" name="Shape 89"/>
          <p:cNvSpPr/>
          <p:nvPr/>
        </p:nvSpPr>
        <p:spPr>
          <a:xfrm>
            <a:off x="274320" y="5010912"/>
            <a:ext cx="731520" cy="566928"/>
          </a:xfrm>
          <a:prstGeom prst="rect">
            <a:avLst/>
          </a:prstGeom>
          <a:solidFill>
            <a:srgbClr val="FAFAFA"/>
          </a:solidFill>
          <a:ln w="6350">
            <a:solidFill>
              <a:srgbClr val="EEEEEE"/>
            </a:solidFill>
            <a:prstDash val="solid"/>
          </a:ln>
        </p:spPr>
      </p:sp>
      <p:sp>
        <p:nvSpPr>
          <p:cNvPr id="92" name="Shape 90"/>
          <p:cNvSpPr/>
          <p:nvPr/>
        </p:nvSpPr>
        <p:spPr>
          <a:xfrm>
            <a:off x="1005840" y="5010912"/>
            <a:ext cx="914400" cy="566928"/>
          </a:xfrm>
          <a:prstGeom prst="rect">
            <a:avLst/>
          </a:prstGeom>
          <a:solidFill>
            <a:srgbClr val="FAFAFA"/>
          </a:solidFill>
          <a:ln w="6350">
            <a:solidFill>
              <a:srgbClr val="EEEEEE"/>
            </a:solidFill>
            <a:prstDash val="solid"/>
          </a:ln>
        </p:spPr>
      </p:sp>
      <p:sp>
        <p:nvSpPr>
          <p:cNvPr id="93" name="Shape 91"/>
          <p:cNvSpPr/>
          <p:nvPr/>
        </p:nvSpPr>
        <p:spPr>
          <a:xfrm>
            <a:off x="1920240" y="5010912"/>
            <a:ext cx="2286000" cy="566928"/>
          </a:xfrm>
          <a:prstGeom prst="rect">
            <a:avLst/>
          </a:prstGeom>
          <a:solidFill>
            <a:srgbClr val="FAFAFA"/>
          </a:solidFill>
          <a:ln w="6350">
            <a:solidFill>
              <a:srgbClr val="EEEEEE"/>
            </a:solidFill>
            <a:prstDash val="solid"/>
          </a:ln>
        </p:spPr>
      </p:sp>
      <p:sp>
        <p:nvSpPr>
          <p:cNvPr id="94" name="Shape 92"/>
          <p:cNvSpPr/>
          <p:nvPr/>
        </p:nvSpPr>
        <p:spPr>
          <a:xfrm>
            <a:off x="4206240" y="5010912"/>
            <a:ext cx="5120640" cy="566928"/>
          </a:xfrm>
          <a:prstGeom prst="rect">
            <a:avLst/>
          </a:prstGeom>
          <a:solidFill>
            <a:srgbClr val="FAFAFA"/>
          </a:solidFill>
          <a:ln w="6350">
            <a:solidFill>
              <a:srgbClr val="EEEEEE"/>
            </a:solidFill>
            <a:prstDash val="solid"/>
          </a:ln>
        </p:spPr>
      </p:sp>
      <p:sp>
        <p:nvSpPr>
          <p:cNvPr id="95" name="Shape 93"/>
          <p:cNvSpPr/>
          <p:nvPr/>
        </p:nvSpPr>
        <p:spPr>
          <a:xfrm>
            <a:off x="9326880" y="5010912"/>
            <a:ext cx="914400" cy="566928"/>
          </a:xfrm>
          <a:prstGeom prst="rect">
            <a:avLst/>
          </a:prstGeom>
          <a:solidFill>
            <a:srgbClr val="FAFAFA"/>
          </a:solidFill>
          <a:ln w="6350">
            <a:solidFill>
              <a:srgbClr val="EEEEEE"/>
            </a:solidFill>
            <a:prstDash val="solid"/>
          </a:ln>
        </p:spPr>
      </p:sp>
      <p:sp>
        <p:nvSpPr>
          <p:cNvPr id="96" name="Shape 94"/>
          <p:cNvSpPr/>
          <p:nvPr/>
        </p:nvSpPr>
        <p:spPr>
          <a:xfrm>
            <a:off x="10241280" y="5010912"/>
            <a:ext cx="1764792" cy="566928"/>
          </a:xfrm>
          <a:prstGeom prst="rect">
            <a:avLst/>
          </a:prstGeom>
          <a:solidFill>
            <a:srgbClr val="FAFAFA"/>
          </a:solidFill>
          <a:ln w="6350">
            <a:solidFill>
              <a:srgbClr val="EEEEEE"/>
            </a:solidFill>
            <a:prstDash val="solid"/>
          </a:ln>
        </p:spPr>
      </p:sp>
      <p:sp>
        <p:nvSpPr>
          <p:cNvPr id="97" name="Text 95"/>
          <p:cNvSpPr/>
          <p:nvPr/>
        </p:nvSpPr>
        <p:spPr>
          <a:xfrm>
            <a:off x="320040" y="5065776"/>
            <a:ext cx="640080" cy="457200"/>
          </a:xfrm>
          <a:prstGeom prst="rect">
            <a:avLst/>
          </a:prstGeom>
          <a:solidFill>
            <a:srgbClr val="FEE2E2"/>
          </a:solidFill>
          <a:ln/>
        </p:spPr>
        <p:txBody>
          <a:bodyPr wrap="square" lIns="25400" tIns="25400" rIns="25400" bIns="25400" rtlCol="0" anchor="ctr"/>
          <a:lstStyle/>
          <a:p>
            <a:pPr algn="ctr" indent="0" marL="0">
              <a:buNone/>
            </a:pPr>
            <a:r>
              <a:rPr lang="en-US" sz="900" b="1" dirty="0">
                <a:solidFill>
                  <a:srgbClr val="991B1B"/>
                </a:solidFill>
                <a:latin typeface="Meiryo" pitchFamily="34" charset="0"/>
                <a:ea typeface="Meiryo" pitchFamily="34" charset="-122"/>
                <a:cs typeface="Meiryo" pitchFamily="34" charset="-120"/>
              </a:rPr>
              <a:t>F-05</a:t>
            </a:r>
            <a:endParaRPr lang="en-US" sz="900" dirty="0"/>
          </a:p>
        </p:txBody>
      </p:sp>
      <p:sp>
        <p:nvSpPr>
          <p:cNvPr id="98" name="Text 96"/>
          <p:cNvSpPr/>
          <p:nvPr/>
        </p:nvSpPr>
        <p:spPr>
          <a:xfrm>
            <a:off x="1051560" y="5148072"/>
            <a:ext cx="822960" cy="274320"/>
          </a:xfrm>
          <a:prstGeom prst="rect">
            <a:avLst/>
          </a:prstGeom>
          <a:solidFill>
            <a:srgbClr val="DBEAFE"/>
          </a:solidFill>
          <a:ln/>
        </p:spPr>
        <p:txBody>
          <a:bodyPr wrap="square" lIns="25400" tIns="25400" rIns="25400" bIns="25400" rtlCol="0" anchor="ctr"/>
          <a:lstStyle/>
          <a:p>
            <a:pPr algn="ctr" indent="0" marL="0">
              <a:buNone/>
            </a:pPr>
            <a:r>
              <a:rPr lang="en-US" sz="850" b="1" dirty="0">
                <a:solidFill>
                  <a:srgbClr val="1D4ED8"/>
                </a:solidFill>
                <a:latin typeface="Meiryo" pitchFamily="34" charset="0"/>
                <a:ea typeface="Meiryo" pitchFamily="34" charset="-122"/>
                <a:cs typeface="Meiryo" pitchFamily="34" charset="-120"/>
              </a:rPr>
              <a:t>フロント</a:t>
            </a:r>
            <a:endParaRPr lang="en-US" sz="850" dirty="0"/>
          </a:p>
        </p:txBody>
      </p:sp>
      <p:sp>
        <p:nvSpPr>
          <p:cNvPr id="99" name="Text 97"/>
          <p:cNvSpPr/>
          <p:nvPr/>
        </p:nvSpPr>
        <p:spPr>
          <a:xfrm>
            <a:off x="1965960" y="5065776"/>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応募モーダル ポイント内訳表示</a:t>
            </a:r>
            <a:endParaRPr lang="en-US" sz="900" dirty="0"/>
          </a:p>
        </p:txBody>
      </p:sp>
      <p:sp>
        <p:nvSpPr>
          <p:cNvPr id="100" name="Text 98"/>
          <p:cNvSpPr/>
          <p:nvPr/>
        </p:nvSpPr>
        <p:spPr>
          <a:xfrm>
            <a:off x="4251960" y="5047488"/>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GPS分・タクシー承認済・審査中の内訳を応募モーダルに表示</a:t>
            </a:r>
            <a:endParaRPr lang="en-US" sz="900" dirty="0"/>
          </a:p>
        </p:txBody>
      </p:sp>
      <p:sp>
        <p:nvSpPr>
          <p:cNvPr id="101" name="Text 99"/>
          <p:cNvSpPr/>
          <p:nvPr/>
        </p:nvSpPr>
        <p:spPr>
          <a:xfrm>
            <a:off x="9372600" y="5148072"/>
            <a:ext cx="822960" cy="274320"/>
          </a:xfrm>
          <a:prstGeom prst="rect">
            <a:avLst/>
          </a:prstGeom>
          <a:solidFill>
            <a:srgbClr val="DCFCE7"/>
          </a:solidFill>
          <a:ln/>
        </p:spPr>
        <p:txBody>
          <a:bodyPr wrap="square" lIns="25400" tIns="25400" rIns="25400" bIns="25400" rtlCol="0" anchor="ctr"/>
          <a:lstStyle/>
          <a:p>
            <a:pPr algn="ctr" indent="0" marL="0">
              <a:buNone/>
            </a:pPr>
            <a:r>
              <a:rPr lang="en-US" sz="800" b="1" dirty="0">
                <a:solidFill>
                  <a:srgbClr val="166534"/>
                </a:solidFill>
                <a:latin typeface="Meiryo" pitchFamily="34" charset="0"/>
                <a:ea typeface="Meiryo" pitchFamily="34" charset="-122"/>
                <a:cs typeface="Meiryo" pitchFamily="34" charset="-120"/>
              </a:rPr>
              <a:t>小</a:t>
            </a:r>
            <a:endParaRPr lang="en-US" sz="800" dirty="0"/>
          </a:p>
        </p:txBody>
      </p:sp>
      <p:sp>
        <p:nvSpPr>
          <p:cNvPr id="102" name="Text 100"/>
          <p:cNvSpPr/>
          <p:nvPr/>
        </p:nvSpPr>
        <p:spPr>
          <a:xfrm>
            <a:off x="10287000" y="5047488"/>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a:t>
            </a:r>
            <a:endParaRPr lang="en-US" sz="850" dirty="0"/>
          </a:p>
        </p:txBody>
      </p:sp>
      <p:sp>
        <p:nvSpPr>
          <p:cNvPr id="103" name="Shape 101"/>
          <p:cNvSpPr/>
          <p:nvPr/>
        </p:nvSpPr>
        <p:spPr>
          <a:xfrm>
            <a:off x="274320" y="5614416"/>
            <a:ext cx="731520" cy="566928"/>
          </a:xfrm>
          <a:prstGeom prst="rect">
            <a:avLst/>
          </a:prstGeom>
          <a:solidFill>
            <a:srgbClr val="FFFFFF"/>
          </a:solidFill>
          <a:ln w="6350">
            <a:solidFill>
              <a:srgbClr val="EEEEEE"/>
            </a:solidFill>
            <a:prstDash val="solid"/>
          </a:ln>
        </p:spPr>
      </p:sp>
      <p:sp>
        <p:nvSpPr>
          <p:cNvPr id="104" name="Shape 102"/>
          <p:cNvSpPr/>
          <p:nvPr/>
        </p:nvSpPr>
        <p:spPr>
          <a:xfrm>
            <a:off x="1005840" y="5614416"/>
            <a:ext cx="914400" cy="566928"/>
          </a:xfrm>
          <a:prstGeom prst="rect">
            <a:avLst/>
          </a:prstGeom>
          <a:solidFill>
            <a:srgbClr val="FFFFFF"/>
          </a:solidFill>
          <a:ln w="6350">
            <a:solidFill>
              <a:srgbClr val="EEEEEE"/>
            </a:solidFill>
            <a:prstDash val="solid"/>
          </a:ln>
        </p:spPr>
      </p:sp>
      <p:sp>
        <p:nvSpPr>
          <p:cNvPr id="105" name="Shape 103"/>
          <p:cNvSpPr/>
          <p:nvPr/>
        </p:nvSpPr>
        <p:spPr>
          <a:xfrm>
            <a:off x="1920240" y="5614416"/>
            <a:ext cx="2286000" cy="566928"/>
          </a:xfrm>
          <a:prstGeom prst="rect">
            <a:avLst/>
          </a:prstGeom>
          <a:solidFill>
            <a:srgbClr val="FFFFFF"/>
          </a:solidFill>
          <a:ln w="6350">
            <a:solidFill>
              <a:srgbClr val="EEEEEE"/>
            </a:solidFill>
            <a:prstDash val="solid"/>
          </a:ln>
        </p:spPr>
      </p:sp>
      <p:sp>
        <p:nvSpPr>
          <p:cNvPr id="106" name="Shape 104"/>
          <p:cNvSpPr/>
          <p:nvPr/>
        </p:nvSpPr>
        <p:spPr>
          <a:xfrm>
            <a:off x="4206240" y="5614416"/>
            <a:ext cx="5120640" cy="566928"/>
          </a:xfrm>
          <a:prstGeom prst="rect">
            <a:avLst/>
          </a:prstGeom>
          <a:solidFill>
            <a:srgbClr val="FFFFFF"/>
          </a:solidFill>
          <a:ln w="6350">
            <a:solidFill>
              <a:srgbClr val="EEEEEE"/>
            </a:solidFill>
            <a:prstDash val="solid"/>
          </a:ln>
        </p:spPr>
      </p:sp>
      <p:sp>
        <p:nvSpPr>
          <p:cNvPr id="107" name="Shape 105"/>
          <p:cNvSpPr/>
          <p:nvPr/>
        </p:nvSpPr>
        <p:spPr>
          <a:xfrm>
            <a:off x="9326880" y="5614416"/>
            <a:ext cx="914400" cy="566928"/>
          </a:xfrm>
          <a:prstGeom prst="rect">
            <a:avLst/>
          </a:prstGeom>
          <a:solidFill>
            <a:srgbClr val="FFFFFF"/>
          </a:solidFill>
          <a:ln w="6350">
            <a:solidFill>
              <a:srgbClr val="EEEEEE"/>
            </a:solidFill>
            <a:prstDash val="solid"/>
          </a:ln>
        </p:spPr>
      </p:sp>
      <p:sp>
        <p:nvSpPr>
          <p:cNvPr id="108" name="Shape 106"/>
          <p:cNvSpPr/>
          <p:nvPr/>
        </p:nvSpPr>
        <p:spPr>
          <a:xfrm>
            <a:off x="10241280" y="5614416"/>
            <a:ext cx="1764792" cy="566928"/>
          </a:xfrm>
          <a:prstGeom prst="rect">
            <a:avLst/>
          </a:prstGeom>
          <a:solidFill>
            <a:srgbClr val="FFFFFF"/>
          </a:solidFill>
          <a:ln w="6350">
            <a:solidFill>
              <a:srgbClr val="EEEEEE"/>
            </a:solidFill>
            <a:prstDash val="solid"/>
          </a:ln>
        </p:spPr>
      </p:sp>
      <p:sp>
        <p:nvSpPr>
          <p:cNvPr id="109" name="Text 107"/>
          <p:cNvSpPr/>
          <p:nvPr/>
        </p:nvSpPr>
        <p:spPr>
          <a:xfrm>
            <a:off x="320040" y="5669280"/>
            <a:ext cx="640080" cy="457200"/>
          </a:xfrm>
          <a:prstGeom prst="rect">
            <a:avLst/>
          </a:prstGeom>
          <a:solidFill>
            <a:srgbClr val="FEF3C7"/>
          </a:solidFill>
          <a:ln/>
        </p:spPr>
        <p:txBody>
          <a:bodyPr wrap="square" lIns="25400" tIns="25400" rIns="25400" bIns="25400" rtlCol="0" anchor="ctr"/>
          <a:lstStyle/>
          <a:p>
            <a:pPr algn="ctr" indent="0" marL="0">
              <a:buNone/>
            </a:pPr>
            <a:r>
              <a:rPr lang="en-US" sz="900" b="1" dirty="0">
                <a:solidFill>
                  <a:srgbClr val="92400E"/>
                </a:solidFill>
                <a:latin typeface="Meiryo" pitchFamily="34" charset="0"/>
                <a:ea typeface="Meiryo" pitchFamily="34" charset="-122"/>
                <a:cs typeface="Meiryo" pitchFamily="34" charset="-120"/>
              </a:rPr>
              <a:t>B-04</a:t>
            </a:r>
            <a:endParaRPr lang="en-US" sz="900" dirty="0"/>
          </a:p>
        </p:txBody>
      </p:sp>
      <p:sp>
        <p:nvSpPr>
          <p:cNvPr id="110" name="Text 108"/>
          <p:cNvSpPr/>
          <p:nvPr/>
        </p:nvSpPr>
        <p:spPr>
          <a:xfrm>
            <a:off x="1051560" y="5751576"/>
            <a:ext cx="822960" cy="274320"/>
          </a:xfrm>
          <a:prstGeom prst="rect">
            <a:avLst/>
          </a:prstGeom>
          <a:solidFill>
            <a:srgbClr val="FEF3C7"/>
          </a:solidFill>
          <a:ln/>
        </p:spPr>
        <p:txBody>
          <a:bodyPr wrap="square" lIns="25400" tIns="25400" rIns="25400" bIns="25400" rtlCol="0" anchor="ctr"/>
          <a:lstStyle/>
          <a:p>
            <a:pPr algn="ctr" indent="0" marL="0">
              <a:buNone/>
            </a:pPr>
            <a:r>
              <a:rPr lang="en-US" sz="850" b="1" dirty="0">
                <a:solidFill>
                  <a:srgbClr val="92400E"/>
                </a:solidFill>
                <a:latin typeface="Meiryo" pitchFamily="34" charset="0"/>
                <a:ea typeface="Meiryo" pitchFamily="34" charset="-122"/>
                <a:cs typeface="Meiryo" pitchFamily="34" charset="-120"/>
              </a:rPr>
              <a:t>設定</a:t>
            </a:r>
            <a:endParaRPr lang="en-US" sz="850" dirty="0"/>
          </a:p>
        </p:txBody>
      </p:sp>
      <p:sp>
        <p:nvSpPr>
          <p:cNvPr id="111" name="Text 109"/>
          <p:cNvSpPr/>
          <p:nvPr/>
        </p:nvSpPr>
        <p:spPr>
          <a:xfrm>
            <a:off x="1965960" y="5669280"/>
            <a:ext cx="2194560" cy="457200"/>
          </a:xfrm>
          <a:prstGeom prst="rect">
            <a:avLst/>
          </a:prstGeom>
          <a:noFill/>
          <a:ln/>
        </p:spPr>
        <p:txBody>
          <a:bodyPr wrap="square" lIns="0" tIns="0" rIns="0" bIns="0" rtlCol="0" anchor="ctr"/>
          <a:lstStyle/>
          <a:p>
            <a:pPr indent="0" marL="0">
              <a:buNone/>
            </a:pPr>
            <a:r>
              <a:rPr lang="en-US" sz="900" b="1" dirty="0">
                <a:solidFill>
                  <a:srgbClr val="2D2D2D"/>
                </a:solidFill>
                <a:latin typeface="Meiryo" pitchFamily="34" charset="0"/>
                <a:ea typeface="Meiryo" pitchFamily="34" charset="-122"/>
                <a:cs typeface="Meiryo" pitchFamily="34" charset="-120"/>
              </a:rPr>
              <a:t>OCRタグ審査 条件設定</a:t>
            </a:r>
            <a:endParaRPr lang="en-US" sz="900" dirty="0"/>
          </a:p>
        </p:txBody>
      </p:sp>
      <p:sp>
        <p:nvSpPr>
          <p:cNvPr id="112" name="Text 110"/>
          <p:cNvSpPr/>
          <p:nvPr/>
        </p:nvSpPr>
        <p:spPr>
          <a:xfrm>
            <a:off x="4251960" y="5650992"/>
            <a:ext cx="5029200" cy="502920"/>
          </a:xfrm>
          <a:prstGeom prst="rect">
            <a:avLst/>
          </a:prstGeom>
          <a:noFill/>
          <a:ln/>
        </p:spPr>
        <p:txBody>
          <a:bodyPr wrap="square" lIns="0" tIns="0" rIns="0" bIns="0" rtlCol="0" anchor="ctr"/>
          <a:lstStyle/>
          <a:p>
            <a:pPr indent="0" marL="0">
              <a:buNone/>
            </a:pPr>
            <a:r>
              <a:rPr lang="en-US" sz="900" dirty="0">
                <a:solidFill>
                  <a:srgbClr val="444444"/>
                </a:solidFill>
                <a:latin typeface="Meiryo" pitchFamily="34" charset="0"/>
                <a:ea typeface="Meiryo" pitchFamily="34" charset="-122"/>
                <a:cs typeface="Meiryo" pitchFamily="34" charset="-120"/>
              </a:rPr>
              <a:t>Receico管理画面でタクシー会社リスト・期間・重複チェックを設定。コーディング不要</a:t>
            </a:r>
            <a:endParaRPr lang="en-US" sz="900" dirty="0"/>
          </a:p>
        </p:txBody>
      </p:sp>
      <p:sp>
        <p:nvSpPr>
          <p:cNvPr id="113" name="Text 111"/>
          <p:cNvSpPr/>
          <p:nvPr/>
        </p:nvSpPr>
        <p:spPr>
          <a:xfrm>
            <a:off x="9372600" y="5751576"/>
            <a:ext cx="822960" cy="274320"/>
          </a:xfrm>
          <a:prstGeom prst="rect">
            <a:avLst/>
          </a:prstGeom>
          <a:solidFill>
            <a:srgbClr val="F0F0F0"/>
          </a:solidFill>
          <a:ln/>
        </p:spPr>
        <p:txBody>
          <a:bodyPr wrap="square" lIns="25400" tIns="25400" rIns="25400" bIns="25400" rtlCol="0" anchor="ctr"/>
          <a:lstStyle/>
          <a:p>
            <a:pPr algn="ctr" indent="0" marL="0">
              <a:buNone/>
            </a:pPr>
            <a:r>
              <a:rPr lang="en-US" sz="800" b="1" dirty="0">
                <a:solidFill>
                  <a:srgbClr val="555555"/>
                </a:solidFill>
                <a:latin typeface="Meiryo" pitchFamily="34" charset="0"/>
                <a:ea typeface="Meiryo" pitchFamily="34" charset="-122"/>
                <a:cs typeface="Meiryo" pitchFamily="34" charset="-120"/>
              </a:rPr>
              <a:t>設定のみ</a:t>
            </a:r>
            <a:endParaRPr lang="en-US" sz="800" dirty="0"/>
          </a:p>
        </p:txBody>
      </p:sp>
      <p:sp>
        <p:nvSpPr>
          <p:cNvPr id="114" name="Text 112"/>
          <p:cNvSpPr/>
          <p:nvPr/>
        </p:nvSpPr>
        <p:spPr>
          <a:xfrm>
            <a:off x="10287000" y="5650992"/>
            <a:ext cx="1645920" cy="502920"/>
          </a:xfrm>
          <a:prstGeom prst="rect">
            <a:avLst/>
          </a:prstGeom>
          <a:noFill/>
          <a:ln/>
        </p:spPr>
        <p:txBody>
          <a:bodyPr wrap="square" lIns="0" tIns="0" rIns="0" bIns="0" rtlCol="0" anchor="ctr"/>
          <a:lstStyle/>
          <a:p>
            <a:pPr indent="0" marL="0">
              <a:buNone/>
            </a:pPr>
            <a:r>
              <a:rPr lang="en-US" sz="850" dirty="0">
                <a:solidFill>
                  <a:srgbClr val="E53935"/>
                </a:solidFill>
                <a:latin typeface="Meiryo" pitchFamily="34" charset="0"/>
                <a:ea typeface="Meiryo" pitchFamily="34" charset="-122"/>
                <a:cs typeface="Meiryo" pitchFamily="34" charset="-120"/>
              </a:rPr>
              <a:t>対象タクシー</a:t>
            </a:r>
            <a:endParaRPr lang="en-US" sz="850" dirty="0"/>
          </a:p>
          <a:p>
            <a:pPr indent="0" marL="0">
              <a:buNone/>
            </a:pPr>
            <a:r>
              <a:rPr lang="en-US" sz="850" dirty="0">
                <a:solidFill>
                  <a:srgbClr val="E53935"/>
                </a:solidFill>
                <a:latin typeface="Meiryo" pitchFamily="34" charset="0"/>
                <a:ea typeface="Meiryo" pitchFamily="34" charset="-122"/>
                <a:cs typeface="Meiryo" pitchFamily="34" charset="-120"/>
              </a:rPr>
              <a:t>リスト入手要</a:t>
            </a:r>
            <a:endParaRPr lang="en-US" sz="850" dirty="0"/>
          </a:p>
        </p:txBody>
      </p:sp>
      <p:sp>
        <p:nvSpPr>
          <p:cNvPr id="115" name="Text 113"/>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5 / 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ユーザーフロー</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GPS乗降2点判定 ＋ タクシーレシートOCR判定の2系統</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P6 ユーザーフロー</a:t>
            </a:r>
            <a:endParaRPr lang="en-US" sz="900" dirty="0"/>
          </a:p>
        </p:txBody>
      </p:sp>
      <p:sp>
        <p:nvSpPr>
          <p:cNvPr id="7" name="Text 5"/>
          <p:cNvSpPr/>
          <p:nvPr/>
        </p:nvSpPr>
        <p:spPr>
          <a:xfrm>
            <a:off x="274320" y="1078992"/>
            <a:ext cx="10972800" cy="256032"/>
          </a:xfrm>
          <a:prstGeom prst="rect">
            <a:avLst/>
          </a:prstGeom>
          <a:noFill/>
          <a:ln/>
        </p:spPr>
        <p:txBody>
          <a:bodyPr wrap="square" lIns="0" tIns="0" rIns="0" bIns="0" rtlCol="0" anchor="ctr"/>
          <a:lstStyle/>
          <a:p>
            <a:pPr indent="0" marL="0">
              <a:buNone/>
            </a:pPr>
            <a:r>
              <a:rPr lang="en-US" sz="1000" b="1" dirty="0">
                <a:solidFill>
                  <a:srgbClr val="444444"/>
                </a:solidFill>
                <a:latin typeface="Meiryo" pitchFamily="34" charset="0"/>
                <a:ea typeface="Meiryo" pitchFamily="34" charset="-122"/>
                <a:cs typeface="Meiryo" pitchFamily="34" charset="-120"/>
              </a:rPr>
              <a:t>[ GPS乗降判定フロー（バス・電車・路面電車・フェリー） ]</a:t>
            </a:r>
            <a:endParaRPr lang="en-US" sz="1000" dirty="0"/>
          </a:p>
        </p:txBody>
      </p:sp>
      <p:sp>
        <p:nvSpPr>
          <p:cNvPr id="8" name="Shape 6"/>
          <p:cNvSpPr/>
          <p:nvPr/>
        </p:nvSpPr>
        <p:spPr>
          <a:xfrm>
            <a:off x="274320" y="1389888"/>
            <a:ext cx="1389888" cy="914400"/>
          </a:xfrm>
          <a:prstGeom prst="roundRect">
            <a:avLst>
              <a:gd name="adj" fmla="val 8000"/>
            </a:avLst>
          </a:prstGeom>
          <a:solidFill>
            <a:srgbClr val="2C5F2D"/>
          </a:solidFill>
          <a:ln w="12700">
            <a:solidFill>
              <a:srgbClr val="2C5F2D"/>
            </a:solidFill>
            <a:prstDash val="solid"/>
          </a:ln>
        </p:spPr>
      </p:sp>
      <p:sp>
        <p:nvSpPr>
          <p:cNvPr id="9" name="Text 7"/>
          <p:cNvSpPr/>
          <p:nvPr/>
        </p:nvSpPr>
        <p:spPr>
          <a:xfrm>
            <a:off x="274320" y="1481328"/>
            <a:ext cx="1389888"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LINEログイン</a:t>
            </a:r>
            <a:endParaRPr lang="en-US" sz="1000" dirty="0"/>
          </a:p>
        </p:txBody>
      </p:sp>
      <p:sp>
        <p:nvSpPr>
          <p:cNvPr id="10" name="Text 8"/>
          <p:cNvSpPr/>
          <p:nvPr/>
        </p:nvSpPr>
        <p:spPr>
          <a:xfrm>
            <a:off x="274320" y="2011680"/>
            <a:ext cx="1389888" cy="256032"/>
          </a:xfrm>
          <a:prstGeom prst="rect">
            <a:avLst/>
          </a:prstGeom>
          <a:noFill/>
          <a:ln/>
        </p:spPr>
        <p:txBody>
          <a:bodyPr wrap="square" lIns="0" tIns="0" rIns="0" bIns="0" rtlCol="0" anchor="ctr"/>
          <a:lstStyle/>
          <a:p>
            <a:pPr algn="ctr" indent="0" marL="0">
              <a:buNone/>
            </a:pPr>
            <a:r>
              <a:rPr lang="en-US" sz="800" dirty="0">
                <a:solidFill>
                  <a:srgbClr val="FFFFFF"/>
                </a:solidFill>
                <a:latin typeface="Meiryo" pitchFamily="34" charset="0"/>
                <a:ea typeface="Meiryo" pitchFamily="34" charset="-122"/>
                <a:cs typeface="Meiryo" pitchFamily="34" charset="-120"/>
              </a:rPr>
              <a:t>（標準OP）</a:t>
            </a:r>
            <a:endParaRPr lang="en-US" sz="800" dirty="0"/>
          </a:p>
        </p:txBody>
      </p:sp>
      <p:sp>
        <p:nvSpPr>
          <p:cNvPr id="11" name="Shape 9"/>
          <p:cNvSpPr/>
          <p:nvPr/>
        </p:nvSpPr>
        <p:spPr>
          <a:xfrm>
            <a:off x="1691640" y="1847088"/>
            <a:ext cx="14630" cy="0"/>
          </a:xfrm>
          <a:prstGeom prst="line">
            <a:avLst/>
          </a:prstGeom>
          <a:noFill/>
          <a:ln w="15240">
            <a:solidFill>
              <a:srgbClr val="AAAAAA"/>
            </a:solidFill>
            <a:prstDash val="solid"/>
            <a:tailEnd type="open"/>
          </a:ln>
        </p:spPr>
      </p:sp>
      <p:sp>
        <p:nvSpPr>
          <p:cNvPr id="12" name="Shape 10"/>
          <p:cNvSpPr/>
          <p:nvPr/>
        </p:nvSpPr>
        <p:spPr>
          <a:xfrm>
            <a:off x="1733702" y="1389888"/>
            <a:ext cx="1389888" cy="914400"/>
          </a:xfrm>
          <a:prstGeom prst="roundRect">
            <a:avLst>
              <a:gd name="adj" fmla="val 8000"/>
            </a:avLst>
          </a:prstGeom>
          <a:solidFill>
            <a:srgbClr val="FEE2E2"/>
          </a:solidFill>
          <a:ln w="19050">
            <a:solidFill>
              <a:srgbClr val="991B1B"/>
            </a:solidFill>
            <a:prstDash val="solid"/>
          </a:ln>
        </p:spPr>
      </p:sp>
      <p:sp>
        <p:nvSpPr>
          <p:cNvPr id="13" name="Text 11"/>
          <p:cNvSpPr/>
          <p:nvPr/>
        </p:nvSpPr>
        <p:spPr>
          <a:xfrm>
            <a:off x="1733702" y="1481328"/>
            <a:ext cx="1389888" cy="502920"/>
          </a:xfrm>
          <a:prstGeom prst="rect">
            <a:avLst/>
          </a:prstGeom>
          <a:noFill/>
          <a:ln/>
        </p:spPr>
        <p:txBody>
          <a:bodyPr wrap="square" lIns="0" tIns="0" rIns="0" bIns="0" rtlCol="0" anchor="ctr"/>
          <a:lstStyle/>
          <a:p>
            <a:pPr algn="ctr" indent="0" marL="0">
              <a:buNone/>
            </a:pPr>
            <a:r>
              <a:rPr lang="en-US" sz="1000" b="1" dirty="0">
                <a:solidFill>
                  <a:srgbClr val="991B1B"/>
                </a:solidFill>
                <a:latin typeface="Meiryo" pitchFamily="34" charset="0"/>
                <a:ea typeface="Meiryo" pitchFamily="34" charset="-122"/>
                <a:cs typeface="Meiryo" pitchFamily="34" charset="-120"/>
              </a:rPr>
              <a:t>マイページ</a:t>
            </a:r>
            <a:endParaRPr lang="en-US" sz="1000" dirty="0"/>
          </a:p>
        </p:txBody>
      </p:sp>
      <p:sp>
        <p:nvSpPr>
          <p:cNvPr id="14" name="Text 12"/>
          <p:cNvSpPr/>
          <p:nvPr/>
        </p:nvSpPr>
        <p:spPr>
          <a:xfrm>
            <a:off x="1733702" y="2011680"/>
            <a:ext cx="1389888" cy="256032"/>
          </a:xfrm>
          <a:prstGeom prst="rect">
            <a:avLst/>
          </a:prstGeom>
          <a:noFill/>
          <a:ln/>
        </p:spPr>
        <p:txBody>
          <a:bodyPr wrap="square" lIns="0" tIns="0" rIns="0" bIns="0" rtlCol="0" anchor="ctr"/>
          <a:lstStyle/>
          <a:p>
            <a:pPr algn="ctr" indent="0" marL="0">
              <a:buNone/>
            </a:pPr>
            <a:r>
              <a:rPr lang="en-US" sz="800" dirty="0">
                <a:solidFill>
                  <a:srgbClr val="991B1B"/>
                </a:solidFill>
                <a:latin typeface="Meiryo" pitchFamily="34" charset="0"/>
                <a:ea typeface="Meiryo" pitchFamily="34" charset="-122"/>
                <a:cs typeface="Meiryo" pitchFamily="34" charset="-120"/>
              </a:rPr>
              <a:t>F-01 拡張</a:t>
            </a:r>
            <a:endParaRPr lang="en-US" sz="800" dirty="0"/>
          </a:p>
        </p:txBody>
      </p:sp>
      <p:sp>
        <p:nvSpPr>
          <p:cNvPr id="15" name="Shape 13"/>
          <p:cNvSpPr/>
          <p:nvPr/>
        </p:nvSpPr>
        <p:spPr>
          <a:xfrm>
            <a:off x="3151022" y="1847088"/>
            <a:ext cx="14630" cy="0"/>
          </a:xfrm>
          <a:prstGeom prst="line">
            <a:avLst/>
          </a:prstGeom>
          <a:noFill/>
          <a:ln w="15240">
            <a:solidFill>
              <a:srgbClr val="AAAAAA"/>
            </a:solidFill>
            <a:prstDash val="solid"/>
            <a:tailEnd type="open"/>
          </a:ln>
        </p:spPr>
      </p:sp>
      <p:sp>
        <p:nvSpPr>
          <p:cNvPr id="16" name="Shape 14"/>
          <p:cNvSpPr/>
          <p:nvPr/>
        </p:nvSpPr>
        <p:spPr>
          <a:xfrm>
            <a:off x="3193085" y="1389888"/>
            <a:ext cx="1389888" cy="914400"/>
          </a:xfrm>
          <a:prstGeom prst="roundRect">
            <a:avLst>
              <a:gd name="adj" fmla="val 8000"/>
            </a:avLst>
          </a:prstGeom>
          <a:solidFill>
            <a:srgbClr val="FEE2E2"/>
          </a:solidFill>
          <a:ln w="19050">
            <a:solidFill>
              <a:srgbClr val="991B1B"/>
            </a:solidFill>
            <a:prstDash val="solid"/>
          </a:ln>
        </p:spPr>
      </p:sp>
      <p:sp>
        <p:nvSpPr>
          <p:cNvPr id="17" name="Text 15"/>
          <p:cNvSpPr/>
          <p:nvPr/>
        </p:nvSpPr>
        <p:spPr>
          <a:xfrm>
            <a:off x="3193085" y="1481328"/>
            <a:ext cx="1389888" cy="502920"/>
          </a:xfrm>
          <a:prstGeom prst="rect">
            <a:avLst/>
          </a:prstGeom>
          <a:noFill/>
          <a:ln/>
        </p:spPr>
        <p:txBody>
          <a:bodyPr wrap="square" lIns="0" tIns="0" rIns="0" bIns="0" rtlCol="0" anchor="ctr"/>
          <a:lstStyle/>
          <a:p>
            <a:pPr algn="ctr" indent="0" marL="0">
              <a:buNone/>
            </a:pPr>
            <a:r>
              <a:rPr lang="en-US" sz="1000" b="1" dirty="0">
                <a:solidFill>
                  <a:srgbClr val="991B1B"/>
                </a:solidFill>
                <a:latin typeface="Meiryo" pitchFamily="34" charset="0"/>
                <a:ea typeface="Meiryo" pitchFamily="34" charset="-122"/>
                <a:cs typeface="Meiryo" pitchFamily="34" charset="-120"/>
              </a:rPr>
              <a:t>種別・路線 選択</a:t>
            </a:r>
            <a:endParaRPr lang="en-US" sz="1000" dirty="0"/>
          </a:p>
        </p:txBody>
      </p:sp>
      <p:sp>
        <p:nvSpPr>
          <p:cNvPr id="18" name="Text 16"/>
          <p:cNvSpPr/>
          <p:nvPr/>
        </p:nvSpPr>
        <p:spPr>
          <a:xfrm>
            <a:off x="3193085" y="2011680"/>
            <a:ext cx="1389888" cy="256032"/>
          </a:xfrm>
          <a:prstGeom prst="rect">
            <a:avLst/>
          </a:prstGeom>
          <a:noFill/>
          <a:ln/>
        </p:spPr>
        <p:txBody>
          <a:bodyPr wrap="square" lIns="0" tIns="0" rIns="0" bIns="0" rtlCol="0" anchor="ctr"/>
          <a:lstStyle/>
          <a:p>
            <a:pPr algn="ctr" indent="0" marL="0">
              <a:buNone/>
            </a:pPr>
            <a:r>
              <a:rPr lang="en-US" sz="800" dirty="0">
                <a:solidFill>
                  <a:srgbClr val="991B1B"/>
                </a:solidFill>
                <a:latin typeface="Meiryo" pitchFamily="34" charset="0"/>
                <a:ea typeface="Meiryo" pitchFamily="34" charset="-122"/>
                <a:cs typeface="Meiryo" pitchFamily="34" charset="-120"/>
              </a:rPr>
              <a:t>F-02</a:t>
            </a:r>
            <a:endParaRPr lang="en-US" sz="800" dirty="0"/>
          </a:p>
        </p:txBody>
      </p:sp>
      <p:sp>
        <p:nvSpPr>
          <p:cNvPr id="19" name="Shape 17"/>
          <p:cNvSpPr/>
          <p:nvPr/>
        </p:nvSpPr>
        <p:spPr>
          <a:xfrm>
            <a:off x="4610405" y="1847088"/>
            <a:ext cx="14630" cy="0"/>
          </a:xfrm>
          <a:prstGeom prst="line">
            <a:avLst/>
          </a:prstGeom>
          <a:noFill/>
          <a:ln w="15240">
            <a:solidFill>
              <a:srgbClr val="AAAAAA"/>
            </a:solidFill>
            <a:prstDash val="solid"/>
            <a:tailEnd type="open"/>
          </a:ln>
        </p:spPr>
      </p:sp>
      <p:sp>
        <p:nvSpPr>
          <p:cNvPr id="20" name="Shape 18"/>
          <p:cNvSpPr/>
          <p:nvPr/>
        </p:nvSpPr>
        <p:spPr>
          <a:xfrm>
            <a:off x="4652467" y="1389888"/>
            <a:ext cx="1389888" cy="914400"/>
          </a:xfrm>
          <a:prstGeom prst="roundRect">
            <a:avLst>
              <a:gd name="adj" fmla="val 8000"/>
            </a:avLst>
          </a:prstGeom>
          <a:solidFill>
            <a:srgbClr val="FEE2E2"/>
          </a:solidFill>
          <a:ln w="19050">
            <a:solidFill>
              <a:srgbClr val="991B1B"/>
            </a:solidFill>
            <a:prstDash val="solid"/>
          </a:ln>
        </p:spPr>
      </p:sp>
      <p:sp>
        <p:nvSpPr>
          <p:cNvPr id="21" name="Text 19"/>
          <p:cNvSpPr/>
          <p:nvPr/>
        </p:nvSpPr>
        <p:spPr>
          <a:xfrm>
            <a:off x="4652467" y="1481328"/>
            <a:ext cx="1389888" cy="502920"/>
          </a:xfrm>
          <a:prstGeom prst="rect">
            <a:avLst/>
          </a:prstGeom>
          <a:noFill/>
          <a:ln/>
        </p:spPr>
        <p:txBody>
          <a:bodyPr wrap="square" lIns="0" tIns="0" rIns="0" bIns="0" rtlCol="0" anchor="ctr"/>
          <a:lstStyle/>
          <a:p>
            <a:pPr algn="ctr" indent="0" marL="0">
              <a:buNone/>
            </a:pPr>
            <a:r>
              <a:rPr lang="en-US" sz="1000" b="1" dirty="0">
                <a:solidFill>
                  <a:srgbClr val="991B1B"/>
                </a:solidFill>
                <a:latin typeface="Meiryo" pitchFamily="34" charset="0"/>
                <a:ea typeface="Meiryo" pitchFamily="34" charset="-122"/>
                <a:cs typeface="Meiryo" pitchFamily="34" charset="-120"/>
              </a:rPr>
              <a:t>GPS 乗車地</a:t>
            </a:r>
            <a:endParaRPr lang="en-US" sz="1000" dirty="0"/>
          </a:p>
        </p:txBody>
      </p:sp>
      <p:sp>
        <p:nvSpPr>
          <p:cNvPr id="22" name="Text 20"/>
          <p:cNvSpPr/>
          <p:nvPr/>
        </p:nvSpPr>
        <p:spPr>
          <a:xfrm>
            <a:off x="4652467" y="2011680"/>
            <a:ext cx="1389888" cy="256032"/>
          </a:xfrm>
          <a:prstGeom prst="rect">
            <a:avLst/>
          </a:prstGeom>
          <a:noFill/>
          <a:ln/>
        </p:spPr>
        <p:txBody>
          <a:bodyPr wrap="square" lIns="0" tIns="0" rIns="0" bIns="0" rtlCol="0" anchor="ctr"/>
          <a:lstStyle/>
          <a:p>
            <a:pPr algn="ctr" indent="0" marL="0">
              <a:buNone/>
            </a:pPr>
            <a:r>
              <a:rPr lang="en-US" sz="800" dirty="0">
                <a:solidFill>
                  <a:srgbClr val="991B1B"/>
                </a:solidFill>
                <a:latin typeface="Meiryo" pitchFamily="34" charset="0"/>
                <a:ea typeface="Meiryo" pitchFamily="34" charset="-122"/>
                <a:cs typeface="Meiryo" pitchFamily="34" charset="-120"/>
              </a:rPr>
              <a:t>B-01</a:t>
            </a:r>
            <a:endParaRPr lang="en-US" sz="800" dirty="0"/>
          </a:p>
        </p:txBody>
      </p:sp>
      <p:sp>
        <p:nvSpPr>
          <p:cNvPr id="23" name="Shape 21"/>
          <p:cNvSpPr/>
          <p:nvPr/>
        </p:nvSpPr>
        <p:spPr>
          <a:xfrm>
            <a:off x="6069787" y="1847088"/>
            <a:ext cx="14630" cy="0"/>
          </a:xfrm>
          <a:prstGeom prst="line">
            <a:avLst/>
          </a:prstGeom>
          <a:noFill/>
          <a:ln w="15240">
            <a:solidFill>
              <a:srgbClr val="AAAAAA"/>
            </a:solidFill>
            <a:prstDash val="solid"/>
            <a:tailEnd type="open"/>
          </a:ln>
        </p:spPr>
      </p:sp>
      <p:sp>
        <p:nvSpPr>
          <p:cNvPr id="24" name="Shape 22"/>
          <p:cNvSpPr/>
          <p:nvPr/>
        </p:nvSpPr>
        <p:spPr>
          <a:xfrm>
            <a:off x="6111850" y="1389888"/>
            <a:ext cx="1389888" cy="914400"/>
          </a:xfrm>
          <a:prstGeom prst="roundRect">
            <a:avLst>
              <a:gd name="adj" fmla="val 8000"/>
            </a:avLst>
          </a:prstGeom>
          <a:solidFill>
            <a:srgbClr val="FEE2E2"/>
          </a:solidFill>
          <a:ln w="19050">
            <a:solidFill>
              <a:srgbClr val="991B1B"/>
            </a:solidFill>
            <a:prstDash val="solid"/>
          </a:ln>
        </p:spPr>
      </p:sp>
      <p:sp>
        <p:nvSpPr>
          <p:cNvPr id="25" name="Text 23"/>
          <p:cNvSpPr/>
          <p:nvPr/>
        </p:nvSpPr>
        <p:spPr>
          <a:xfrm>
            <a:off x="6111850" y="1481328"/>
            <a:ext cx="1389888" cy="502920"/>
          </a:xfrm>
          <a:prstGeom prst="rect">
            <a:avLst/>
          </a:prstGeom>
          <a:noFill/>
          <a:ln/>
        </p:spPr>
        <p:txBody>
          <a:bodyPr wrap="square" lIns="0" tIns="0" rIns="0" bIns="0" rtlCol="0" anchor="ctr"/>
          <a:lstStyle/>
          <a:p>
            <a:pPr algn="ctr" indent="0" marL="0">
              <a:buNone/>
            </a:pPr>
            <a:r>
              <a:rPr lang="en-US" sz="1000" b="1" dirty="0">
                <a:solidFill>
                  <a:srgbClr val="991B1B"/>
                </a:solidFill>
                <a:latin typeface="Meiryo" pitchFamily="34" charset="0"/>
                <a:ea typeface="Meiryo" pitchFamily="34" charset="-122"/>
                <a:cs typeface="Meiryo" pitchFamily="34" charset="-120"/>
              </a:rPr>
              <a:t>GPS 降車地</a:t>
            </a:r>
            <a:endParaRPr lang="en-US" sz="1000" dirty="0"/>
          </a:p>
        </p:txBody>
      </p:sp>
      <p:sp>
        <p:nvSpPr>
          <p:cNvPr id="26" name="Text 24"/>
          <p:cNvSpPr/>
          <p:nvPr/>
        </p:nvSpPr>
        <p:spPr>
          <a:xfrm>
            <a:off x="6111850" y="2011680"/>
            <a:ext cx="1389888" cy="256032"/>
          </a:xfrm>
          <a:prstGeom prst="rect">
            <a:avLst/>
          </a:prstGeom>
          <a:noFill/>
          <a:ln/>
        </p:spPr>
        <p:txBody>
          <a:bodyPr wrap="square" lIns="0" tIns="0" rIns="0" bIns="0" rtlCol="0" anchor="ctr"/>
          <a:lstStyle/>
          <a:p>
            <a:pPr algn="ctr" indent="0" marL="0">
              <a:buNone/>
            </a:pPr>
            <a:r>
              <a:rPr lang="en-US" sz="800" dirty="0">
                <a:solidFill>
                  <a:srgbClr val="991B1B"/>
                </a:solidFill>
                <a:latin typeface="Meiryo" pitchFamily="34" charset="0"/>
                <a:ea typeface="Meiryo" pitchFamily="34" charset="-122"/>
                <a:cs typeface="Meiryo" pitchFamily="34" charset="-120"/>
              </a:rPr>
              <a:t>B-01 ペア成立</a:t>
            </a:r>
            <a:endParaRPr lang="en-US" sz="800" dirty="0"/>
          </a:p>
        </p:txBody>
      </p:sp>
      <p:sp>
        <p:nvSpPr>
          <p:cNvPr id="27" name="Shape 25"/>
          <p:cNvSpPr/>
          <p:nvPr/>
        </p:nvSpPr>
        <p:spPr>
          <a:xfrm>
            <a:off x="7529170" y="1847088"/>
            <a:ext cx="14630" cy="0"/>
          </a:xfrm>
          <a:prstGeom prst="line">
            <a:avLst/>
          </a:prstGeom>
          <a:noFill/>
          <a:ln w="15240">
            <a:solidFill>
              <a:srgbClr val="AAAAAA"/>
            </a:solidFill>
            <a:prstDash val="solid"/>
            <a:tailEnd type="open"/>
          </a:ln>
        </p:spPr>
      </p:sp>
      <p:sp>
        <p:nvSpPr>
          <p:cNvPr id="28" name="Shape 26"/>
          <p:cNvSpPr/>
          <p:nvPr/>
        </p:nvSpPr>
        <p:spPr>
          <a:xfrm>
            <a:off x="7571232" y="1389888"/>
            <a:ext cx="1389888" cy="914400"/>
          </a:xfrm>
          <a:prstGeom prst="roundRect">
            <a:avLst>
              <a:gd name="adj" fmla="val 8000"/>
            </a:avLst>
          </a:prstGeom>
          <a:solidFill>
            <a:srgbClr val="4CAF50"/>
          </a:solidFill>
          <a:ln w="12700">
            <a:solidFill>
              <a:srgbClr val="4CAF50"/>
            </a:solidFill>
            <a:prstDash val="solid"/>
          </a:ln>
        </p:spPr>
      </p:sp>
      <p:sp>
        <p:nvSpPr>
          <p:cNvPr id="29" name="Text 27"/>
          <p:cNvSpPr/>
          <p:nvPr/>
        </p:nvSpPr>
        <p:spPr>
          <a:xfrm>
            <a:off x="7571232" y="1481328"/>
            <a:ext cx="1389888"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1pt付与</a:t>
            </a:r>
            <a:endParaRPr lang="en-US" sz="1000" dirty="0"/>
          </a:p>
        </p:txBody>
      </p:sp>
      <p:sp>
        <p:nvSpPr>
          <p:cNvPr id="30" name="Text 28"/>
          <p:cNvSpPr/>
          <p:nvPr/>
        </p:nvSpPr>
        <p:spPr>
          <a:xfrm>
            <a:off x="7571232" y="2011680"/>
            <a:ext cx="1389888" cy="256032"/>
          </a:xfrm>
          <a:prstGeom prst="rect">
            <a:avLst/>
          </a:prstGeom>
          <a:noFill/>
          <a:ln/>
        </p:spPr>
        <p:txBody>
          <a:bodyPr wrap="square" lIns="0" tIns="0" rIns="0" bIns="0" rtlCol="0" anchor="ctr"/>
          <a:lstStyle/>
          <a:p>
            <a:pPr algn="ctr" indent="0" marL="0">
              <a:buNone/>
            </a:pPr>
            <a:r>
              <a:rPr lang="en-US" sz="800" dirty="0">
                <a:solidFill>
                  <a:srgbClr val="FFFFFF"/>
                </a:solidFill>
                <a:latin typeface="Meiryo" pitchFamily="34" charset="0"/>
                <a:ea typeface="Meiryo" pitchFamily="34" charset="-122"/>
                <a:cs typeface="Meiryo" pitchFamily="34" charset="-120"/>
              </a:rPr>
              <a:t>即時</a:t>
            </a:r>
            <a:endParaRPr lang="en-US" sz="800" dirty="0"/>
          </a:p>
        </p:txBody>
      </p:sp>
      <p:sp>
        <p:nvSpPr>
          <p:cNvPr id="31" name="Text 29"/>
          <p:cNvSpPr/>
          <p:nvPr/>
        </p:nvSpPr>
        <p:spPr>
          <a:xfrm>
            <a:off x="274320" y="2834640"/>
            <a:ext cx="10972800" cy="256032"/>
          </a:xfrm>
          <a:prstGeom prst="rect">
            <a:avLst/>
          </a:prstGeom>
          <a:noFill/>
          <a:ln/>
        </p:spPr>
        <p:txBody>
          <a:bodyPr wrap="square" lIns="0" tIns="0" rIns="0" bIns="0" rtlCol="0" anchor="ctr"/>
          <a:lstStyle/>
          <a:p>
            <a:pPr indent="0" marL="0">
              <a:buNone/>
            </a:pPr>
            <a:r>
              <a:rPr lang="en-US" sz="1000" b="1" dirty="0">
                <a:solidFill>
                  <a:srgbClr val="444444"/>
                </a:solidFill>
                <a:latin typeface="Meiryo" pitchFamily="34" charset="0"/>
                <a:ea typeface="Meiryo" pitchFamily="34" charset="-122"/>
                <a:cs typeface="Meiryo" pitchFamily="34" charset="-120"/>
              </a:rPr>
              <a:t>[ タクシー領収書フロー ]</a:t>
            </a:r>
            <a:endParaRPr lang="en-US" sz="1000" dirty="0"/>
          </a:p>
        </p:txBody>
      </p:sp>
      <p:sp>
        <p:nvSpPr>
          <p:cNvPr id="32" name="Shape 30"/>
          <p:cNvSpPr/>
          <p:nvPr/>
        </p:nvSpPr>
        <p:spPr>
          <a:xfrm>
            <a:off x="274320" y="3127248"/>
            <a:ext cx="1389888" cy="914400"/>
          </a:xfrm>
          <a:prstGeom prst="roundRect">
            <a:avLst>
              <a:gd name="adj" fmla="val 8000"/>
            </a:avLst>
          </a:prstGeom>
          <a:solidFill>
            <a:srgbClr val="4B5563"/>
          </a:solidFill>
          <a:ln w="12700">
            <a:solidFill>
              <a:srgbClr val="888888"/>
            </a:solidFill>
            <a:prstDash val="solid"/>
          </a:ln>
        </p:spPr>
      </p:sp>
      <p:sp>
        <p:nvSpPr>
          <p:cNvPr id="33" name="Text 31"/>
          <p:cNvSpPr/>
          <p:nvPr/>
        </p:nvSpPr>
        <p:spPr>
          <a:xfrm>
            <a:off x="274320" y="3218688"/>
            <a:ext cx="1389888"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タクシー乗車</a:t>
            </a:r>
            <a:endParaRPr lang="en-US" sz="1000" dirty="0"/>
          </a:p>
        </p:txBody>
      </p:sp>
      <p:sp>
        <p:nvSpPr>
          <p:cNvPr id="34" name="Text 32"/>
          <p:cNvSpPr/>
          <p:nvPr/>
        </p:nvSpPr>
        <p:spPr>
          <a:xfrm>
            <a:off x="274320" y="3749040"/>
            <a:ext cx="1389888" cy="256032"/>
          </a:xfrm>
          <a:prstGeom prst="rect">
            <a:avLst/>
          </a:prstGeom>
          <a:noFill/>
          <a:ln/>
        </p:spPr>
        <p:txBody>
          <a:bodyPr wrap="square" lIns="0" tIns="0" rIns="0" bIns="0" rtlCol="0" anchor="ctr"/>
          <a:lstStyle/>
          <a:p>
            <a:pPr algn="ctr" indent="0" marL="0">
              <a:buNone/>
            </a:pPr>
            <a:r>
              <a:rPr lang="en-US" sz="750" dirty="0">
                <a:solidFill>
                  <a:srgbClr val="FFFFFF"/>
                </a:solidFill>
                <a:latin typeface="Meiryo" pitchFamily="34" charset="0"/>
                <a:ea typeface="Meiryo" pitchFamily="34" charset="-122"/>
                <a:cs typeface="Meiryo" pitchFamily="34" charset="-120"/>
              </a:rPr>
              <a:t>タクシー</a:t>
            </a:r>
            <a:endParaRPr lang="en-US" sz="750" dirty="0"/>
          </a:p>
        </p:txBody>
      </p:sp>
      <p:sp>
        <p:nvSpPr>
          <p:cNvPr id="35" name="Shape 33"/>
          <p:cNvSpPr/>
          <p:nvPr/>
        </p:nvSpPr>
        <p:spPr>
          <a:xfrm>
            <a:off x="1691640" y="3584448"/>
            <a:ext cx="379476" cy="0"/>
          </a:xfrm>
          <a:prstGeom prst="line">
            <a:avLst/>
          </a:prstGeom>
          <a:noFill/>
          <a:ln w="15240">
            <a:solidFill>
              <a:srgbClr val="AAAAAA"/>
            </a:solidFill>
            <a:prstDash val="solid"/>
            <a:tailEnd type="open"/>
          </a:ln>
        </p:spPr>
      </p:sp>
      <p:sp>
        <p:nvSpPr>
          <p:cNvPr id="36" name="Shape 34"/>
          <p:cNvSpPr/>
          <p:nvPr/>
        </p:nvSpPr>
        <p:spPr>
          <a:xfrm>
            <a:off x="2098548" y="3127248"/>
            <a:ext cx="1389888" cy="914400"/>
          </a:xfrm>
          <a:prstGeom prst="roundRect">
            <a:avLst>
              <a:gd name="adj" fmla="val 8000"/>
            </a:avLst>
          </a:prstGeom>
          <a:solidFill>
            <a:srgbClr val="DBEAFE"/>
          </a:solidFill>
          <a:ln w="12700">
            <a:solidFill>
              <a:srgbClr val="888888"/>
            </a:solidFill>
            <a:prstDash val="solid"/>
          </a:ln>
        </p:spPr>
      </p:sp>
      <p:sp>
        <p:nvSpPr>
          <p:cNvPr id="37" name="Text 35"/>
          <p:cNvSpPr/>
          <p:nvPr/>
        </p:nvSpPr>
        <p:spPr>
          <a:xfrm>
            <a:off x="2098548" y="3218688"/>
            <a:ext cx="1389888" cy="502920"/>
          </a:xfrm>
          <a:prstGeom prst="rect">
            <a:avLst/>
          </a:prstGeom>
          <a:noFill/>
          <a:ln/>
        </p:spPr>
        <p:txBody>
          <a:bodyPr wrap="square" lIns="0" tIns="0" rIns="0" bIns="0" rtlCol="0" anchor="ctr"/>
          <a:lstStyle/>
          <a:p>
            <a:pPr algn="ctr" indent="0" marL="0">
              <a:buNone/>
            </a:pPr>
            <a:r>
              <a:rPr lang="en-US" sz="1000" b="1" dirty="0">
                <a:solidFill>
                  <a:srgbClr val="1E40AF"/>
                </a:solidFill>
                <a:latin typeface="Meiryo" pitchFamily="34" charset="0"/>
                <a:ea typeface="Meiryo" pitchFamily="34" charset="-122"/>
                <a:cs typeface="Meiryo" pitchFamily="34" charset="-120"/>
              </a:rPr>
              <a:t>レシート登録</a:t>
            </a:r>
            <a:endParaRPr lang="en-US" sz="1000" dirty="0"/>
          </a:p>
        </p:txBody>
      </p:sp>
      <p:sp>
        <p:nvSpPr>
          <p:cNvPr id="38" name="Text 36"/>
          <p:cNvSpPr/>
          <p:nvPr/>
        </p:nvSpPr>
        <p:spPr>
          <a:xfrm>
            <a:off x="2098548" y="3749040"/>
            <a:ext cx="1389888" cy="256032"/>
          </a:xfrm>
          <a:prstGeom prst="rect">
            <a:avLst/>
          </a:prstGeom>
          <a:noFill/>
          <a:ln/>
        </p:spPr>
        <p:txBody>
          <a:bodyPr wrap="square" lIns="0" tIns="0" rIns="0" bIns="0" rtlCol="0" anchor="ctr"/>
          <a:lstStyle/>
          <a:p>
            <a:pPr algn="ctr" indent="0" marL="0">
              <a:buNone/>
            </a:pPr>
            <a:r>
              <a:rPr lang="en-US" sz="750" dirty="0">
                <a:solidFill>
                  <a:srgbClr val="1E40AF"/>
                </a:solidFill>
                <a:latin typeface="Meiryo" pitchFamily="34" charset="0"/>
                <a:ea typeface="Meiryo" pitchFamily="34" charset="-122"/>
                <a:cs typeface="Meiryo" pitchFamily="34" charset="-120"/>
              </a:rPr>
              <a:t>Receico SSO F/B-03</a:t>
            </a:r>
            <a:endParaRPr lang="en-US" sz="750" dirty="0"/>
          </a:p>
        </p:txBody>
      </p:sp>
      <p:sp>
        <p:nvSpPr>
          <p:cNvPr id="39" name="Shape 37"/>
          <p:cNvSpPr/>
          <p:nvPr/>
        </p:nvSpPr>
        <p:spPr>
          <a:xfrm>
            <a:off x="3515868" y="3584448"/>
            <a:ext cx="379476" cy="0"/>
          </a:xfrm>
          <a:prstGeom prst="line">
            <a:avLst/>
          </a:prstGeom>
          <a:noFill/>
          <a:ln w="15240">
            <a:solidFill>
              <a:srgbClr val="AAAAAA"/>
            </a:solidFill>
            <a:prstDash val="solid"/>
            <a:tailEnd type="open"/>
          </a:ln>
        </p:spPr>
      </p:sp>
      <p:sp>
        <p:nvSpPr>
          <p:cNvPr id="40" name="Shape 38"/>
          <p:cNvSpPr/>
          <p:nvPr/>
        </p:nvSpPr>
        <p:spPr>
          <a:xfrm>
            <a:off x="3922776" y="3127248"/>
            <a:ext cx="1389888" cy="914400"/>
          </a:xfrm>
          <a:prstGeom prst="roundRect">
            <a:avLst>
              <a:gd name="adj" fmla="val 8000"/>
            </a:avLst>
          </a:prstGeom>
          <a:solidFill>
            <a:srgbClr val="FEF3C7"/>
          </a:solidFill>
          <a:ln w="12700">
            <a:solidFill>
              <a:srgbClr val="888888"/>
            </a:solidFill>
            <a:prstDash val="solid"/>
          </a:ln>
        </p:spPr>
      </p:sp>
      <p:sp>
        <p:nvSpPr>
          <p:cNvPr id="41" name="Text 39"/>
          <p:cNvSpPr/>
          <p:nvPr/>
        </p:nvSpPr>
        <p:spPr>
          <a:xfrm>
            <a:off x="3922776" y="3218688"/>
            <a:ext cx="1389888" cy="502920"/>
          </a:xfrm>
          <a:prstGeom prst="rect">
            <a:avLst/>
          </a:prstGeom>
          <a:noFill/>
          <a:ln/>
        </p:spPr>
        <p:txBody>
          <a:bodyPr wrap="square" lIns="0" tIns="0" rIns="0" bIns="0" rtlCol="0" anchor="ctr"/>
          <a:lstStyle/>
          <a:p>
            <a:pPr algn="ctr" indent="0" marL="0">
              <a:buNone/>
            </a:pPr>
            <a:r>
              <a:rPr lang="en-US" sz="1000" b="1" dirty="0">
                <a:solidFill>
                  <a:srgbClr val="92400E"/>
                </a:solidFill>
                <a:latin typeface="Meiryo" pitchFamily="34" charset="0"/>
                <a:ea typeface="Meiryo" pitchFamily="34" charset="-122"/>
                <a:cs typeface="Meiryo" pitchFamily="34" charset="-120"/>
              </a:rPr>
              <a:t>事務局審査</a:t>
            </a:r>
            <a:endParaRPr lang="en-US" sz="1000" dirty="0"/>
          </a:p>
        </p:txBody>
      </p:sp>
      <p:sp>
        <p:nvSpPr>
          <p:cNvPr id="42" name="Text 40"/>
          <p:cNvSpPr/>
          <p:nvPr/>
        </p:nvSpPr>
        <p:spPr>
          <a:xfrm>
            <a:off x="3922776" y="3749040"/>
            <a:ext cx="1389888" cy="256032"/>
          </a:xfrm>
          <a:prstGeom prst="rect">
            <a:avLst/>
          </a:prstGeom>
          <a:noFill/>
          <a:ln/>
        </p:spPr>
        <p:txBody>
          <a:bodyPr wrap="square" lIns="0" tIns="0" rIns="0" bIns="0" rtlCol="0" anchor="ctr"/>
          <a:lstStyle/>
          <a:p>
            <a:pPr algn="ctr" indent="0" marL="0">
              <a:buNone/>
            </a:pPr>
            <a:r>
              <a:rPr lang="en-US" sz="750" dirty="0">
                <a:solidFill>
                  <a:srgbClr val="92400E"/>
                </a:solidFill>
                <a:latin typeface="Meiryo" pitchFamily="34" charset="0"/>
                <a:ea typeface="Meiryo" pitchFamily="34" charset="-122"/>
                <a:cs typeface="Meiryo" pitchFamily="34" charset="-120"/>
              </a:rPr>
              <a:t>B-04 設定のみ</a:t>
            </a:r>
            <a:endParaRPr lang="en-US" sz="750" dirty="0"/>
          </a:p>
        </p:txBody>
      </p:sp>
      <p:sp>
        <p:nvSpPr>
          <p:cNvPr id="43" name="Shape 41"/>
          <p:cNvSpPr/>
          <p:nvPr/>
        </p:nvSpPr>
        <p:spPr>
          <a:xfrm>
            <a:off x="5340096" y="3584448"/>
            <a:ext cx="379476" cy="0"/>
          </a:xfrm>
          <a:prstGeom prst="line">
            <a:avLst/>
          </a:prstGeom>
          <a:noFill/>
          <a:ln w="15240">
            <a:solidFill>
              <a:srgbClr val="AAAAAA"/>
            </a:solidFill>
            <a:prstDash val="solid"/>
            <a:tailEnd type="open"/>
          </a:ln>
        </p:spPr>
      </p:sp>
      <p:sp>
        <p:nvSpPr>
          <p:cNvPr id="44" name="Shape 42"/>
          <p:cNvSpPr/>
          <p:nvPr/>
        </p:nvSpPr>
        <p:spPr>
          <a:xfrm>
            <a:off x="5747004" y="3127248"/>
            <a:ext cx="1389888" cy="914400"/>
          </a:xfrm>
          <a:prstGeom prst="roundRect">
            <a:avLst>
              <a:gd name="adj" fmla="val 8000"/>
            </a:avLst>
          </a:prstGeom>
          <a:solidFill>
            <a:srgbClr val="FEE2E2"/>
          </a:solidFill>
          <a:ln w="12700">
            <a:solidFill>
              <a:srgbClr val="888888"/>
            </a:solidFill>
            <a:prstDash val="solid"/>
          </a:ln>
        </p:spPr>
      </p:sp>
      <p:sp>
        <p:nvSpPr>
          <p:cNvPr id="45" name="Text 43"/>
          <p:cNvSpPr/>
          <p:nvPr/>
        </p:nvSpPr>
        <p:spPr>
          <a:xfrm>
            <a:off x="5747004" y="3218688"/>
            <a:ext cx="1389888" cy="502920"/>
          </a:xfrm>
          <a:prstGeom prst="rect">
            <a:avLst/>
          </a:prstGeom>
          <a:noFill/>
          <a:ln/>
        </p:spPr>
        <p:txBody>
          <a:bodyPr wrap="square" lIns="0" tIns="0" rIns="0" bIns="0" rtlCol="0" anchor="ctr"/>
          <a:lstStyle/>
          <a:p>
            <a:pPr algn="ctr" indent="0" marL="0">
              <a:buNone/>
            </a:pPr>
            <a:r>
              <a:rPr lang="en-US" sz="1000" b="1" dirty="0">
                <a:solidFill>
                  <a:srgbClr val="991B1B"/>
                </a:solidFill>
                <a:latin typeface="Meiryo" pitchFamily="34" charset="0"/>
                <a:ea typeface="Meiryo" pitchFamily="34" charset="-122"/>
                <a:cs typeface="Meiryo" pitchFamily="34" charset="-120"/>
              </a:rPr>
              <a:t>承認→ Card連携</a:t>
            </a:r>
            <a:endParaRPr lang="en-US" sz="1000" dirty="0"/>
          </a:p>
        </p:txBody>
      </p:sp>
      <p:sp>
        <p:nvSpPr>
          <p:cNvPr id="46" name="Text 44"/>
          <p:cNvSpPr/>
          <p:nvPr/>
        </p:nvSpPr>
        <p:spPr>
          <a:xfrm>
            <a:off x="5747004" y="3749040"/>
            <a:ext cx="1389888" cy="256032"/>
          </a:xfrm>
          <a:prstGeom prst="rect">
            <a:avLst/>
          </a:prstGeom>
          <a:noFill/>
          <a:ln/>
        </p:spPr>
        <p:txBody>
          <a:bodyPr wrap="square" lIns="0" tIns="0" rIns="0" bIns="0" rtlCol="0" anchor="ctr"/>
          <a:lstStyle/>
          <a:p>
            <a:pPr algn="ctr" indent="0" marL="0">
              <a:buNone/>
            </a:pPr>
            <a:r>
              <a:rPr lang="en-US" sz="750" dirty="0">
                <a:solidFill>
                  <a:srgbClr val="991B1B"/>
                </a:solidFill>
                <a:latin typeface="Meiryo" pitchFamily="34" charset="0"/>
                <a:ea typeface="Meiryo" pitchFamily="34" charset="-122"/>
                <a:cs typeface="Meiryo" pitchFamily="34" charset="-120"/>
              </a:rPr>
              <a:t>B-02 Webhook</a:t>
            </a:r>
            <a:endParaRPr lang="en-US" sz="750" dirty="0"/>
          </a:p>
        </p:txBody>
      </p:sp>
      <p:sp>
        <p:nvSpPr>
          <p:cNvPr id="47" name="Shape 45"/>
          <p:cNvSpPr/>
          <p:nvPr/>
        </p:nvSpPr>
        <p:spPr>
          <a:xfrm>
            <a:off x="7164324" y="3584448"/>
            <a:ext cx="379476" cy="0"/>
          </a:xfrm>
          <a:prstGeom prst="line">
            <a:avLst/>
          </a:prstGeom>
          <a:noFill/>
          <a:ln w="15240">
            <a:solidFill>
              <a:srgbClr val="AAAAAA"/>
            </a:solidFill>
            <a:prstDash val="solid"/>
            <a:tailEnd type="open"/>
          </a:ln>
        </p:spPr>
      </p:sp>
      <p:sp>
        <p:nvSpPr>
          <p:cNvPr id="48" name="Shape 46"/>
          <p:cNvSpPr/>
          <p:nvPr/>
        </p:nvSpPr>
        <p:spPr>
          <a:xfrm>
            <a:off x="7571232" y="3127248"/>
            <a:ext cx="1389888" cy="914400"/>
          </a:xfrm>
          <a:prstGeom prst="roundRect">
            <a:avLst>
              <a:gd name="adj" fmla="val 8000"/>
            </a:avLst>
          </a:prstGeom>
          <a:solidFill>
            <a:srgbClr val="4CAF50"/>
          </a:solidFill>
          <a:ln w="12700">
            <a:solidFill>
              <a:srgbClr val="888888"/>
            </a:solidFill>
            <a:prstDash val="solid"/>
          </a:ln>
        </p:spPr>
      </p:sp>
      <p:sp>
        <p:nvSpPr>
          <p:cNvPr id="49" name="Text 47"/>
          <p:cNvSpPr/>
          <p:nvPr/>
        </p:nvSpPr>
        <p:spPr>
          <a:xfrm>
            <a:off x="7571232" y="3218688"/>
            <a:ext cx="1389888" cy="502920"/>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1pt付与</a:t>
            </a:r>
            <a:endParaRPr lang="en-US" sz="1000" dirty="0"/>
          </a:p>
        </p:txBody>
      </p:sp>
      <p:sp>
        <p:nvSpPr>
          <p:cNvPr id="50" name="Text 48"/>
          <p:cNvSpPr/>
          <p:nvPr/>
        </p:nvSpPr>
        <p:spPr>
          <a:xfrm>
            <a:off x="7571232" y="3749040"/>
            <a:ext cx="1389888" cy="256032"/>
          </a:xfrm>
          <a:prstGeom prst="rect">
            <a:avLst/>
          </a:prstGeom>
          <a:noFill/>
          <a:ln/>
        </p:spPr>
        <p:txBody>
          <a:bodyPr wrap="square" lIns="0" tIns="0" rIns="0" bIns="0" rtlCol="0" anchor="ctr"/>
          <a:lstStyle/>
          <a:p>
            <a:pPr algn="ctr" indent="0" marL="0">
              <a:buNone/>
            </a:pPr>
            <a:r>
              <a:rPr lang="en-US" sz="750" dirty="0">
                <a:solidFill>
                  <a:srgbClr val="FFFFFF"/>
                </a:solidFill>
                <a:latin typeface="Meiryo" pitchFamily="34" charset="0"/>
                <a:ea typeface="Meiryo" pitchFamily="34" charset="-122"/>
                <a:cs typeface="Meiryo" pitchFamily="34" charset="-120"/>
              </a:rPr>
              <a:t>2〜3営業日</a:t>
            </a:r>
            <a:endParaRPr lang="en-US" sz="750" dirty="0"/>
          </a:p>
        </p:txBody>
      </p:sp>
      <p:sp>
        <p:nvSpPr>
          <p:cNvPr id="51" name="Shape 49"/>
          <p:cNvSpPr/>
          <p:nvPr/>
        </p:nvSpPr>
        <p:spPr>
          <a:xfrm>
            <a:off x="9052560" y="2834640"/>
            <a:ext cx="2743200" cy="1371600"/>
          </a:xfrm>
          <a:prstGeom prst="rect">
            <a:avLst/>
          </a:prstGeom>
          <a:solidFill>
            <a:srgbClr val="F0FFF4"/>
          </a:solidFill>
          <a:ln w="19050">
            <a:solidFill>
              <a:srgbClr val="4CAF50"/>
            </a:solidFill>
            <a:prstDash val="solid"/>
          </a:ln>
        </p:spPr>
      </p:sp>
      <p:sp>
        <p:nvSpPr>
          <p:cNvPr id="52" name="Text 50"/>
          <p:cNvSpPr/>
          <p:nvPr/>
        </p:nvSpPr>
        <p:spPr>
          <a:xfrm>
            <a:off x="9052560" y="2907792"/>
            <a:ext cx="2743200" cy="347472"/>
          </a:xfrm>
          <a:prstGeom prst="rect">
            <a:avLst/>
          </a:prstGeom>
          <a:noFill/>
          <a:ln/>
        </p:spPr>
        <p:txBody>
          <a:bodyPr wrap="square" lIns="0" tIns="0" rIns="0" bIns="0" rtlCol="0" anchor="ctr"/>
          <a:lstStyle/>
          <a:p>
            <a:pPr algn="ctr" indent="0" marL="0">
              <a:buNone/>
            </a:pPr>
            <a:r>
              <a:rPr lang="en-US" sz="1000" b="1" dirty="0">
                <a:solidFill>
                  <a:srgbClr val="2E7D32"/>
                </a:solidFill>
                <a:latin typeface="Meiryo" pitchFamily="34" charset="0"/>
                <a:ea typeface="Meiryo" pitchFamily="34" charset="-122"/>
                <a:cs typeface="Meiryo" pitchFamily="34" charset="-120"/>
              </a:rPr>
              <a:t>マイページ ポイント統合</a:t>
            </a:r>
            <a:endParaRPr lang="en-US" sz="1000" dirty="0"/>
          </a:p>
        </p:txBody>
      </p:sp>
      <p:sp>
        <p:nvSpPr>
          <p:cNvPr id="53" name="Text 51"/>
          <p:cNvSpPr/>
          <p:nvPr/>
        </p:nvSpPr>
        <p:spPr>
          <a:xfrm>
            <a:off x="9189720" y="3310128"/>
            <a:ext cx="2468880" cy="256032"/>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GPS乗車分：即時</a:t>
            </a:r>
            <a:endParaRPr lang="en-US" sz="950" dirty="0"/>
          </a:p>
        </p:txBody>
      </p:sp>
      <p:sp>
        <p:nvSpPr>
          <p:cNvPr id="54" name="Text 52"/>
          <p:cNvSpPr/>
          <p:nvPr/>
        </p:nvSpPr>
        <p:spPr>
          <a:xfrm>
            <a:off x="9189720" y="3584448"/>
            <a:ext cx="2468880" cy="256032"/>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タクシー承認済：+1pt</a:t>
            </a:r>
            <a:endParaRPr lang="en-US" sz="950" dirty="0"/>
          </a:p>
        </p:txBody>
      </p:sp>
      <p:sp>
        <p:nvSpPr>
          <p:cNvPr id="55" name="Text 53"/>
          <p:cNvSpPr/>
          <p:nvPr/>
        </p:nvSpPr>
        <p:spPr>
          <a:xfrm>
            <a:off x="9189720" y="3858768"/>
            <a:ext cx="2468880" cy="256032"/>
          </a:xfrm>
          <a:prstGeom prst="rect">
            <a:avLst/>
          </a:prstGeom>
          <a:noFill/>
          <a:ln/>
        </p:spPr>
        <p:txBody>
          <a:bodyPr wrap="square" lIns="0" tIns="0" rIns="0" bIns="0" rtlCol="0" anchor="ctr"/>
          <a:lstStyle/>
          <a:p>
            <a:pPr indent="0" marL="0">
              <a:buNone/>
            </a:pPr>
            <a:r>
              <a:rPr lang="en-US" sz="950" dirty="0">
                <a:solidFill>
                  <a:srgbClr val="444444"/>
                </a:solidFill>
                <a:latin typeface="Meiryo" pitchFamily="34" charset="0"/>
                <a:ea typeface="Meiryo" pitchFamily="34" charset="-122"/>
                <a:cs typeface="Meiryo" pitchFamily="34" charset="-120"/>
              </a:rPr>
              <a:t>• 審査中：+Npt予定</a:t>
            </a:r>
            <a:endParaRPr lang="en-US" sz="950" dirty="0"/>
          </a:p>
        </p:txBody>
      </p:sp>
      <p:sp>
        <p:nvSpPr>
          <p:cNvPr id="56" name="Text 54"/>
          <p:cNvSpPr/>
          <p:nvPr/>
        </p:nvSpPr>
        <p:spPr>
          <a:xfrm>
            <a:off x="274320" y="4572000"/>
            <a:ext cx="914400" cy="256032"/>
          </a:xfrm>
          <a:prstGeom prst="rect">
            <a:avLst/>
          </a:prstGeom>
          <a:noFill/>
          <a:ln/>
        </p:spPr>
        <p:txBody>
          <a:bodyPr wrap="square" lIns="0" tIns="0" rIns="0" bIns="0" rtlCol="0" anchor="ctr"/>
          <a:lstStyle/>
          <a:p>
            <a:pPr indent="0" marL="0">
              <a:buNone/>
            </a:pPr>
            <a:r>
              <a:rPr lang="en-US" sz="900" b="1" dirty="0">
                <a:solidFill>
                  <a:srgbClr val="888888"/>
                </a:solidFill>
                <a:latin typeface="Meiryo" pitchFamily="34" charset="0"/>
                <a:ea typeface="Meiryo" pitchFamily="34" charset="-122"/>
                <a:cs typeface="Meiryo" pitchFamily="34" charset="-120"/>
              </a:rPr>
              <a:t>凡例</a:t>
            </a:r>
            <a:endParaRPr lang="en-US" sz="900" dirty="0"/>
          </a:p>
        </p:txBody>
      </p:sp>
      <p:sp>
        <p:nvSpPr>
          <p:cNvPr id="57" name="Shape 55"/>
          <p:cNvSpPr/>
          <p:nvPr/>
        </p:nvSpPr>
        <p:spPr>
          <a:xfrm>
            <a:off x="274320" y="4846320"/>
            <a:ext cx="164592" cy="164592"/>
          </a:xfrm>
          <a:prstGeom prst="rect">
            <a:avLst/>
          </a:prstGeom>
          <a:solidFill>
            <a:srgbClr val="DCFCE7"/>
          </a:solidFill>
          <a:ln w="6350">
            <a:solidFill>
              <a:srgbClr val="166534"/>
            </a:solidFill>
            <a:prstDash val="solid"/>
          </a:ln>
        </p:spPr>
      </p:sp>
      <p:sp>
        <p:nvSpPr>
          <p:cNvPr id="58" name="Text 56"/>
          <p:cNvSpPr/>
          <p:nvPr/>
        </p:nvSpPr>
        <p:spPr>
          <a:xfrm>
            <a:off x="493776" y="4828032"/>
            <a:ext cx="1645920" cy="201168"/>
          </a:xfrm>
          <a:prstGeom prst="rect">
            <a:avLst/>
          </a:prstGeom>
          <a:noFill/>
          <a:ln/>
        </p:spPr>
        <p:txBody>
          <a:bodyPr wrap="square" lIns="0" tIns="0" rIns="0" bIns="0" rtlCol="0" anchor="ctr"/>
          <a:lstStyle/>
          <a:p>
            <a:pPr indent="0" marL="0">
              <a:buNone/>
            </a:pPr>
            <a:r>
              <a:rPr lang="en-US" sz="900" dirty="0">
                <a:solidFill>
                  <a:srgbClr val="666666"/>
                </a:solidFill>
                <a:latin typeface="Meiryo" pitchFamily="34" charset="0"/>
                <a:ea typeface="Meiryo" pitchFamily="34" charset="-122"/>
                <a:cs typeface="Meiryo" pitchFamily="34" charset="-120"/>
              </a:rPr>
              <a:t>標準機能</a:t>
            </a:r>
            <a:endParaRPr lang="en-US" sz="900" dirty="0"/>
          </a:p>
        </p:txBody>
      </p:sp>
      <p:sp>
        <p:nvSpPr>
          <p:cNvPr id="59" name="Shape 57"/>
          <p:cNvSpPr/>
          <p:nvPr/>
        </p:nvSpPr>
        <p:spPr>
          <a:xfrm>
            <a:off x="2286000" y="4846320"/>
            <a:ext cx="164592" cy="164592"/>
          </a:xfrm>
          <a:prstGeom prst="rect">
            <a:avLst/>
          </a:prstGeom>
          <a:solidFill>
            <a:srgbClr val="FEE2E2"/>
          </a:solidFill>
          <a:ln w="6350">
            <a:solidFill>
              <a:srgbClr val="991B1B"/>
            </a:solidFill>
            <a:prstDash val="solid"/>
          </a:ln>
        </p:spPr>
      </p:sp>
      <p:sp>
        <p:nvSpPr>
          <p:cNvPr id="60" name="Text 58"/>
          <p:cNvSpPr/>
          <p:nvPr/>
        </p:nvSpPr>
        <p:spPr>
          <a:xfrm>
            <a:off x="2505456" y="4828032"/>
            <a:ext cx="1645920" cy="201168"/>
          </a:xfrm>
          <a:prstGeom prst="rect">
            <a:avLst/>
          </a:prstGeom>
          <a:noFill/>
          <a:ln/>
        </p:spPr>
        <p:txBody>
          <a:bodyPr wrap="square" lIns="0" tIns="0" rIns="0" bIns="0" rtlCol="0" anchor="ctr"/>
          <a:lstStyle/>
          <a:p>
            <a:pPr indent="0" marL="0">
              <a:buNone/>
            </a:pPr>
            <a:r>
              <a:rPr lang="en-US" sz="900" dirty="0">
                <a:solidFill>
                  <a:srgbClr val="666666"/>
                </a:solidFill>
                <a:latin typeface="Meiryo" pitchFamily="34" charset="0"/>
                <a:ea typeface="Meiryo" pitchFamily="34" charset="-122"/>
                <a:cs typeface="Meiryo" pitchFamily="34" charset="-120"/>
              </a:rPr>
              <a:t>カスタム拡張</a:t>
            </a:r>
            <a:endParaRPr lang="en-US" sz="900" dirty="0"/>
          </a:p>
        </p:txBody>
      </p:sp>
      <p:sp>
        <p:nvSpPr>
          <p:cNvPr id="61" name="Shape 59"/>
          <p:cNvSpPr/>
          <p:nvPr/>
        </p:nvSpPr>
        <p:spPr>
          <a:xfrm>
            <a:off x="4297680" y="4846320"/>
            <a:ext cx="164592" cy="164592"/>
          </a:xfrm>
          <a:prstGeom prst="rect">
            <a:avLst/>
          </a:prstGeom>
          <a:solidFill>
            <a:srgbClr val="DBEAFE"/>
          </a:solidFill>
          <a:ln w="6350">
            <a:solidFill>
              <a:srgbClr val="1E40AF"/>
            </a:solidFill>
            <a:prstDash val="solid"/>
          </a:ln>
        </p:spPr>
      </p:sp>
      <p:sp>
        <p:nvSpPr>
          <p:cNvPr id="62" name="Text 60"/>
          <p:cNvSpPr/>
          <p:nvPr/>
        </p:nvSpPr>
        <p:spPr>
          <a:xfrm>
            <a:off x="4517136" y="4828032"/>
            <a:ext cx="1645920" cy="201168"/>
          </a:xfrm>
          <a:prstGeom prst="rect">
            <a:avLst/>
          </a:prstGeom>
          <a:noFill/>
          <a:ln/>
        </p:spPr>
        <p:txBody>
          <a:bodyPr wrap="square" lIns="0" tIns="0" rIns="0" bIns="0" rtlCol="0" anchor="ctr"/>
          <a:lstStyle/>
          <a:p>
            <a:pPr indent="0" marL="0">
              <a:buNone/>
            </a:pPr>
            <a:r>
              <a:rPr lang="en-US" sz="900" dirty="0">
                <a:solidFill>
                  <a:srgbClr val="666666"/>
                </a:solidFill>
                <a:latin typeface="Meiryo" pitchFamily="34" charset="0"/>
                <a:ea typeface="Meiryo" pitchFamily="34" charset="-122"/>
                <a:cs typeface="Meiryo" pitchFamily="34" charset="-120"/>
              </a:rPr>
              <a:t>SmartRecieco</a:t>
            </a:r>
            <a:endParaRPr lang="en-US" sz="900" dirty="0"/>
          </a:p>
        </p:txBody>
      </p:sp>
      <p:sp>
        <p:nvSpPr>
          <p:cNvPr id="63" name="Shape 61"/>
          <p:cNvSpPr/>
          <p:nvPr/>
        </p:nvSpPr>
        <p:spPr>
          <a:xfrm>
            <a:off x="6309360" y="4846320"/>
            <a:ext cx="164592" cy="164592"/>
          </a:xfrm>
          <a:prstGeom prst="rect">
            <a:avLst/>
          </a:prstGeom>
          <a:solidFill>
            <a:srgbClr val="FEF3C7"/>
          </a:solidFill>
          <a:ln w="6350">
            <a:solidFill>
              <a:srgbClr val="92400E"/>
            </a:solidFill>
            <a:prstDash val="solid"/>
          </a:ln>
        </p:spPr>
      </p:sp>
      <p:sp>
        <p:nvSpPr>
          <p:cNvPr id="64" name="Text 62"/>
          <p:cNvSpPr/>
          <p:nvPr/>
        </p:nvSpPr>
        <p:spPr>
          <a:xfrm>
            <a:off x="6528816" y="4828032"/>
            <a:ext cx="1645920" cy="201168"/>
          </a:xfrm>
          <a:prstGeom prst="rect">
            <a:avLst/>
          </a:prstGeom>
          <a:noFill/>
          <a:ln/>
        </p:spPr>
        <p:txBody>
          <a:bodyPr wrap="square" lIns="0" tIns="0" rIns="0" bIns="0" rtlCol="0" anchor="ctr"/>
          <a:lstStyle/>
          <a:p>
            <a:pPr indent="0" marL="0">
              <a:buNone/>
            </a:pPr>
            <a:r>
              <a:rPr lang="en-US" sz="900" dirty="0">
                <a:solidFill>
                  <a:srgbClr val="666666"/>
                </a:solidFill>
                <a:latin typeface="Meiryo" pitchFamily="34" charset="0"/>
                <a:ea typeface="Meiryo" pitchFamily="34" charset="-122"/>
                <a:cs typeface="Meiryo" pitchFamily="34" charset="-120"/>
              </a:rPr>
              <a:t>設定のみ</a:t>
            </a:r>
            <a:endParaRPr lang="en-US" sz="900" dirty="0"/>
          </a:p>
        </p:txBody>
      </p:sp>
      <p:sp>
        <p:nvSpPr>
          <p:cNvPr id="65" name="Text 63"/>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6 /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画面フロー ①</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LINEログイン〜GPS乗車・降車</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P7 画面フロー</a:t>
            </a:r>
            <a:endParaRPr lang="en-US" sz="900" dirty="0"/>
          </a:p>
        </p:txBody>
      </p:sp>
      <p:sp>
        <p:nvSpPr>
          <p:cNvPr id="7" name="Text 5"/>
          <p:cNvSpPr/>
          <p:nvPr/>
        </p:nvSpPr>
        <p:spPr>
          <a:xfrm>
            <a:off x="182880"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① LINEログイン</a:t>
            </a:r>
            <a:endParaRPr lang="en-US" sz="950" dirty="0"/>
          </a:p>
        </p:txBody>
      </p:sp>
      <p:sp>
        <p:nvSpPr>
          <p:cNvPr id="8" name="Text 6"/>
          <p:cNvSpPr/>
          <p:nvPr/>
        </p:nvSpPr>
        <p:spPr>
          <a:xfrm>
            <a:off x="2041398" y="1042416"/>
            <a:ext cx="868680" cy="201168"/>
          </a:xfrm>
          <a:prstGeom prst="rect">
            <a:avLst/>
          </a:prstGeom>
          <a:solidFill>
            <a:srgbClr val="DCFCE7"/>
          </a:solidFill>
          <a:ln w="6350">
            <a:solidFill>
              <a:srgbClr val="166534"/>
            </a:solidFill>
          </a:ln>
        </p:spPr>
        <p:txBody>
          <a:bodyPr wrap="square" lIns="12700" tIns="12700" rIns="12700" bIns="12700" rtlCol="0" anchor="ctr"/>
          <a:lstStyle/>
          <a:p>
            <a:pPr algn="ctr" indent="0" marL="0">
              <a:buNone/>
            </a:pPr>
            <a:r>
              <a:rPr lang="en-US" sz="700" b="1" dirty="0">
                <a:solidFill>
                  <a:srgbClr val="166534"/>
                </a:solidFill>
                <a:latin typeface="Meiryo" pitchFamily="34" charset="0"/>
                <a:ea typeface="Meiryo" pitchFamily="34" charset="-122"/>
                <a:cs typeface="Meiryo" pitchFamily="34" charset="-120"/>
              </a:rPr>
              <a:t>標準(OP)</a:t>
            </a:r>
            <a:endParaRPr lang="en-US" sz="700" dirty="0"/>
          </a:p>
        </p:txBody>
      </p:sp>
      <p:pic>
        <p:nvPicPr>
          <p:cNvPr id="9" name="Image 0" descr="/home/claude/screens/screen_01_login_tall.png">    </p:cNvPr>
          <p:cNvPicPr>
            <a:picLocks noChangeAspect="1"/>
          </p:cNvPicPr>
          <p:nvPr/>
        </p:nvPicPr>
        <p:blipFill>
          <a:blip r:embed="rId1"/>
          <a:stretch>
            <a:fillRect/>
          </a:stretch>
        </p:blipFill>
        <p:spPr>
          <a:xfrm>
            <a:off x="529495" y="1389888"/>
            <a:ext cx="2079689" cy="3886200"/>
          </a:xfrm>
          <a:prstGeom prst="rect">
            <a:avLst/>
          </a:prstGeom>
        </p:spPr>
      </p:pic>
      <p:sp>
        <p:nvSpPr>
          <p:cNvPr id="10" name="Text 7"/>
          <p:cNvSpPr/>
          <p:nvPr/>
        </p:nvSpPr>
        <p:spPr>
          <a:xfrm>
            <a:off x="182880"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標準UI / LINEログインオプション</a:t>
            </a:r>
            <a:endParaRPr lang="en-US" sz="850" dirty="0"/>
          </a:p>
        </p:txBody>
      </p:sp>
      <p:sp>
        <p:nvSpPr>
          <p:cNvPr id="11" name="Text 8"/>
          <p:cNvSpPr/>
          <p:nvPr/>
        </p:nvSpPr>
        <p:spPr>
          <a:xfrm>
            <a:off x="3138678"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② マイページ TOP</a:t>
            </a:r>
            <a:endParaRPr lang="en-US" sz="950" dirty="0"/>
          </a:p>
        </p:txBody>
      </p:sp>
      <p:sp>
        <p:nvSpPr>
          <p:cNvPr id="12" name="Text 9"/>
          <p:cNvSpPr/>
          <p:nvPr/>
        </p:nvSpPr>
        <p:spPr>
          <a:xfrm>
            <a:off x="4997196"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F-01</a:t>
            </a:r>
            <a:endParaRPr lang="en-US" sz="700" dirty="0"/>
          </a:p>
        </p:txBody>
      </p:sp>
      <p:pic>
        <p:nvPicPr>
          <p:cNvPr id="13" name="Image 1" descr="/home/claude/screens/screen_02_mypage_tall.png">    </p:cNvPr>
          <p:cNvPicPr>
            <a:picLocks noChangeAspect="1"/>
          </p:cNvPicPr>
          <p:nvPr/>
        </p:nvPicPr>
        <p:blipFill>
          <a:blip r:embed="rId2"/>
          <a:stretch>
            <a:fillRect/>
          </a:stretch>
        </p:blipFill>
        <p:spPr>
          <a:xfrm>
            <a:off x="3485293" y="1389888"/>
            <a:ext cx="2079689" cy="3886200"/>
          </a:xfrm>
          <a:prstGeom prst="rect">
            <a:avLst/>
          </a:prstGeom>
        </p:spPr>
      </p:pic>
      <p:sp>
        <p:nvSpPr>
          <p:cNvPr id="14" name="Text 10"/>
          <p:cNvSpPr/>
          <p:nvPr/>
        </p:nvSpPr>
        <p:spPr>
          <a:xfrm>
            <a:off x="3138678"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「乗車スタンプ」「タクシーレシート」2ボタンを追加</a:t>
            </a:r>
            <a:endParaRPr lang="en-US" sz="850" dirty="0"/>
          </a:p>
        </p:txBody>
      </p:sp>
      <p:sp>
        <p:nvSpPr>
          <p:cNvPr id="15" name="Text 11"/>
          <p:cNvSpPr/>
          <p:nvPr/>
        </p:nvSpPr>
        <p:spPr>
          <a:xfrm>
            <a:off x="6094476"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③ GPS（乗車地）</a:t>
            </a:r>
            <a:endParaRPr lang="en-US" sz="950" dirty="0"/>
          </a:p>
        </p:txBody>
      </p:sp>
      <p:sp>
        <p:nvSpPr>
          <p:cNvPr id="16" name="Text 12"/>
          <p:cNvSpPr/>
          <p:nvPr/>
        </p:nvSpPr>
        <p:spPr>
          <a:xfrm>
            <a:off x="7952994"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F-02/B-01</a:t>
            </a:r>
            <a:endParaRPr lang="en-US" sz="700" dirty="0"/>
          </a:p>
        </p:txBody>
      </p:sp>
      <p:pic>
        <p:nvPicPr>
          <p:cNvPr id="17" name="Image 2" descr="/home/claude/screens/screen_03_gps_board_tall.png">    </p:cNvPr>
          <p:cNvPicPr>
            <a:picLocks noChangeAspect="1"/>
          </p:cNvPicPr>
          <p:nvPr/>
        </p:nvPicPr>
        <p:blipFill>
          <a:blip r:embed="rId3"/>
          <a:stretch>
            <a:fillRect/>
          </a:stretch>
        </p:blipFill>
        <p:spPr>
          <a:xfrm>
            <a:off x="6441091" y="1389888"/>
            <a:ext cx="2079689" cy="3886200"/>
          </a:xfrm>
          <a:prstGeom prst="rect">
            <a:avLst/>
          </a:prstGeom>
        </p:spPr>
      </p:pic>
      <p:sp>
        <p:nvSpPr>
          <p:cNvPr id="18" name="Text 13"/>
          <p:cNvSpPr/>
          <p:nvPr/>
        </p:nvSpPr>
        <p:spPr>
          <a:xfrm>
            <a:off x="6094476"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種別→会社→路線→GPS→停留所選択（乗車地検索フロー）</a:t>
            </a:r>
            <a:endParaRPr lang="en-US" sz="850" dirty="0"/>
          </a:p>
        </p:txBody>
      </p:sp>
      <p:sp>
        <p:nvSpPr>
          <p:cNvPr id="19" name="Text 14"/>
          <p:cNvSpPr/>
          <p:nvPr/>
        </p:nvSpPr>
        <p:spPr>
          <a:xfrm>
            <a:off x="9050274"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④ GPS（降車地）</a:t>
            </a:r>
            <a:endParaRPr lang="en-US" sz="950" dirty="0"/>
          </a:p>
        </p:txBody>
      </p:sp>
      <p:sp>
        <p:nvSpPr>
          <p:cNvPr id="20" name="Text 15"/>
          <p:cNvSpPr/>
          <p:nvPr/>
        </p:nvSpPr>
        <p:spPr>
          <a:xfrm>
            <a:off x="10908792"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F-02/B-01</a:t>
            </a:r>
            <a:endParaRPr lang="en-US" sz="700" dirty="0"/>
          </a:p>
        </p:txBody>
      </p:sp>
      <p:pic>
        <p:nvPicPr>
          <p:cNvPr id="21" name="Image 3" descr="/home/claude/screens/screen_04_gps_alight_tall.png">    </p:cNvPr>
          <p:cNvPicPr>
            <a:picLocks noChangeAspect="1"/>
          </p:cNvPicPr>
          <p:nvPr/>
        </p:nvPicPr>
        <p:blipFill>
          <a:blip r:embed="rId4"/>
          <a:stretch>
            <a:fillRect/>
          </a:stretch>
        </p:blipFill>
        <p:spPr>
          <a:xfrm>
            <a:off x="9396889" y="1389888"/>
            <a:ext cx="2079689" cy="3886200"/>
          </a:xfrm>
          <a:prstGeom prst="rect">
            <a:avLst/>
          </a:prstGeom>
        </p:spPr>
      </p:pic>
      <p:sp>
        <p:nvSpPr>
          <p:cNvPr id="22" name="Text 16"/>
          <p:cNvSpPr/>
          <p:nvPr/>
        </p:nvSpPr>
        <p:spPr>
          <a:xfrm>
            <a:off x="9050274"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乗車地取得済みを表示 / 降車地選択でペア成立 → 1pt付与</a:t>
            </a:r>
            <a:endParaRPr lang="en-US" sz="850" dirty="0"/>
          </a:p>
        </p:txBody>
      </p:sp>
      <p:sp>
        <p:nvSpPr>
          <p:cNvPr id="23" name="Text 17"/>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7 / 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画面フロー ②</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タクシーレシート登録〜審査状況</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P8 画面フロー</a:t>
            </a:r>
            <a:endParaRPr lang="en-US" sz="900" dirty="0"/>
          </a:p>
        </p:txBody>
      </p:sp>
      <p:sp>
        <p:nvSpPr>
          <p:cNvPr id="7" name="Text 5"/>
          <p:cNvSpPr/>
          <p:nvPr/>
        </p:nvSpPr>
        <p:spPr>
          <a:xfrm>
            <a:off x="182880"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⑤ レシート登録</a:t>
            </a:r>
            <a:endParaRPr lang="en-US" sz="950" dirty="0"/>
          </a:p>
        </p:txBody>
      </p:sp>
      <p:sp>
        <p:nvSpPr>
          <p:cNvPr id="8" name="Text 6"/>
          <p:cNvSpPr/>
          <p:nvPr/>
        </p:nvSpPr>
        <p:spPr>
          <a:xfrm>
            <a:off x="2041398" y="1042416"/>
            <a:ext cx="868680" cy="201168"/>
          </a:xfrm>
          <a:prstGeom prst="rect">
            <a:avLst/>
          </a:prstGeom>
          <a:solidFill>
            <a:srgbClr val="DBEAFE"/>
          </a:solidFill>
          <a:ln w="6350">
            <a:solidFill>
              <a:srgbClr val="1E40AF"/>
            </a:solidFill>
          </a:ln>
        </p:spPr>
        <p:txBody>
          <a:bodyPr wrap="square" lIns="12700" tIns="12700" rIns="12700" bIns="12700" rtlCol="0" anchor="ctr"/>
          <a:lstStyle/>
          <a:p>
            <a:pPr algn="ctr" indent="0" marL="0">
              <a:buNone/>
            </a:pPr>
            <a:r>
              <a:rPr lang="en-US" sz="700" b="1" dirty="0">
                <a:solidFill>
                  <a:srgbClr val="1E40AF"/>
                </a:solidFill>
                <a:latin typeface="Meiryo" pitchFamily="34" charset="0"/>
                <a:ea typeface="Meiryo" pitchFamily="34" charset="-122"/>
                <a:cs typeface="Meiryo" pitchFamily="34" charset="-120"/>
              </a:rPr>
              <a:t>Receico</a:t>
            </a:r>
            <a:endParaRPr lang="en-US" sz="700" dirty="0"/>
          </a:p>
        </p:txBody>
      </p:sp>
      <p:pic>
        <p:nvPicPr>
          <p:cNvPr id="9" name="Image 0" descr="/home/claude/screens/screen_05_receipt_reg_tall.png">    </p:cNvPr>
          <p:cNvPicPr>
            <a:picLocks noChangeAspect="1"/>
          </p:cNvPicPr>
          <p:nvPr/>
        </p:nvPicPr>
        <p:blipFill>
          <a:blip r:embed="rId1"/>
          <a:stretch>
            <a:fillRect/>
          </a:stretch>
        </p:blipFill>
        <p:spPr>
          <a:xfrm>
            <a:off x="529495" y="1389888"/>
            <a:ext cx="2079689" cy="3886200"/>
          </a:xfrm>
          <a:prstGeom prst="rect">
            <a:avLst/>
          </a:prstGeom>
        </p:spPr>
      </p:pic>
      <p:sp>
        <p:nvSpPr>
          <p:cNvPr id="10" name="Text 7"/>
          <p:cNvSpPr/>
          <p:nvPr/>
        </p:nvSpPr>
        <p:spPr>
          <a:xfrm>
            <a:off x="182880"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SmartRecieco（SSO遷移） タイトル・フォームラベルをカスタム変更</a:t>
            </a:r>
            <a:endParaRPr lang="en-US" sz="850" dirty="0"/>
          </a:p>
        </p:txBody>
      </p:sp>
      <p:sp>
        <p:nvSpPr>
          <p:cNvPr id="11" name="Text 8"/>
          <p:cNvSpPr/>
          <p:nvPr/>
        </p:nvSpPr>
        <p:spPr>
          <a:xfrm>
            <a:off x="3138678"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⑤' 登録完了</a:t>
            </a:r>
            <a:endParaRPr lang="en-US" sz="950" dirty="0"/>
          </a:p>
        </p:txBody>
      </p:sp>
      <p:sp>
        <p:nvSpPr>
          <p:cNvPr id="12" name="Text 9"/>
          <p:cNvSpPr/>
          <p:nvPr/>
        </p:nvSpPr>
        <p:spPr>
          <a:xfrm>
            <a:off x="4997196"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B-02</a:t>
            </a:r>
            <a:endParaRPr lang="en-US" sz="700" dirty="0"/>
          </a:p>
        </p:txBody>
      </p:sp>
      <p:pic>
        <p:nvPicPr>
          <p:cNvPr id="13" name="Image 1" descr="/home/claude/screens/screen_06_receipt_done_tall.png">    </p:cNvPr>
          <p:cNvPicPr>
            <a:picLocks noChangeAspect="1"/>
          </p:cNvPicPr>
          <p:nvPr/>
        </p:nvPicPr>
        <p:blipFill>
          <a:blip r:embed="rId2"/>
          <a:stretch>
            <a:fillRect/>
          </a:stretch>
        </p:blipFill>
        <p:spPr>
          <a:xfrm>
            <a:off x="3485293" y="1389888"/>
            <a:ext cx="2079689" cy="3886200"/>
          </a:xfrm>
          <a:prstGeom prst="rect">
            <a:avLst/>
          </a:prstGeom>
        </p:spPr>
      </p:pic>
      <p:sp>
        <p:nvSpPr>
          <p:cNvPr id="14" name="Text 10"/>
          <p:cNvSpPr/>
          <p:nvPr/>
        </p:nvSpPr>
        <p:spPr>
          <a:xfrm>
            <a:off x="3138678"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受付完了メッセージ（審査中通知）を追加 / OCR結果は管理側のみ</a:t>
            </a:r>
            <a:endParaRPr lang="en-US" sz="850" dirty="0"/>
          </a:p>
        </p:txBody>
      </p:sp>
      <p:sp>
        <p:nvSpPr>
          <p:cNvPr id="15" name="Text 11"/>
          <p:cNvSpPr/>
          <p:nvPr/>
        </p:nvSpPr>
        <p:spPr>
          <a:xfrm>
            <a:off x="6094476"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⑦ 賞品応募モーダル</a:t>
            </a:r>
            <a:endParaRPr lang="en-US" sz="950" dirty="0"/>
          </a:p>
        </p:txBody>
      </p:sp>
      <p:sp>
        <p:nvSpPr>
          <p:cNvPr id="16" name="Text 12"/>
          <p:cNvSpPr/>
          <p:nvPr/>
        </p:nvSpPr>
        <p:spPr>
          <a:xfrm>
            <a:off x="7952994"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F-05</a:t>
            </a:r>
            <a:endParaRPr lang="en-US" sz="700" dirty="0"/>
          </a:p>
        </p:txBody>
      </p:sp>
      <p:pic>
        <p:nvPicPr>
          <p:cNvPr id="17" name="Image 2" descr="/home/claude/screens/screen_07_prize_modal_tall.png">    </p:cNvPr>
          <p:cNvPicPr>
            <a:picLocks noChangeAspect="1"/>
          </p:cNvPicPr>
          <p:nvPr/>
        </p:nvPicPr>
        <p:blipFill>
          <a:blip r:embed="rId3"/>
          <a:stretch>
            <a:fillRect/>
          </a:stretch>
        </p:blipFill>
        <p:spPr>
          <a:xfrm>
            <a:off x="6441091" y="1389888"/>
            <a:ext cx="2079689" cy="3886200"/>
          </a:xfrm>
          <a:prstGeom prst="rect">
            <a:avLst/>
          </a:prstGeom>
        </p:spPr>
      </p:pic>
      <p:sp>
        <p:nvSpPr>
          <p:cNvPr id="18" name="Text 13"/>
          <p:cNvSpPr/>
          <p:nvPr/>
        </p:nvSpPr>
        <p:spPr>
          <a:xfrm>
            <a:off x="6094476"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ポイント内訳（GPS分・タクシー承認済・審査中）を追加表示</a:t>
            </a:r>
            <a:endParaRPr lang="en-US" sz="850" dirty="0"/>
          </a:p>
        </p:txBody>
      </p:sp>
      <p:sp>
        <p:nvSpPr>
          <p:cNvPr id="19" name="Text 14"/>
          <p:cNvSpPr/>
          <p:nvPr/>
        </p:nvSpPr>
        <p:spPr>
          <a:xfrm>
            <a:off x="9050274" y="1005840"/>
            <a:ext cx="1812798" cy="320040"/>
          </a:xfrm>
          <a:prstGeom prst="rect">
            <a:avLst/>
          </a:prstGeom>
          <a:noFill/>
          <a:ln/>
        </p:spPr>
        <p:txBody>
          <a:bodyPr wrap="square" lIns="0" tIns="0" rIns="0" bIns="0" rtlCol="0" anchor="ctr"/>
          <a:lstStyle/>
          <a:p>
            <a:pPr indent="0" marL="0">
              <a:buNone/>
            </a:pPr>
            <a:r>
              <a:rPr lang="en-US" sz="950" b="1" dirty="0">
                <a:solidFill>
                  <a:srgbClr val="2D2D2D"/>
                </a:solidFill>
                <a:latin typeface="Meiryo" pitchFamily="34" charset="0"/>
                <a:ea typeface="Meiryo" pitchFamily="34" charset="-122"/>
                <a:cs typeface="Meiryo" pitchFamily="34" charset="-120"/>
              </a:rPr>
              <a:t>⑨ マイページ（審査）</a:t>
            </a:r>
            <a:endParaRPr lang="en-US" sz="950" dirty="0"/>
          </a:p>
        </p:txBody>
      </p:sp>
      <p:sp>
        <p:nvSpPr>
          <p:cNvPr id="20" name="Text 15"/>
          <p:cNvSpPr/>
          <p:nvPr/>
        </p:nvSpPr>
        <p:spPr>
          <a:xfrm>
            <a:off x="10908792" y="1042416"/>
            <a:ext cx="868680" cy="201168"/>
          </a:xfrm>
          <a:prstGeom prst="rect">
            <a:avLst/>
          </a:prstGeom>
          <a:solidFill>
            <a:srgbClr val="FEE2E2"/>
          </a:solidFill>
          <a:ln w="6350">
            <a:solidFill>
              <a:srgbClr val="991B1B"/>
            </a:solidFill>
          </a:ln>
        </p:spPr>
        <p:txBody>
          <a:bodyPr wrap="square" lIns="12700" tIns="12700" rIns="12700" bIns="12700" rtlCol="0" anchor="ctr"/>
          <a:lstStyle/>
          <a:p>
            <a:pPr algn="ctr" indent="0" marL="0">
              <a:buNone/>
            </a:pPr>
            <a:r>
              <a:rPr lang="en-US" sz="700" b="1" dirty="0">
                <a:solidFill>
                  <a:srgbClr val="991B1B"/>
                </a:solidFill>
                <a:latin typeface="Meiryo" pitchFamily="34" charset="0"/>
                <a:ea typeface="Meiryo" pitchFamily="34" charset="-122"/>
                <a:cs typeface="Meiryo" pitchFamily="34" charset="-120"/>
              </a:rPr>
              <a:t>F-04</a:t>
            </a:r>
            <a:endParaRPr lang="en-US" sz="700" dirty="0"/>
          </a:p>
        </p:txBody>
      </p:sp>
      <p:pic>
        <p:nvPicPr>
          <p:cNvPr id="21" name="Image 3" descr="/home/claude/screens/screen_09_mypage_review_tall.png">    </p:cNvPr>
          <p:cNvPicPr>
            <a:picLocks noChangeAspect="1"/>
          </p:cNvPicPr>
          <p:nvPr/>
        </p:nvPicPr>
        <p:blipFill>
          <a:blip r:embed="rId4"/>
          <a:stretch>
            <a:fillRect/>
          </a:stretch>
        </p:blipFill>
        <p:spPr>
          <a:xfrm>
            <a:off x="9396889" y="1389888"/>
            <a:ext cx="2079689" cy="3886200"/>
          </a:xfrm>
          <a:prstGeom prst="rect">
            <a:avLst/>
          </a:prstGeom>
        </p:spPr>
      </p:pic>
      <p:sp>
        <p:nvSpPr>
          <p:cNvPr id="22" name="Text 16"/>
          <p:cNvSpPr/>
          <p:nvPr/>
        </p:nvSpPr>
        <p:spPr>
          <a:xfrm>
            <a:off x="9050274" y="5367528"/>
            <a:ext cx="2772918" cy="548640"/>
          </a:xfrm>
          <a:prstGeom prst="rect">
            <a:avLst/>
          </a:prstGeom>
          <a:noFill/>
          <a:ln/>
        </p:spPr>
        <p:txBody>
          <a:bodyPr wrap="square" lIns="0" tIns="0" rIns="0" bIns="0" rtlCol="0" anchor="ctr"/>
          <a:lstStyle/>
          <a:p>
            <a:pPr indent="0" marL="0">
              <a:buNone/>
            </a:pPr>
            <a:r>
              <a:rPr lang="en-US" sz="850" dirty="0">
                <a:solidFill>
                  <a:srgbClr val="555555"/>
                </a:solidFill>
                <a:latin typeface="Meiryo" pitchFamily="34" charset="0"/>
                <a:ea typeface="Meiryo" pitchFamily="34" charset="-122"/>
                <a:cs typeface="Meiryo" pitchFamily="34" charset="-120"/>
              </a:rPr>
              <a:t>▶ タクシーレシート審査状況セクションを追加 / 審査中・承認済バッジ</a:t>
            </a:r>
            <a:endParaRPr lang="en-US" sz="850" dirty="0"/>
          </a:p>
        </p:txBody>
      </p:sp>
      <p:sp>
        <p:nvSpPr>
          <p:cNvPr id="23" name="Text 17"/>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8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2D2D2D"/>
          </a:solidFill>
          <a:ln/>
        </p:spPr>
      </p:sp>
      <p:sp>
        <p:nvSpPr>
          <p:cNvPr id="3" name="Shape 1"/>
          <p:cNvSpPr/>
          <p:nvPr/>
        </p:nvSpPr>
        <p:spPr>
          <a:xfrm>
            <a:off x="0" y="0"/>
            <a:ext cx="164592" cy="914400"/>
          </a:xfrm>
          <a:prstGeom prst="rect">
            <a:avLst/>
          </a:prstGeom>
          <a:solidFill>
            <a:srgbClr val="E87722"/>
          </a:solidFill>
          <a:ln/>
        </p:spPr>
      </p:sp>
      <p:sp>
        <p:nvSpPr>
          <p:cNvPr id="4" name="Text 2"/>
          <p:cNvSpPr/>
          <p:nvPr/>
        </p:nvSpPr>
        <p:spPr>
          <a:xfrm>
            <a:off x="347472" y="91440"/>
            <a:ext cx="10058400" cy="50292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画面フロー ③</a:t>
            </a:r>
            <a:endParaRPr lang="en-US" sz="2200" dirty="0"/>
          </a:p>
        </p:txBody>
      </p:sp>
      <p:sp>
        <p:nvSpPr>
          <p:cNvPr id="5" name="Text 3"/>
          <p:cNvSpPr/>
          <p:nvPr/>
        </p:nvSpPr>
        <p:spPr>
          <a:xfrm>
            <a:off x="347472" y="576072"/>
            <a:ext cx="10058400" cy="274320"/>
          </a:xfrm>
          <a:prstGeom prst="rect">
            <a:avLst/>
          </a:prstGeom>
          <a:noFill/>
          <a:ln/>
        </p:spPr>
        <p:txBody>
          <a:bodyPr wrap="square" lIns="0" tIns="0" rIns="0" bIns="0" rtlCol="0" anchor="ctr"/>
          <a:lstStyle/>
          <a:p>
            <a:pPr indent="0" marL="0">
              <a:buNone/>
            </a:pPr>
            <a:r>
              <a:rPr lang="en-US" sz="1000" dirty="0">
                <a:solidFill>
                  <a:srgbClr val="BBBBBB"/>
                </a:solidFill>
                <a:latin typeface="Meiryo" pitchFamily="34" charset="0"/>
                <a:ea typeface="Meiryo" pitchFamily="34" charset="-122"/>
                <a:cs typeface="Meiryo" pitchFamily="34" charset="-120"/>
              </a:rPr>
              <a:t>賞品応募フォーム〜まとめ</a:t>
            </a:r>
            <a:endParaRPr lang="en-US" sz="1000" dirty="0"/>
          </a:p>
        </p:txBody>
      </p:sp>
      <p:sp>
        <p:nvSpPr>
          <p:cNvPr id="6" name="Text 4"/>
          <p:cNvSpPr/>
          <p:nvPr/>
        </p:nvSpPr>
        <p:spPr>
          <a:xfrm>
            <a:off x="10177272" y="109728"/>
            <a:ext cx="1920240" cy="274320"/>
          </a:xfrm>
          <a:prstGeom prst="rect">
            <a:avLst/>
          </a:prstGeom>
          <a:noFill/>
          <a:ln/>
        </p:spPr>
        <p:txBody>
          <a:bodyPr wrap="square" lIns="0" tIns="0" rIns="0" bIns="0" rtlCol="0" anchor="ctr"/>
          <a:lstStyle/>
          <a:p>
            <a:pPr algn="r" indent="0" marL="0">
              <a:buNone/>
            </a:pPr>
            <a:r>
              <a:rPr lang="en-US" sz="900" b="1" dirty="0">
                <a:solidFill>
                  <a:srgbClr val="E87722"/>
                </a:solidFill>
                <a:latin typeface="Meiryo" pitchFamily="34" charset="0"/>
                <a:ea typeface="Meiryo" pitchFamily="34" charset="-122"/>
                <a:cs typeface="Meiryo" pitchFamily="34" charset="-120"/>
              </a:rPr>
              <a:t>P9 画面フロー</a:t>
            </a:r>
            <a:endParaRPr lang="en-US" sz="900" dirty="0"/>
          </a:p>
        </p:txBody>
      </p:sp>
      <p:sp>
        <p:nvSpPr>
          <p:cNvPr id="7" name="Text 5"/>
          <p:cNvSpPr/>
          <p:nvPr/>
        </p:nvSpPr>
        <p:spPr>
          <a:xfrm>
            <a:off x="365760" y="1005840"/>
            <a:ext cx="3200400" cy="320040"/>
          </a:xfrm>
          <a:prstGeom prst="rect">
            <a:avLst/>
          </a:prstGeom>
          <a:noFill/>
          <a:ln/>
        </p:spPr>
        <p:txBody>
          <a:bodyPr wrap="square" lIns="0" tIns="0" rIns="0" bIns="0" rtlCol="0" anchor="ctr"/>
          <a:lstStyle/>
          <a:p>
            <a:pPr indent="0" marL="0">
              <a:buNone/>
            </a:pPr>
            <a:r>
              <a:rPr lang="en-US" sz="1000" b="1" dirty="0">
                <a:solidFill>
                  <a:srgbClr val="2D2D2D"/>
                </a:solidFill>
                <a:latin typeface="Meiryo" pitchFamily="34" charset="0"/>
                <a:ea typeface="Meiryo" pitchFamily="34" charset="-122"/>
                <a:cs typeface="Meiryo" pitchFamily="34" charset="-120"/>
              </a:rPr>
              <a:t>⑧ 応募フォーム</a:t>
            </a:r>
            <a:endParaRPr lang="en-US" sz="1000" dirty="0"/>
          </a:p>
        </p:txBody>
      </p:sp>
      <p:sp>
        <p:nvSpPr>
          <p:cNvPr id="8" name="Text 6"/>
          <p:cNvSpPr/>
          <p:nvPr/>
        </p:nvSpPr>
        <p:spPr>
          <a:xfrm>
            <a:off x="3639312" y="1042416"/>
            <a:ext cx="777240" cy="237744"/>
          </a:xfrm>
          <a:prstGeom prst="rect">
            <a:avLst/>
          </a:prstGeom>
          <a:solidFill>
            <a:srgbClr val="DCFCE7"/>
          </a:solidFill>
          <a:ln/>
        </p:spPr>
        <p:txBody>
          <a:bodyPr wrap="square" lIns="25400" tIns="25400" rIns="25400" bIns="25400" rtlCol="0" anchor="ctr"/>
          <a:lstStyle/>
          <a:p>
            <a:pPr algn="ctr" indent="0" marL="0">
              <a:buNone/>
            </a:pPr>
            <a:r>
              <a:rPr lang="en-US" sz="800" b="1" dirty="0">
                <a:solidFill>
                  <a:srgbClr val="166534"/>
                </a:solidFill>
                <a:latin typeface="Meiryo" pitchFamily="34" charset="0"/>
                <a:ea typeface="Meiryo" pitchFamily="34" charset="-122"/>
                <a:cs typeface="Meiryo" pitchFamily="34" charset="-120"/>
              </a:rPr>
              <a:t>標準</a:t>
            </a:r>
            <a:endParaRPr lang="en-US" sz="800" dirty="0"/>
          </a:p>
        </p:txBody>
      </p:sp>
      <p:sp>
        <p:nvSpPr>
          <p:cNvPr id="9" name="Shape 7"/>
          <p:cNvSpPr/>
          <p:nvPr/>
        </p:nvSpPr>
        <p:spPr>
          <a:xfrm>
            <a:off x="365760" y="1389888"/>
            <a:ext cx="5029200" cy="4572000"/>
          </a:xfrm>
          <a:prstGeom prst="roundRect">
            <a:avLst>
              <a:gd name="adj" fmla="val 2000"/>
            </a:avLst>
          </a:prstGeom>
          <a:solidFill>
            <a:srgbClr val="F5F5F5"/>
          </a:solidFill>
          <a:ln w="12700">
            <a:solidFill>
              <a:srgbClr val="E0E0E0"/>
            </a:solidFill>
            <a:prstDash val="solid"/>
          </a:ln>
        </p:spPr>
      </p:sp>
      <p:sp>
        <p:nvSpPr>
          <p:cNvPr id="10" name="Text 8"/>
          <p:cNvSpPr/>
          <p:nvPr/>
        </p:nvSpPr>
        <p:spPr>
          <a:xfrm>
            <a:off x="548640" y="2011680"/>
            <a:ext cx="4663440" cy="3200400"/>
          </a:xfrm>
          <a:prstGeom prst="rect">
            <a:avLst/>
          </a:prstGeom>
          <a:noFill/>
          <a:ln/>
        </p:spPr>
        <p:txBody>
          <a:bodyPr wrap="square" lIns="0" tIns="0" rIns="0" bIns="0" rtlCol="0" anchor="ctr"/>
          <a:lstStyle/>
          <a:p>
            <a:pPr algn="ctr" indent="0" marL="0">
              <a:buNone/>
            </a:pPr>
            <a:r>
              <a:rPr lang="en-US" sz="1200" dirty="0">
                <a:solidFill>
                  <a:srgbClr val="666666"/>
                </a:solidFill>
                <a:latin typeface="Meiryo" pitchFamily="34" charset="0"/>
                <a:ea typeface="Meiryo" pitchFamily="34" charset="-122"/>
                <a:cs typeface="Meiryo" pitchFamily="34" charset="-120"/>
              </a:rPr>
              <a:t>📋 標準UI</a:t>
            </a:r>
            <a:endParaRPr lang="en-US" sz="1200" dirty="0"/>
          </a:p>
          <a:p>
            <a:pPr algn="ctr" indent="0" marL="0">
              <a:buNone/>
            </a:pPr>
            <a:r>
              <a:rPr lang="en-US" sz="1200" dirty="0">
                <a:solidFill>
                  <a:srgbClr val="666666"/>
                </a:solidFill>
                <a:latin typeface="Meiryo" pitchFamily="34" charset="0"/>
                <a:ea typeface="Meiryo" pitchFamily="34" charset="-122"/>
                <a:cs typeface="Meiryo" pitchFamily="34" charset="-120"/>
              </a:rPr>
              <a:t>（管理画面でフォーム項目を設定）</a:t>
            </a:r>
            <a:endParaRPr lang="en-US" sz="1200" dirty="0"/>
          </a:p>
          <a:p>
            <a:pPr algn="ctr" indent="0" marL="0">
              <a:buNone/>
            </a:pPr>
            <a:endParaRPr lang="en-US" sz="1200" dirty="0"/>
          </a:p>
          <a:p>
            <a:pPr algn="ctr" indent="0" marL="0">
              <a:buNone/>
            </a:pPr>
            <a:r>
              <a:rPr lang="en-US" sz="1200" dirty="0">
                <a:solidFill>
                  <a:srgbClr val="666666"/>
                </a:solidFill>
                <a:latin typeface="Meiryo" pitchFamily="34" charset="0"/>
                <a:ea typeface="Meiryo" pitchFamily="34" charset="-122"/>
                <a:cs typeface="Meiryo" pitchFamily="34" charset="-120"/>
              </a:rPr>
              <a:t>STEP</a:t>
            </a:r>
            <a:endParaRPr lang="en-US" sz="1200" dirty="0"/>
          </a:p>
          <a:p>
            <a:pPr algn="ctr" indent="0" marL="0">
              <a:buNone/>
            </a:pPr>
            <a:r>
              <a:rPr lang="en-US" sz="1200" dirty="0">
                <a:solidFill>
                  <a:srgbClr val="666666"/>
                </a:solidFill>
                <a:latin typeface="Meiryo" pitchFamily="34" charset="0"/>
                <a:ea typeface="Meiryo" pitchFamily="34" charset="-122"/>
                <a:cs typeface="Meiryo" pitchFamily="34" charset="-120"/>
              </a:rPr>
              <a:t>① 入力（お名前・フリガナ・住所 等）</a:t>
            </a:r>
            <a:endParaRPr lang="en-US" sz="1200" dirty="0"/>
          </a:p>
          <a:p>
            <a:pPr algn="ctr" indent="0" marL="0">
              <a:buNone/>
            </a:pPr>
            <a:r>
              <a:rPr lang="en-US" sz="1200" dirty="0">
                <a:solidFill>
                  <a:srgbClr val="666666"/>
                </a:solidFill>
                <a:latin typeface="Meiryo" pitchFamily="34" charset="0"/>
                <a:ea typeface="Meiryo" pitchFamily="34" charset="-122"/>
                <a:cs typeface="Meiryo" pitchFamily="34" charset="-120"/>
              </a:rPr>
              <a:t>② 確認</a:t>
            </a:r>
            <a:endParaRPr lang="en-US" sz="1200" dirty="0"/>
          </a:p>
          <a:p>
            <a:pPr algn="ctr" indent="0" marL="0">
              <a:buNone/>
            </a:pPr>
            <a:r>
              <a:rPr lang="en-US" sz="1200" dirty="0">
                <a:solidFill>
                  <a:srgbClr val="666666"/>
                </a:solidFill>
                <a:latin typeface="Meiryo" pitchFamily="34" charset="0"/>
                <a:ea typeface="Meiryo" pitchFamily="34" charset="-122"/>
                <a:cs typeface="Meiryo" pitchFamily="34" charset="-120"/>
              </a:rPr>
              <a:t>③ 完了</a:t>
            </a:r>
            <a:endParaRPr lang="en-US" sz="1200" dirty="0"/>
          </a:p>
        </p:txBody>
      </p:sp>
      <p:sp>
        <p:nvSpPr>
          <p:cNvPr id="11" name="Text 9"/>
          <p:cNvSpPr/>
          <p:nvPr/>
        </p:nvSpPr>
        <p:spPr>
          <a:xfrm>
            <a:off x="5852160" y="1005840"/>
            <a:ext cx="5943600" cy="320040"/>
          </a:xfrm>
          <a:prstGeom prst="rect">
            <a:avLst/>
          </a:prstGeom>
          <a:noFill/>
          <a:ln/>
        </p:spPr>
        <p:txBody>
          <a:bodyPr wrap="square" lIns="0" tIns="0" rIns="0" bIns="0" rtlCol="0" anchor="ctr"/>
          <a:lstStyle/>
          <a:p>
            <a:pPr indent="0" marL="0">
              <a:buNone/>
            </a:pPr>
            <a:r>
              <a:rPr lang="en-US" sz="1200" b="1" dirty="0">
                <a:solidFill>
                  <a:srgbClr val="2D2D2D"/>
                </a:solidFill>
                <a:latin typeface="Meiryo" pitchFamily="34" charset="0"/>
                <a:ea typeface="Meiryo" pitchFamily="34" charset="-122"/>
                <a:cs typeface="Meiryo" pitchFamily="34" charset="-120"/>
              </a:rPr>
              <a:t>カスタム開発ポイント まとめ</a:t>
            </a:r>
            <a:endParaRPr lang="en-US" sz="1200" dirty="0"/>
          </a:p>
        </p:txBody>
      </p:sp>
      <p:sp>
        <p:nvSpPr>
          <p:cNvPr id="12" name="Shape 10"/>
          <p:cNvSpPr/>
          <p:nvPr/>
        </p:nvSpPr>
        <p:spPr>
          <a:xfrm>
            <a:off x="5852160" y="1417320"/>
            <a:ext cx="5943600" cy="502920"/>
          </a:xfrm>
          <a:prstGeom prst="rect">
            <a:avLst/>
          </a:prstGeom>
          <a:solidFill>
            <a:srgbClr val="FAFAFA"/>
          </a:solidFill>
          <a:ln w="6350">
            <a:solidFill>
              <a:srgbClr val="EEEEEE"/>
            </a:solidFill>
            <a:prstDash val="solid"/>
          </a:ln>
        </p:spPr>
      </p:sp>
      <p:sp>
        <p:nvSpPr>
          <p:cNvPr id="13" name="Text 11"/>
          <p:cNvSpPr/>
          <p:nvPr/>
        </p:nvSpPr>
        <p:spPr>
          <a:xfrm>
            <a:off x="5925312" y="150876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F-01</a:t>
            </a:r>
            <a:endParaRPr lang="en-US" sz="850" dirty="0"/>
          </a:p>
        </p:txBody>
      </p:sp>
      <p:sp>
        <p:nvSpPr>
          <p:cNvPr id="14" name="Text 12"/>
          <p:cNvSpPr/>
          <p:nvPr/>
        </p:nvSpPr>
        <p:spPr>
          <a:xfrm>
            <a:off x="6812280" y="152704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マイページ：2ボタン＋乗車中UI</a:t>
            </a:r>
            <a:endParaRPr lang="en-US" sz="1000" dirty="0"/>
          </a:p>
        </p:txBody>
      </p:sp>
      <p:sp>
        <p:nvSpPr>
          <p:cNvPr id="15" name="Shape 13"/>
          <p:cNvSpPr/>
          <p:nvPr/>
        </p:nvSpPr>
        <p:spPr>
          <a:xfrm>
            <a:off x="5852160" y="1965960"/>
            <a:ext cx="5943600" cy="502920"/>
          </a:xfrm>
          <a:prstGeom prst="rect">
            <a:avLst/>
          </a:prstGeom>
          <a:solidFill>
            <a:srgbClr val="FFFFFF"/>
          </a:solidFill>
          <a:ln w="6350">
            <a:solidFill>
              <a:srgbClr val="EEEEEE"/>
            </a:solidFill>
            <a:prstDash val="solid"/>
          </a:ln>
        </p:spPr>
      </p:sp>
      <p:sp>
        <p:nvSpPr>
          <p:cNvPr id="16" name="Text 14"/>
          <p:cNvSpPr/>
          <p:nvPr/>
        </p:nvSpPr>
        <p:spPr>
          <a:xfrm>
            <a:off x="5925312" y="205740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F-02</a:t>
            </a:r>
            <a:endParaRPr lang="en-US" sz="850" dirty="0"/>
          </a:p>
        </p:txBody>
      </p:sp>
      <p:sp>
        <p:nvSpPr>
          <p:cNvPr id="17" name="Text 15"/>
          <p:cNvSpPr/>
          <p:nvPr/>
        </p:nvSpPr>
        <p:spPr>
          <a:xfrm>
            <a:off x="6812280" y="207568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乗車地検索フロー（BoardingSearchFlow）</a:t>
            </a:r>
            <a:endParaRPr lang="en-US" sz="1000" dirty="0"/>
          </a:p>
        </p:txBody>
      </p:sp>
      <p:sp>
        <p:nvSpPr>
          <p:cNvPr id="18" name="Shape 16"/>
          <p:cNvSpPr/>
          <p:nvPr/>
        </p:nvSpPr>
        <p:spPr>
          <a:xfrm>
            <a:off x="5852160" y="2514600"/>
            <a:ext cx="5943600" cy="502920"/>
          </a:xfrm>
          <a:prstGeom prst="rect">
            <a:avLst/>
          </a:prstGeom>
          <a:solidFill>
            <a:srgbClr val="FAFAFA"/>
          </a:solidFill>
          <a:ln w="6350">
            <a:solidFill>
              <a:srgbClr val="EEEEEE"/>
            </a:solidFill>
            <a:prstDash val="solid"/>
          </a:ln>
        </p:spPr>
      </p:sp>
      <p:sp>
        <p:nvSpPr>
          <p:cNvPr id="19" name="Text 17"/>
          <p:cNvSpPr/>
          <p:nvPr/>
        </p:nvSpPr>
        <p:spPr>
          <a:xfrm>
            <a:off x="5925312" y="260604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B-01</a:t>
            </a:r>
            <a:endParaRPr lang="en-US" sz="850" dirty="0"/>
          </a:p>
        </p:txBody>
      </p:sp>
      <p:sp>
        <p:nvSpPr>
          <p:cNvPr id="20" name="Text 18"/>
          <p:cNvSpPr/>
          <p:nvPr/>
        </p:nvSpPr>
        <p:spPr>
          <a:xfrm>
            <a:off x="6812280" y="262432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会社・路線マスタ・停留所DB・ペア判定</a:t>
            </a:r>
            <a:endParaRPr lang="en-US" sz="1000" dirty="0"/>
          </a:p>
        </p:txBody>
      </p:sp>
      <p:sp>
        <p:nvSpPr>
          <p:cNvPr id="21" name="Shape 19"/>
          <p:cNvSpPr/>
          <p:nvPr/>
        </p:nvSpPr>
        <p:spPr>
          <a:xfrm>
            <a:off x="5852160" y="3063240"/>
            <a:ext cx="5943600" cy="502920"/>
          </a:xfrm>
          <a:prstGeom prst="rect">
            <a:avLst/>
          </a:prstGeom>
          <a:solidFill>
            <a:srgbClr val="FFFFFF"/>
          </a:solidFill>
          <a:ln w="6350">
            <a:solidFill>
              <a:srgbClr val="EEEEEE"/>
            </a:solidFill>
            <a:prstDash val="solid"/>
          </a:ln>
        </p:spPr>
      </p:sp>
      <p:sp>
        <p:nvSpPr>
          <p:cNvPr id="22" name="Text 20"/>
          <p:cNvSpPr/>
          <p:nvPr/>
        </p:nvSpPr>
        <p:spPr>
          <a:xfrm>
            <a:off x="5925312" y="315468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B-02</a:t>
            </a:r>
            <a:endParaRPr lang="en-US" sz="850" dirty="0"/>
          </a:p>
        </p:txBody>
      </p:sp>
      <p:sp>
        <p:nvSpPr>
          <p:cNvPr id="23" name="Text 21"/>
          <p:cNvSpPr/>
          <p:nvPr/>
        </p:nvSpPr>
        <p:spPr>
          <a:xfrm>
            <a:off x="6812280" y="317296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Receico→Card ポイント連携（Webhook）</a:t>
            </a:r>
            <a:endParaRPr lang="en-US" sz="1000" dirty="0"/>
          </a:p>
        </p:txBody>
      </p:sp>
      <p:sp>
        <p:nvSpPr>
          <p:cNvPr id="24" name="Shape 22"/>
          <p:cNvSpPr/>
          <p:nvPr/>
        </p:nvSpPr>
        <p:spPr>
          <a:xfrm>
            <a:off x="5852160" y="3611880"/>
            <a:ext cx="5943600" cy="502920"/>
          </a:xfrm>
          <a:prstGeom prst="rect">
            <a:avLst/>
          </a:prstGeom>
          <a:solidFill>
            <a:srgbClr val="FAFAFA"/>
          </a:solidFill>
          <a:ln w="6350">
            <a:solidFill>
              <a:srgbClr val="EEEEEE"/>
            </a:solidFill>
            <a:prstDash val="solid"/>
          </a:ln>
        </p:spPr>
      </p:sp>
      <p:sp>
        <p:nvSpPr>
          <p:cNvPr id="25" name="Text 23"/>
          <p:cNvSpPr/>
          <p:nvPr/>
        </p:nvSpPr>
        <p:spPr>
          <a:xfrm>
            <a:off x="5925312" y="3703320"/>
            <a:ext cx="822960" cy="320040"/>
          </a:xfrm>
          <a:prstGeom prst="rect">
            <a:avLst/>
          </a:prstGeom>
          <a:solidFill>
            <a:srgbClr val="DCFCE7"/>
          </a:solidFill>
          <a:ln/>
        </p:spPr>
        <p:txBody>
          <a:bodyPr wrap="square" lIns="25400" tIns="25400" rIns="25400" bIns="25400" rtlCol="0" anchor="ctr"/>
          <a:lstStyle/>
          <a:p>
            <a:pPr algn="ctr" indent="0" marL="0">
              <a:buNone/>
            </a:pPr>
            <a:r>
              <a:rPr lang="en-US" sz="850" b="1" dirty="0">
                <a:solidFill>
                  <a:srgbClr val="166534"/>
                </a:solidFill>
                <a:latin typeface="Meiryo" pitchFamily="34" charset="0"/>
                <a:ea typeface="Meiryo" pitchFamily="34" charset="-122"/>
                <a:cs typeface="Meiryo" pitchFamily="34" charset="-120"/>
              </a:rPr>
              <a:t>F/B-03</a:t>
            </a:r>
            <a:endParaRPr lang="en-US" sz="850" dirty="0"/>
          </a:p>
        </p:txBody>
      </p:sp>
      <p:sp>
        <p:nvSpPr>
          <p:cNvPr id="26" name="Text 24"/>
          <p:cNvSpPr/>
          <p:nvPr/>
        </p:nvSpPr>
        <p:spPr>
          <a:xfrm>
            <a:off x="6812280" y="372160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Card→Receico SSO連携</a:t>
            </a:r>
            <a:endParaRPr lang="en-US" sz="1000" dirty="0"/>
          </a:p>
        </p:txBody>
      </p:sp>
      <p:sp>
        <p:nvSpPr>
          <p:cNvPr id="27" name="Shape 25"/>
          <p:cNvSpPr/>
          <p:nvPr/>
        </p:nvSpPr>
        <p:spPr>
          <a:xfrm>
            <a:off x="5852160" y="4160520"/>
            <a:ext cx="5943600" cy="502920"/>
          </a:xfrm>
          <a:prstGeom prst="rect">
            <a:avLst/>
          </a:prstGeom>
          <a:solidFill>
            <a:srgbClr val="FFFFFF"/>
          </a:solidFill>
          <a:ln w="6350">
            <a:solidFill>
              <a:srgbClr val="EEEEEE"/>
            </a:solidFill>
            <a:prstDash val="solid"/>
          </a:ln>
        </p:spPr>
      </p:sp>
      <p:sp>
        <p:nvSpPr>
          <p:cNvPr id="28" name="Text 26"/>
          <p:cNvSpPr/>
          <p:nvPr/>
        </p:nvSpPr>
        <p:spPr>
          <a:xfrm>
            <a:off x="5925312" y="425196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F-04</a:t>
            </a:r>
            <a:endParaRPr lang="en-US" sz="850" dirty="0"/>
          </a:p>
        </p:txBody>
      </p:sp>
      <p:sp>
        <p:nvSpPr>
          <p:cNvPr id="29" name="Text 27"/>
          <p:cNvSpPr/>
          <p:nvPr/>
        </p:nvSpPr>
        <p:spPr>
          <a:xfrm>
            <a:off x="6812280" y="427024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審査ステータス表示</a:t>
            </a:r>
            <a:endParaRPr lang="en-US" sz="1000" dirty="0"/>
          </a:p>
        </p:txBody>
      </p:sp>
      <p:sp>
        <p:nvSpPr>
          <p:cNvPr id="30" name="Shape 28"/>
          <p:cNvSpPr/>
          <p:nvPr/>
        </p:nvSpPr>
        <p:spPr>
          <a:xfrm>
            <a:off x="5852160" y="4709160"/>
            <a:ext cx="5943600" cy="502920"/>
          </a:xfrm>
          <a:prstGeom prst="rect">
            <a:avLst/>
          </a:prstGeom>
          <a:solidFill>
            <a:srgbClr val="FAFAFA"/>
          </a:solidFill>
          <a:ln w="6350">
            <a:solidFill>
              <a:srgbClr val="EEEEEE"/>
            </a:solidFill>
            <a:prstDash val="solid"/>
          </a:ln>
        </p:spPr>
      </p:sp>
      <p:sp>
        <p:nvSpPr>
          <p:cNvPr id="31" name="Text 29"/>
          <p:cNvSpPr/>
          <p:nvPr/>
        </p:nvSpPr>
        <p:spPr>
          <a:xfrm>
            <a:off x="5925312" y="4800600"/>
            <a:ext cx="822960" cy="320040"/>
          </a:xfrm>
          <a:prstGeom prst="rect">
            <a:avLst/>
          </a:prstGeom>
          <a:solidFill>
            <a:srgbClr val="FEE2E2"/>
          </a:solidFill>
          <a:ln/>
        </p:spPr>
        <p:txBody>
          <a:bodyPr wrap="square" lIns="25400" tIns="25400" rIns="25400" bIns="25400" rtlCol="0" anchor="ctr"/>
          <a:lstStyle/>
          <a:p>
            <a:pPr algn="ctr" indent="0" marL="0">
              <a:buNone/>
            </a:pPr>
            <a:r>
              <a:rPr lang="en-US" sz="850" b="1" dirty="0">
                <a:solidFill>
                  <a:srgbClr val="991B1B"/>
                </a:solidFill>
                <a:latin typeface="Meiryo" pitchFamily="34" charset="0"/>
                <a:ea typeface="Meiryo" pitchFamily="34" charset="-122"/>
                <a:cs typeface="Meiryo" pitchFamily="34" charset="-120"/>
              </a:rPr>
              <a:t>F-05</a:t>
            </a:r>
            <a:endParaRPr lang="en-US" sz="850" dirty="0"/>
          </a:p>
        </p:txBody>
      </p:sp>
      <p:sp>
        <p:nvSpPr>
          <p:cNvPr id="32" name="Text 30"/>
          <p:cNvSpPr/>
          <p:nvPr/>
        </p:nvSpPr>
        <p:spPr>
          <a:xfrm>
            <a:off x="6812280" y="481888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応募モーダル ポイント内訳表示</a:t>
            </a:r>
            <a:endParaRPr lang="en-US" sz="1000" dirty="0"/>
          </a:p>
        </p:txBody>
      </p:sp>
      <p:sp>
        <p:nvSpPr>
          <p:cNvPr id="33" name="Shape 31"/>
          <p:cNvSpPr/>
          <p:nvPr/>
        </p:nvSpPr>
        <p:spPr>
          <a:xfrm>
            <a:off x="5852160" y="5257800"/>
            <a:ext cx="5943600" cy="502920"/>
          </a:xfrm>
          <a:prstGeom prst="rect">
            <a:avLst/>
          </a:prstGeom>
          <a:solidFill>
            <a:srgbClr val="FFFFFF"/>
          </a:solidFill>
          <a:ln w="6350">
            <a:solidFill>
              <a:srgbClr val="EEEEEE"/>
            </a:solidFill>
            <a:prstDash val="solid"/>
          </a:ln>
        </p:spPr>
      </p:sp>
      <p:sp>
        <p:nvSpPr>
          <p:cNvPr id="34" name="Text 32"/>
          <p:cNvSpPr/>
          <p:nvPr/>
        </p:nvSpPr>
        <p:spPr>
          <a:xfrm>
            <a:off x="5925312" y="5349240"/>
            <a:ext cx="822960" cy="320040"/>
          </a:xfrm>
          <a:prstGeom prst="rect">
            <a:avLst/>
          </a:prstGeom>
          <a:solidFill>
            <a:srgbClr val="FEF3C7"/>
          </a:solidFill>
          <a:ln/>
        </p:spPr>
        <p:txBody>
          <a:bodyPr wrap="square" lIns="25400" tIns="25400" rIns="25400" bIns="25400" rtlCol="0" anchor="ctr"/>
          <a:lstStyle/>
          <a:p>
            <a:pPr algn="ctr" indent="0" marL="0">
              <a:buNone/>
            </a:pPr>
            <a:r>
              <a:rPr lang="en-US" sz="850" b="1" dirty="0">
                <a:solidFill>
                  <a:srgbClr val="92400E"/>
                </a:solidFill>
                <a:latin typeface="Meiryo" pitchFamily="34" charset="0"/>
                <a:ea typeface="Meiryo" pitchFamily="34" charset="-122"/>
                <a:cs typeface="Meiryo" pitchFamily="34" charset="-120"/>
              </a:rPr>
              <a:t>B-04</a:t>
            </a:r>
            <a:endParaRPr lang="en-US" sz="850" dirty="0"/>
          </a:p>
        </p:txBody>
      </p:sp>
      <p:sp>
        <p:nvSpPr>
          <p:cNvPr id="35" name="Text 33"/>
          <p:cNvSpPr/>
          <p:nvPr/>
        </p:nvSpPr>
        <p:spPr>
          <a:xfrm>
            <a:off x="6812280" y="5367528"/>
            <a:ext cx="4892040" cy="292608"/>
          </a:xfrm>
          <a:prstGeom prst="rect">
            <a:avLst/>
          </a:prstGeom>
          <a:noFill/>
          <a:ln/>
        </p:spPr>
        <p:txBody>
          <a:bodyPr wrap="square" lIns="0" tIns="0" rIns="0" bIns="0" rtlCol="0" anchor="ctr"/>
          <a:lstStyle/>
          <a:p>
            <a:pPr indent="0" marL="0">
              <a:buNone/>
            </a:pPr>
            <a:r>
              <a:rPr lang="en-US" sz="1000" dirty="0">
                <a:solidFill>
                  <a:srgbClr val="2D2D2D"/>
                </a:solidFill>
                <a:latin typeface="Meiryo" pitchFamily="34" charset="0"/>
                <a:ea typeface="Meiryo" pitchFamily="34" charset="-122"/>
                <a:cs typeface="Meiryo" pitchFamily="34" charset="-120"/>
              </a:rPr>
              <a:t>OCRタグ審査条件設定（設定作業のみ）</a:t>
            </a:r>
            <a:endParaRPr lang="en-US" sz="1000" dirty="0"/>
          </a:p>
        </p:txBody>
      </p:sp>
      <p:sp>
        <p:nvSpPr>
          <p:cNvPr id="36" name="Shape 34"/>
          <p:cNvSpPr/>
          <p:nvPr/>
        </p:nvSpPr>
        <p:spPr>
          <a:xfrm>
            <a:off x="5852160" y="5961888"/>
            <a:ext cx="5943600" cy="594360"/>
          </a:xfrm>
          <a:prstGeom prst="rect">
            <a:avLst/>
          </a:prstGeom>
          <a:solidFill>
            <a:srgbClr val="FFF3E0"/>
          </a:solidFill>
          <a:ln w="12700">
            <a:solidFill>
              <a:srgbClr val="E87722"/>
            </a:solidFill>
            <a:prstDash val="solid"/>
          </a:ln>
        </p:spPr>
      </p:sp>
      <p:sp>
        <p:nvSpPr>
          <p:cNvPr id="37" name="Text 35"/>
          <p:cNvSpPr/>
          <p:nvPr/>
        </p:nvSpPr>
        <p:spPr>
          <a:xfrm>
            <a:off x="5989320" y="6016752"/>
            <a:ext cx="5669280" cy="502920"/>
          </a:xfrm>
          <a:prstGeom prst="rect">
            <a:avLst/>
          </a:prstGeom>
          <a:noFill/>
          <a:ln/>
        </p:spPr>
        <p:txBody>
          <a:bodyPr wrap="square" lIns="0" tIns="0" rIns="0" bIns="0" rtlCol="0" anchor="ctr"/>
          <a:lstStyle/>
          <a:p>
            <a:pPr indent="0" marL="0">
              <a:buNone/>
            </a:pPr>
            <a:r>
              <a:rPr lang="en-US" sz="900" dirty="0">
                <a:solidFill>
                  <a:srgbClr val="7A4200"/>
                </a:solidFill>
                <a:latin typeface="Meiryo" pitchFamily="34" charset="0"/>
                <a:ea typeface="Meiryo" pitchFamily="34" charset="-122"/>
                <a:cs typeface="Meiryo" pitchFamily="34" charset="-120"/>
              </a:rPr>
              <a:t>【事前確認事項】Cardのセッション管理・ReceicoのWebhook有無・LINEチャネル共通可否・GTFSインポート対応</a:t>
            </a:r>
            <a:endParaRPr lang="en-US" sz="900" dirty="0"/>
          </a:p>
        </p:txBody>
      </p:sp>
      <p:sp>
        <p:nvSpPr>
          <p:cNvPr id="38" name="Text 36"/>
          <p:cNvSpPr/>
          <p:nvPr/>
        </p:nvSpPr>
        <p:spPr>
          <a:xfrm>
            <a:off x="11365992" y="6565392"/>
            <a:ext cx="731520" cy="256032"/>
          </a:xfrm>
          <a:prstGeom prst="rect">
            <a:avLst/>
          </a:prstGeom>
          <a:noFill/>
          <a:ln/>
        </p:spPr>
        <p:txBody>
          <a:bodyPr wrap="square" lIns="0" tIns="0" rIns="0" bIns="0" rtlCol="0" anchor="ctr"/>
          <a:lstStyle/>
          <a:p>
            <a:pPr algn="r" indent="0" marL="0">
              <a:buNone/>
            </a:pPr>
            <a:r>
              <a:rPr lang="en-US" sz="900" dirty="0">
                <a:solidFill>
                  <a:srgbClr val="AAAAAA"/>
                </a:solidFill>
                <a:latin typeface="Meiryo" pitchFamily="34" charset="0"/>
                <a:ea typeface="Meiryo" pitchFamily="34" charset="-122"/>
                <a:cs typeface="Meiryo" pitchFamily="34" charset="-120"/>
              </a:rPr>
              <a:t>9 /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公共交通利用促進キャンペーン 提案資料</dc:title>
  <dc:subject>PptxGenJS Presentation</dc:subject>
  <dc:creator>PptxGenJS</dc:creator>
  <cp:lastModifiedBy>PptxGenJS</cp:lastModifiedBy>
  <cp:revision>1</cp:revision>
  <dcterms:created xsi:type="dcterms:W3CDTF">2026-05-19T22:30:25Z</dcterms:created>
  <dcterms:modified xsi:type="dcterms:W3CDTF">2026-05-19T22:30:25Z</dcterms:modified>
</cp:coreProperties>
</file>