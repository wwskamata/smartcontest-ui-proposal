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2D2D2D"/>
          </a:solidFill>
          <a:ln/>
        </p:spPr>
      </p:sp>
      <p:sp>
        <p:nvSpPr>
          <p:cNvPr id="3" name="Shape 1"/>
          <p:cNvSpPr/>
          <p:nvPr/>
        </p:nvSpPr>
        <p:spPr>
          <a:xfrm>
            <a:off x="0" y="0"/>
            <a:ext cx="164592" cy="914400"/>
          </a:xfrm>
          <a:prstGeom prst="rect">
            <a:avLst/>
          </a:prstGeom>
          <a:solidFill>
            <a:srgbClr val="E87722"/>
          </a:solidFill>
          <a:ln/>
        </p:spPr>
      </p:sp>
      <p:sp>
        <p:nvSpPr>
          <p:cNvPr id="4" name="Text 2"/>
          <p:cNvSpPr/>
          <p:nvPr/>
        </p:nvSpPr>
        <p:spPr>
          <a:xfrm>
            <a:off x="347472" y="91440"/>
            <a:ext cx="10058400" cy="50292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案件の背景</a:t>
            </a:r>
            <a:endParaRPr lang="en-US" sz="2200" dirty="0"/>
          </a:p>
        </p:txBody>
      </p:sp>
      <p:sp>
        <p:nvSpPr>
          <p:cNvPr id="5" name="Text 3"/>
          <p:cNvSpPr/>
          <p:nvPr/>
        </p:nvSpPr>
        <p:spPr>
          <a:xfrm>
            <a:off x="347472" y="576072"/>
            <a:ext cx="10058400" cy="274320"/>
          </a:xfrm>
          <a:prstGeom prst="rect">
            <a:avLst/>
          </a:prstGeom>
          <a:noFill/>
          <a:ln/>
        </p:spPr>
        <p:txBody>
          <a:bodyPr wrap="square" lIns="0" tIns="0" rIns="0" bIns="0" rtlCol="0" anchor="ctr"/>
          <a:lstStyle/>
          <a:p>
            <a:pPr indent="0" marL="0">
              <a:buNone/>
            </a:pPr>
            <a:r>
              <a:rPr lang="en-US" sz="1000" dirty="0">
                <a:solidFill>
                  <a:srgbClr val="BBBBBB"/>
                </a:solidFill>
                <a:latin typeface="Meiryo" pitchFamily="34" charset="0"/>
                <a:ea typeface="Meiryo" pitchFamily="34" charset="-122"/>
                <a:cs typeface="Meiryo" pitchFamily="34" charset="-120"/>
              </a:rPr>
              <a:t>公共交通利用促進キャンペーン｜行政×ビザビ×WWS</a:t>
            </a:r>
            <a:endParaRPr lang="en-US" sz="1000" dirty="0"/>
          </a:p>
        </p:txBody>
      </p:sp>
      <p:sp>
        <p:nvSpPr>
          <p:cNvPr id="6" name="Text 4"/>
          <p:cNvSpPr/>
          <p:nvPr/>
        </p:nvSpPr>
        <p:spPr>
          <a:xfrm>
            <a:off x="10177272" y="109728"/>
            <a:ext cx="192024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Meiryo" pitchFamily="34" charset="0"/>
                <a:ea typeface="Meiryo" pitchFamily="34" charset="-122"/>
                <a:cs typeface="Meiryo" pitchFamily="34" charset="-120"/>
              </a:rPr>
              <a:t>P1 案件背景</a:t>
            </a:r>
            <a:endParaRPr lang="en-US" sz="900" dirty="0"/>
          </a:p>
        </p:txBody>
      </p:sp>
      <p:sp>
        <p:nvSpPr>
          <p:cNvPr id="7" name="Text 5"/>
          <p:cNvSpPr/>
          <p:nvPr/>
        </p:nvSpPr>
        <p:spPr>
          <a:xfrm>
            <a:off x="365760" y="1051560"/>
            <a:ext cx="7315200" cy="320040"/>
          </a:xfrm>
          <a:prstGeom prst="rect">
            <a:avLst/>
          </a:prstGeom>
          <a:noFill/>
          <a:ln/>
        </p:spPr>
        <p:txBody>
          <a:bodyPr wrap="square" lIns="0" tIns="0" rIns="0" bIns="0" rtlCol="0" anchor="ctr"/>
          <a:lstStyle/>
          <a:p>
            <a:pPr indent="0" marL="0">
              <a:buNone/>
            </a:pPr>
            <a:r>
              <a:rPr lang="en-US" sz="1200" b="1" dirty="0">
                <a:solidFill>
                  <a:srgbClr val="2D2D2D"/>
                </a:solidFill>
                <a:latin typeface="Meiryo" pitchFamily="34" charset="0"/>
                <a:ea typeface="Meiryo" pitchFamily="34" charset="-122"/>
                <a:cs typeface="Meiryo" pitchFamily="34" charset="-120"/>
              </a:rPr>
              <a:t>代理店（ビザビ）への相談内容</a:t>
            </a:r>
            <a:endParaRPr lang="en-US" sz="1200" dirty="0"/>
          </a:p>
        </p:txBody>
      </p:sp>
      <p:sp>
        <p:nvSpPr>
          <p:cNvPr id="8" name="Shape 6"/>
          <p:cNvSpPr/>
          <p:nvPr/>
        </p:nvSpPr>
        <p:spPr>
          <a:xfrm>
            <a:off x="365760" y="1371600"/>
            <a:ext cx="7772400" cy="1005840"/>
          </a:xfrm>
          <a:prstGeom prst="rect">
            <a:avLst/>
          </a:prstGeom>
          <a:solidFill>
            <a:srgbClr val="FFF8F0"/>
          </a:solidFill>
          <a:ln w="12700">
            <a:solidFill>
              <a:srgbClr val="E87722"/>
            </a:solidFill>
            <a:prstDash val="solid"/>
          </a:ln>
        </p:spPr>
      </p:sp>
      <p:sp>
        <p:nvSpPr>
          <p:cNvPr id="9" name="Text 7"/>
          <p:cNvSpPr/>
          <p:nvPr/>
        </p:nvSpPr>
        <p:spPr>
          <a:xfrm>
            <a:off x="502920" y="1463040"/>
            <a:ext cx="7498080" cy="868680"/>
          </a:xfrm>
          <a:prstGeom prst="rect">
            <a:avLst/>
          </a:prstGeom>
          <a:noFill/>
          <a:ln/>
        </p:spPr>
        <p:txBody>
          <a:bodyPr wrap="square" lIns="0" tIns="0" rIns="0" bIns="0" rtlCol="0" anchor="ctr"/>
          <a:lstStyle/>
          <a:p>
            <a:pPr indent="0" marL="0">
              <a:buNone/>
            </a:pPr>
            <a:r>
              <a:rPr lang="en-US" sz="1100" dirty="0">
                <a:solidFill>
                  <a:srgbClr val="444444"/>
                </a:solidFill>
                <a:latin typeface="Meiryo" pitchFamily="34" charset="0"/>
                <a:ea typeface="Meiryo" pitchFamily="34" charset="-122"/>
                <a:cs typeface="Meiryo" pitchFamily="34" charset="-120"/>
              </a:rPr>
              <a:t>行政（地方自治体）が主体となる公共交通利用促進プロモーションの企画において、GPSスタンプラリー・レシートキャンペーンの仕組みを活用したシステム構築の相談が代理店経由でビザビに持ち込まれた。</a:t>
            </a:r>
            <a:endParaRPr lang="en-US" sz="1100" dirty="0"/>
          </a:p>
        </p:txBody>
      </p:sp>
      <p:sp>
        <p:nvSpPr>
          <p:cNvPr id="10" name="Text 8"/>
          <p:cNvSpPr/>
          <p:nvPr/>
        </p:nvSpPr>
        <p:spPr>
          <a:xfrm>
            <a:off x="365760" y="2514600"/>
            <a:ext cx="7315200" cy="320040"/>
          </a:xfrm>
          <a:prstGeom prst="rect">
            <a:avLst/>
          </a:prstGeom>
          <a:noFill/>
          <a:ln/>
        </p:spPr>
        <p:txBody>
          <a:bodyPr wrap="square" lIns="0" tIns="0" rIns="0" bIns="0" rtlCol="0" anchor="ctr"/>
          <a:lstStyle/>
          <a:p>
            <a:pPr indent="0" marL="0">
              <a:buNone/>
            </a:pPr>
            <a:r>
              <a:rPr lang="en-US" sz="1200" b="1" dirty="0">
                <a:solidFill>
                  <a:srgbClr val="2D2D2D"/>
                </a:solidFill>
                <a:latin typeface="Meiryo" pitchFamily="34" charset="0"/>
                <a:ea typeface="Meiryo" pitchFamily="34" charset="-122"/>
                <a:cs typeface="Meiryo" pitchFamily="34" charset="-120"/>
              </a:rPr>
              <a:t>クライアントが解決したい課題</a:t>
            </a:r>
            <a:endParaRPr lang="en-US" sz="1200" dirty="0"/>
          </a:p>
        </p:txBody>
      </p:sp>
      <p:sp>
        <p:nvSpPr>
          <p:cNvPr id="11" name="Shape 9"/>
          <p:cNvSpPr/>
          <p:nvPr/>
        </p:nvSpPr>
        <p:spPr>
          <a:xfrm>
            <a:off x="365760" y="2880360"/>
            <a:ext cx="2651760" cy="2560320"/>
          </a:xfrm>
          <a:prstGeom prst="roundRect">
            <a:avLst>
              <a:gd name="adj" fmla="val 2857"/>
            </a:avLst>
          </a:prstGeom>
          <a:solidFill>
            <a:srgbClr val="FAFAFA"/>
          </a:solidFill>
          <a:ln w="12700">
            <a:solidFill>
              <a:srgbClr val="E0E0E0"/>
            </a:solidFill>
            <a:prstDash val="solid"/>
          </a:ln>
        </p:spPr>
      </p:sp>
      <p:sp>
        <p:nvSpPr>
          <p:cNvPr id="12" name="Text 10"/>
          <p:cNvSpPr/>
          <p:nvPr/>
        </p:nvSpPr>
        <p:spPr>
          <a:xfrm>
            <a:off x="365760" y="3108960"/>
            <a:ext cx="2651760" cy="640080"/>
          </a:xfrm>
          <a:prstGeom prst="rect">
            <a:avLst/>
          </a:prstGeom>
          <a:noFill/>
          <a:ln/>
        </p:spPr>
        <p:txBody>
          <a:bodyPr wrap="square" lIns="0" tIns="0" rIns="0" bIns="0" rtlCol="0" anchor="ctr"/>
          <a:lstStyle/>
          <a:p>
            <a:pPr algn="ctr" indent="0" marL="0">
              <a:buNone/>
            </a:pPr>
            <a:r>
              <a:rPr lang="en-US" sz="2400" dirty="0">
                <a:solidFill>
                  <a:srgbClr val="000000"/>
                </a:solidFill>
                <a:latin typeface="Meiryo" pitchFamily="34" charset="0"/>
                <a:ea typeface="Meiryo" pitchFamily="34" charset="-122"/>
                <a:cs typeface="Meiryo" pitchFamily="34" charset="-120"/>
              </a:rPr>
              <a:t>🚌</a:t>
            </a:r>
            <a:endParaRPr lang="en-US" sz="2400" dirty="0"/>
          </a:p>
        </p:txBody>
      </p:sp>
      <p:sp>
        <p:nvSpPr>
          <p:cNvPr id="13" name="Text 11"/>
          <p:cNvSpPr/>
          <p:nvPr/>
        </p:nvSpPr>
        <p:spPr>
          <a:xfrm>
            <a:off x="457200" y="3794760"/>
            <a:ext cx="2468880" cy="548640"/>
          </a:xfrm>
          <a:prstGeom prst="rect">
            <a:avLst/>
          </a:prstGeom>
          <a:noFill/>
          <a:ln/>
        </p:spPr>
        <p:txBody>
          <a:bodyPr wrap="square" lIns="0" tIns="0" rIns="0" bIns="0" rtlCol="0" anchor="ctr"/>
          <a:lstStyle/>
          <a:p>
            <a:pPr algn="ctr" indent="0" marL="0">
              <a:buNone/>
            </a:pPr>
            <a:r>
              <a:rPr lang="en-US" sz="1100" b="1" dirty="0">
                <a:solidFill>
                  <a:srgbClr val="2D2D2D"/>
                </a:solidFill>
                <a:latin typeface="Meiryo" pitchFamily="34" charset="0"/>
                <a:ea typeface="Meiryo" pitchFamily="34" charset="-122"/>
                <a:cs typeface="Meiryo" pitchFamily="34" charset="-120"/>
              </a:rPr>
              <a:t>交通事業者の負担ゼロ</a:t>
            </a:r>
            <a:endParaRPr lang="en-US" sz="1100" dirty="0"/>
          </a:p>
        </p:txBody>
      </p:sp>
      <p:sp>
        <p:nvSpPr>
          <p:cNvPr id="14" name="Shape 12"/>
          <p:cNvSpPr/>
          <p:nvPr/>
        </p:nvSpPr>
        <p:spPr>
          <a:xfrm>
            <a:off x="731520" y="4389120"/>
            <a:ext cx="1920240" cy="0"/>
          </a:xfrm>
          <a:prstGeom prst="line">
            <a:avLst/>
          </a:prstGeom>
          <a:noFill/>
          <a:ln w="6350">
            <a:solidFill>
              <a:srgbClr val="E0E0E0"/>
            </a:solidFill>
            <a:prstDash val="solid"/>
          </a:ln>
        </p:spPr>
      </p:sp>
      <p:sp>
        <p:nvSpPr>
          <p:cNvPr id="15" name="Text 13"/>
          <p:cNvSpPr/>
          <p:nvPr/>
        </p:nvSpPr>
        <p:spPr>
          <a:xfrm>
            <a:off x="457200" y="4526280"/>
            <a:ext cx="2468880" cy="777240"/>
          </a:xfrm>
          <a:prstGeom prst="rect">
            <a:avLst/>
          </a:prstGeom>
          <a:noFill/>
          <a:ln/>
        </p:spPr>
        <p:txBody>
          <a:bodyPr wrap="square" lIns="0" tIns="0" rIns="0" bIns="0" rtlCol="0" anchor="ctr"/>
          <a:lstStyle/>
          <a:p>
            <a:pPr algn="ctr" indent="0" marL="0">
              <a:buNone/>
            </a:pPr>
            <a:r>
              <a:rPr lang="en-US" sz="1000" dirty="0">
                <a:solidFill>
                  <a:srgbClr val="555555"/>
                </a:solidFill>
                <a:latin typeface="Meiryo" pitchFamily="34" charset="0"/>
                <a:ea typeface="Meiryo" pitchFamily="34" charset="-122"/>
                <a:cs typeface="Meiryo" pitchFamily="34" charset="-120"/>
              </a:rPr>
              <a:t>車内へのQRコード設置・シール掲出は一切不可</a:t>
            </a:r>
            <a:endParaRPr lang="en-US" sz="1000" dirty="0"/>
          </a:p>
        </p:txBody>
      </p:sp>
      <p:sp>
        <p:nvSpPr>
          <p:cNvPr id="16" name="Shape 14"/>
          <p:cNvSpPr/>
          <p:nvPr/>
        </p:nvSpPr>
        <p:spPr>
          <a:xfrm>
            <a:off x="3300984" y="2880360"/>
            <a:ext cx="2651760" cy="2560320"/>
          </a:xfrm>
          <a:prstGeom prst="roundRect">
            <a:avLst>
              <a:gd name="adj" fmla="val 2857"/>
            </a:avLst>
          </a:prstGeom>
          <a:solidFill>
            <a:srgbClr val="FAFAFA"/>
          </a:solidFill>
          <a:ln w="12700">
            <a:solidFill>
              <a:srgbClr val="E0E0E0"/>
            </a:solidFill>
            <a:prstDash val="solid"/>
          </a:ln>
        </p:spPr>
      </p:sp>
      <p:sp>
        <p:nvSpPr>
          <p:cNvPr id="17" name="Text 15"/>
          <p:cNvSpPr/>
          <p:nvPr/>
        </p:nvSpPr>
        <p:spPr>
          <a:xfrm>
            <a:off x="3300984" y="3108960"/>
            <a:ext cx="2651760" cy="640080"/>
          </a:xfrm>
          <a:prstGeom prst="rect">
            <a:avLst/>
          </a:prstGeom>
          <a:noFill/>
          <a:ln/>
        </p:spPr>
        <p:txBody>
          <a:bodyPr wrap="square" lIns="0" tIns="0" rIns="0" bIns="0" rtlCol="0" anchor="ctr"/>
          <a:lstStyle/>
          <a:p>
            <a:pPr algn="ctr" indent="0" marL="0">
              <a:buNone/>
            </a:pPr>
            <a:r>
              <a:rPr lang="en-US" sz="2400" dirty="0">
                <a:solidFill>
                  <a:srgbClr val="000000"/>
                </a:solidFill>
                <a:latin typeface="Meiryo" pitchFamily="34" charset="0"/>
                <a:ea typeface="Meiryo" pitchFamily="34" charset="-122"/>
                <a:cs typeface="Meiryo" pitchFamily="34" charset="-120"/>
              </a:rPr>
              <a:t>🛡️</a:t>
            </a:r>
            <a:endParaRPr lang="en-US" sz="2400" dirty="0"/>
          </a:p>
        </p:txBody>
      </p:sp>
      <p:sp>
        <p:nvSpPr>
          <p:cNvPr id="18" name="Text 16"/>
          <p:cNvSpPr/>
          <p:nvPr/>
        </p:nvSpPr>
        <p:spPr>
          <a:xfrm>
            <a:off x="3392424" y="3794760"/>
            <a:ext cx="2468880" cy="548640"/>
          </a:xfrm>
          <a:prstGeom prst="rect">
            <a:avLst/>
          </a:prstGeom>
          <a:noFill/>
          <a:ln/>
        </p:spPr>
        <p:txBody>
          <a:bodyPr wrap="square" lIns="0" tIns="0" rIns="0" bIns="0" rtlCol="0" anchor="ctr"/>
          <a:lstStyle/>
          <a:p>
            <a:pPr algn="ctr" indent="0" marL="0">
              <a:buNone/>
            </a:pPr>
            <a:r>
              <a:rPr lang="en-US" sz="1100" b="1" dirty="0">
                <a:solidFill>
                  <a:srgbClr val="2D2D2D"/>
                </a:solidFill>
                <a:latin typeface="Meiryo" pitchFamily="34" charset="0"/>
                <a:ea typeface="Meiryo" pitchFamily="34" charset="-122"/>
                <a:cs typeface="Meiryo" pitchFamily="34" charset="-120"/>
              </a:rPr>
              <a:t>不正参加の防止</a:t>
            </a:r>
            <a:endParaRPr lang="en-US" sz="1100" dirty="0"/>
          </a:p>
        </p:txBody>
      </p:sp>
      <p:sp>
        <p:nvSpPr>
          <p:cNvPr id="19" name="Shape 17"/>
          <p:cNvSpPr/>
          <p:nvPr/>
        </p:nvSpPr>
        <p:spPr>
          <a:xfrm>
            <a:off x="3666744" y="4389120"/>
            <a:ext cx="1920240" cy="0"/>
          </a:xfrm>
          <a:prstGeom prst="line">
            <a:avLst/>
          </a:prstGeom>
          <a:noFill/>
          <a:ln w="6350">
            <a:solidFill>
              <a:srgbClr val="E0E0E0"/>
            </a:solidFill>
            <a:prstDash val="solid"/>
          </a:ln>
        </p:spPr>
      </p:sp>
      <p:sp>
        <p:nvSpPr>
          <p:cNvPr id="20" name="Text 18"/>
          <p:cNvSpPr/>
          <p:nvPr/>
        </p:nvSpPr>
        <p:spPr>
          <a:xfrm>
            <a:off x="3392424" y="4526280"/>
            <a:ext cx="2468880" cy="777240"/>
          </a:xfrm>
          <a:prstGeom prst="rect">
            <a:avLst/>
          </a:prstGeom>
          <a:noFill/>
          <a:ln/>
        </p:spPr>
        <p:txBody>
          <a:bodyPr wrap="square" lIns="0" tIns="0" rIns="0" bIns="0" rtlCol="0" anchor="ctr"/>
          <a:lstStyle/>
          <a:p>
            <a:pPr algn="ctr" indent="0" marL="0">
              <a:buNone/>
            </a:pPr>
            <a:r>
              <a:rPr lang="en-US" sz="1000" dirty="0">
                <a:solidFill>
                  <a:srgbClr val="555555"/>
                </a:solidFill>
                <a:latin typeface="Meiryo" pitchFamily="34" charset="0"/>
                <a:ea typeface="Meiryo" pitchFamily="34" charset="-122"/>
                <a:cs typeface="Meiryo" pitchFamily="34" charset="-120"/>
              </a:rPr>
              <a:t>車での移動による不正チェックイン排除</a:t>
            </a:r>
            <a:endParaRPr lang="en-US" sz="1000" dirty="0"/>
          </a:p>
        </p:txBody>
      </p:sp>
      <p:sp>
        <p:nvSpPr>
          <p:cNvPr id="21" name="Shape 19"/>
          <p:cNvSpPr/>
          <p:nvPr/>
        </p:nvSpPr>
        <p:spPr>
          <a:xfrm>
            <a:off x="6236208" y="2880360"/>
            <a:ext cx="2651760" cy="2560320"/>
          </a:xfrm>
          <a:prstGeom prst="roundRect">
            <a:avLst>
              <a:gd name="adj" fmla="val 2857"/>
            </a:avLst>
          </a:prstGeom>
          <a:solidFill>
            <a:srgbClr val="FAFAFA"/>
          </a:solidFill>
          <a:ln w="12700">
            <a:solidFill>
              <a:srgbClr val="E0E0E0"/>
            </a:solidFill>
            <a:prstDash val="solid"/>
          </a:ln>
        </p:spPr>
      </p:sp>
      <p:sp>
        <p:nvSpPr>
          <p:cNvPr id="22" name="Text 20"/>
          <p:cNvSpPr/>
          <p:nvPr/>
        </p:nvSpPr>
        <p:spPr>
          <a:xfrm>
            <a:off x="6236208" y="3108960"/>
            <a:ext cx="2651760" cy="640080"/>
          </a:xfrm>
          <a:prstGeom prst="rect">
            <a:avLst/>
          </a:prstGeom>
          <a:noFill/>
          <a:ln/>
        </p:spPr>
        <p:txBody>
          <a:bodyPr wrap="square" lIns="0" tIns="0" rIns="0" bIns="0" rtlCol="0" anchor="ctr"/>
          <a:lstStyle/>
          <a:p>
            <a:pPr algn="ctr" indent="0" marL="0">
              <a:buNone/>
            </a:pPr>
            <a:r>
              <a:rPr lang="en-US" sz="2400" dirty="0">
                <a:solidFill>
                  <a:srgbClr val="000000"/>
                </a:solidFill>
                <a:latin typeface="Meiryo" pitchFamily="34" charset="0"/>
                <a:ea typeface="Meiryo" pitchFamily="34" charset="-122"/>
                <a:cs typeface="Meiryo" pitchFamily="34" charset="-120"/>
              </a:rPr>
              <a:t>📱</a:t>
            </a:r>
            <a:endParaRPr lang="en-US" sz="2400" dirty="0"/>
          </a:p>
        </p:txBody>
      </p:sp>
      <p:sp>
        <p:nvSpPr>
          <p:cNvPr id="23" name="Text 21"/>
          <p:cNvSpPr/>
          <p:nvPr/>
        </p:nvSpPr>
        <p:spPr>
          <a:xfrm>
            <a:off x="6327648" y="3794760"/>
            <a:ext cx="2468880" cy="548640"/>
          </a:xfrm>
          <a:prstGeom prst="rect">
            <a:avLst/>
          </a:prstGeom>
          <a:noFill/>
          <a:ln/>
        </p:spPr>
        <p:txBody>
          <a:bodyPr wrap="square" lIns="0" tIns="0" rIns="0" bIns="0" rtlCol="0" anchor="ctr"/>
          <a:lstStyle/>
          <a:p>
            <a:pPr algn="ctr" indent="0" marL="0">
              <a:buNone/>
            </a:pPr>
            <a:r>
              <a:rPr lang="en-US" sz="1100" b="1" dirty="0">
                <a:solidFill>
                  <a:srgbClr val="2D2D2D"/>
                </a:solidFill>
                <a:latin typeface="Meiryo" pitchFamily="34" charset="0"/>
                <a:ea typeface="Meiryo" pitchFamily="34" charset="-122"/>
                <a:cs typeface="Meiryo" pitchFamily="34" charset="-120"/>
              </a:rPr>
              <a:t>アプリ不要</a:t>
            </a:r>
            <a:endParaRPr lang="en-US" sz="1100" dirty="0"/>
          </a:p>
        </p:txBody>
      </p:sp>
      <p:sp>
        <p:nvSpPr>
          <p:cNvPr id="24" name="Shape 22"/>
          <p:cNvSpPr/>
          <p:nvPr/>
        </p:nvSpPr>
        <p:spPr>
          <a:xfrm>
            <a:off x="6601968" y="4389120"/>
            <a:ext cx="1920240" cy="0"/>
          </a:xfrm>
          <a:prstGeom prst="line">
            <a:avLst/>
          </a:prstGeom>
          <a:noFill/>
          <a:ln w="6350">
            <a:solidFill>
              <a:srgbClr val="E0E0E0"/>
            </a:solidFill>
            <a:prstDash val="solid"/>
          </a:ln>
        </p:spPr>
      </p:sp>
      <p:sp>
        <p:nvSpPr>
          <p:cNvPr id="25" name="Text 23"/>
          <p:cNvSpPr/>
          <p:nvPr/>
        </p:nvSpPr>
        <p:spPr>
          <a:xfrm>
            <a:off x="6327648" y="4526280"/>
            <a:ext cx="2468880" cy="777240"/>
          </a:xfrm>
          <a:prstGeom prst="rect">
            <a:avLst/>
          </a:prstGeom>
          <a:noFill/>
          <a:ln/>
        </p:spPr>
        <p:txBody>
          <a:bodyPr wrap="square" lIns="0" tIns="0" rIns="0" bIns="0" rtlCol="0" anchor="ctr"/>
          <a:lstStyle/>
          <a:p>
            <a:pPr algn="ctr" indent="0" marL="0">
              <a:buNone/>
            </a:pPr>
            <a:r>
              <a:rPr lang="en-US" sz="1000" dirty="0">
                <a:solidFill>
                  <a:srgbClr val="555555"/>
                </a:solidFill>
                <a:latin typeface="Meiryo" pitchFamily="34" charset="0"/>
                <a:ea typeface="Meiryo" pitchFamily="34" charset="-122"/>
                <a:cs typeface="Meiryo" pitchFamily="34" charset="-120"/>
              </a:rPr>
              <a:t>専用アプリDL不要・LINEログインのブラウザ参加</a:t>
            </a:r>
            <a:endParaRPr lang="en-US" sz="1000" dirty="0"/>
          </a:p>
        </p:txBody>
      </p:sp>
      <p:sp>
        <p:nvSpPr>
          <p:cNvPr id="26" name="Shape 24"/>
          <p:cNvSpPr/>
          <p:nvPr/>
        </p:nvSpPr>
        <p:spPr>
          <a:xfrm>
            <a:off x="9171432" y="2880360"/>
            <a:ext cx="2651760" cy="2560320"/>
          </a:xfrm>
          <a:prstGeom prst="roundRect">
            <a:avLst>
              <a:gd name="adj" fmla="val 2857"/>
            </a:avLst>
          </a:prstGeom>
          <a:solidFill>
            <a:srgbClr val="FAFAFA"/>
          </a:solidFill>
          <a:ln w="12700">
            <a:solidFill>
              <a:srgbClr val="E0E0E0"/>
            </a:solidFill>
            <a:prstDash val="solid"/>
          </a:ln>
        </p:spPr>
      </p:sp>
      <p:sp>
        <p:nvSpPr>
          <p:cNvPr id="27" name="Text 25"/>
          <p:cNvSpPr/>
          <p:nvPr/>
        </p:nvSpPr>
        <p:spPr>
          <a:xfrm>
            <a:off x="9171432" y="3108960"/>
            <a:ext cx="2651760" cy="640080"/>
          </a:xfrm>
          <a:prstGeom prst="rect">
            <a:avLst/>
          </a:prstGeom>
          <a:noFill/>
          <a:ln/>
        </p:spPr>
        <p:txBody>
          <a:bodyPr wrap="square" lIns="0" tIns="0" rIns="0" bIns="0" rtlCol="0" anchor="ctr"/>
          <a:lstStyle/>
          <a:p>
            <a:pPr algn="ctr" indent="0" marL="0">
              <a:buNone/>
            </a:pPr>
            <a:r>
              <a:rPr lang="en-US" sz="2400" dirty="0">
                <a:solidFill>
                  <a:srgbClr val="000000"/>
                </a:solidFill>
                <a:latin typeface="Meiryo" pitchFamily="34" charset="0"/>
                <a:ea typeface="Meiryo" pitchFamily="34" charset="-122"/>
                <a:cs typeface="Meiryo" pitchFamily="34" charset="-120"/>
              </a:rPr>
              <a:t>🚕</a:t>
            </a:r>
            <a:endParaRPr lang="en-US" sz="2400" dirty="0"/>
          </a:p>
        </p:txBody>
      </p:sp>
      <p:sp>
        <p:nvSpPr>
          <p:cNvPr id="28" name="Text 26"/>
          <p:cNvSpPr/>
          <p:nvPr/>
        </p:nvSpPr>
        <p:spPr>
          <a:xfrm>
            <a:off x="9262872" y="3794760"/>
            <a:ext cx="2468880" cy="548640"/>
          </a:xfrm>
          <a:prstGeom prst="rect">
            <a:avLst/>
          </a:prstGeom>
          <a:noFill/>
          <a:ln/>
        </p:spPr>
        <p:txBody>
          <a:bodyPr wrap="square" lIns="0" tIns="0" rIns="0" bIns="0" rtlCol="0" anchor="ctr"/>
          <a:lstStyle/>
          <a:p>
            <a:pPr algn="ctr" indent="0" marL="0">
              <a:buNone/>
            </a:pPr>
            <a:r>
              <a:rPr lang="en-US" sz="1100" b="1" dirty="0">
                <a:solidFill>
                  <a:srgbClr val="2D2D2D"/>
                </a:solidFill>
                <a:latin typeface="Meiryo" pitchFamily="34" charset="0"/>
                <a:ea typeface="Meiryo" pitchFamily="34" charset="-122"/>
                <a:cs typeface="Meiryo" pitchFamily="34" charset="-120"/>
              </a:rPr>
              <a:t>タクシーも対象</a:t>
            </a:r>
            <a:endParaRPr lang="en-US" sz="1100" dirty="0"/>
          </a:p>
        </p:txBody>
      </p:sp>
      <p:sp>
        <p:nvSpPr>
          <p:cNvPr id="29" name="Shape 27"/>
          <p:cNvSpPr/>
          <p:nvPr/>
        </p:nvSpPr>
        <p:spPr>
          <a:xfrm>
            <a:off x="9537192" y="4389120"/>
            <a:ext cx="1920240" cy="0"/>
          </a:xfrm>
          <a:prstGeom prst="line">
            <a:avLst/>
          </a:prstGeom>
          <a:noFill/>
          <a:ln w="6350">
            <a:solidFill>
              <a:srgbClr val="E0E0E0"/>
            </a:solidFill>
            <a:prstDash val="solid"/>
          </a:ln>
        </p:spPr>
      </p:sp>
      <p:sp>
        <p:nvSpPr>
          <p:cNvPr id="30" name="Text 28"/>
          <p:cNvSpPr/>
          <p:nvPr/>
        </p:nvSpPr>
        <p:spPr>
          <a:xfrm>
            <a:off x="9262872" y="4526280"/>
            <a:ext cx="2468880" cy="777240"/>
          </a:xfrm>
          <a:prstGeom prst="rect">
            <a:avLst/>
          </a:prstGeom>
          <a:noFill/>
          <a:ln/>
        </p:spPr>
        <p:txBody>
          <a:bodyPr wrap="square" lIns="0" tIns="0" rIns="0" bIns="0" rtlCol="0" anchor="ctr"/>
          <a:lstStyle/>
          <a:p>
            <a:pPr algn="ctr" indent="0" marL="0">
              <a:buNone/>
            </a:pPr>
            <a:r>
              <a:rPr lang="en-US" sz="1000" dirty="0">
                <a:solidFill>
                  <a:srgbClr val="555555"/>
                </a:solidFill>
                <a:latin typeface="Meiryo" pitchFamily="34" charset="0"/>
                <a:ea typeface="Meiryo" pitchFamily="34" charset="-122"/>
                <a:cs typeface="Meiryo" pitchFamily="34" charset="-120"/>
              </a:rPr>
              <a:t>GPSスポット設置不可→レシートOCRで代替判定</a:t>
            </a:r>
            <a:endParaRPr lang="en-US" sz="1000" dirty="0"/>
          </a:p>
        </p:txBody>
      </p:sp>
      <p:sp>
        <p:nvSpPr>
          <p:cNvPr id="31" name="Text 29"/>
          <p:cNvSpPr/>
          <p:nvPr/>
        </p:nvSpPr>
        <p:spPr>
          <a:xfrm>
            <a:off x="365760" y="5623560"/>
            <a:ext cx="11457432" cy="274320"/>
          </a:xfrm>
          <a:prstGeom prst="rect">
            <a:avLst/>
          </a:prstGeom>
          <a:noFill/>
          <a:ln/>
        </p:spPr>
        <p:txBody>
          <a:bodyPr wrap="square" lIns="0" tIns="0" rIns="0" bIns="0" rtlCol="0" anchor="ctr"/>
          <a:lstStyle/>
          <a:p>
            <a:pPr indent="0" marL="0">
              <a:buNone/>
            </a:pPr>
            <a:r>
              <a:rPr lang="en-US" sz="1000" dirty="0">
                <a:solidFill>
                  <a:srgbClr val="666666"/>
                </a:solidFill>
                <a:latin typeface="Meiryo" pitchFamily="34" charset="0"/>
                <a:ea typeface="Meiryo" pitchFamily="34" charset="-122"/>
                <a:cs typeface="Meiryo" pitchFamily="34" charset="-120"/>
              </a:rPr>
              <a:t>対象：バス・電車・路面電車・フェリー（GPS判定）＋ タクシー（レシートOCR判定）</a:t>
            </a:r>
            <a:endParaRPr lang="en-US" sz="1000" dirty="0"/>
          </a:p>
        </p:txBody>
      </p:sp>
      <p:sp>
        <p:nvSpPr>
          <p:cNvPr id="32" name="Text 30"/>
          <p:cNvSpPr/>
          <p:nvPr/>
        </p:nvSpPr>
        <p:spPr>
          <a:xfrm>
            <a:off x="11365992" y="6565392"/>
            <a:ext cx="731520" cy="256032"/>
          </a:xfrm>
          <a:prstGeom prst="rect">
            <a:avLst/>
          </a:prstGeom>
          <a:noFill/>
          <a:ln/>
        </p:spPr>
        <p:txBody>
          <a:bodyPr wrap="square" lIns="0" tIns="0" rIns="0" bIns="0" rtlCol="0" anchor="ctr"/>
          <a:lstStyle/>
          <a:p>
            <a:pPr algn="r" indent="0" marL="0">
              <a:buNone/>
            </a:pPr>
            <a:r>
              <a:rPr lang="en-US" sz="900" dirty="0">
                <a:solidFill>
                  <a:srgbClr val="AAAAAA"/>
                </a:solidFill>
                <a:latin typeface="Meiryo" pitchFamily="34" charset="0"/>
                <a:ea typeface="Meiryo" pitchFamily="34" charset="-122"/>
                <a:cs typeface="Meiryo" pitchFamily="34" charset="-120"/>
              </a:rPr>
              <a:t>1 / 9</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2D2D2D"/>
          </a:solidFill>
          <a:ln/>
        </p:spPr>
      </p:sp>
      <p:sp>
        <p:nvSpPr>
          <p:cNvPr id="3" name="Shape 1"/>
          <p:cNvSpPr/>
          <p:nvPr/>
        </p:nvSpPr>
        <p:spPr>
          <a:xfrm>
            <a:off x="0" y="0"/>
            <a:ext cx="164592" cy="914400"/>
          </a:xfrm>
          <a:prstGeom prst="rect">
            <a:avLst/>
          </a:prstGeom>
          <a:solidFill>
            <a:srgbClr val="E87722"/>
          </a:solidFill>
          <a:ln/>
        </p:spPr>
      </p:sp>
      <p:sp>
        <p:nvSpPr>
          <p:cNvPr id="4" name="Text 2"/>
          <p:cNvSpPr/>
          <p:nvPr/>
        </p:nvSpPr>
        <p:spPr>
          <a:xfrm>
            <a:off x="347472" y="91440"/>
            <a:ext cx="10058400" cy="50292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クライアントの要件</a:t>
            </a:r>
            <a:endParaRPr lang="en-US" sz="2200" dirty="0"/>
          </a:p>
        </p:txBody>
      </p:sp>
      <p:sp>
        <p:nvSpPr>
          <p:cNvPr id="5" name="Text 3"/>
          <p:cNvSpPr/>
          <p:nvPr/>
        </p:nvSpPr>
        <p:spPr>
          <a:xfrm>
            <a:off x="347472" y="576072"/>
            <a:ext cx="10058400" cy="274320"/>
          </a:xfrm>
          <a:prstGeom prst="rect">
            <a:avLst/>
          </a:prstGeom>
          <a:noFill/>
          <a:ln/>
        </p:spPr>
        <p:txBody>
          <a:bodyPr wrap="square" lIns="0" tIns="0" rIns="0" bIns="0" rtlCol="0" anchor="ctr"/>
          <a:lstStyle/>
          <a:p>
            <a:pPr indent="0" marL="0">
              <a:buNone/>
            </a:pPr>
            <a:r>
              <a:rPr lang="en-US" sz="1000" dirty="0">
                <a:solidFill>
                  <a:srgbClr val="BBBBBB"/>
                </a:solidFill>
                <a:latin typeface="Meiryo" pitchFamily="34" charset="0"/>
                <a:ea typeface="Meiryo" pitchFamily="34" charset="-122"/>
                <a:cs typeface="Meiryo" pitchFamily="34" charset="-120"/>
              </a:rPr>
              <a:t>2つの判定ロジック＋その他必須要件</a:t>
            </a:r>
            <a:endParaRPr lang="en-US" sz="1000" dirty="0"/>
          </a:p>
        </p:txBody>
      </p:sp>
      <p:sp>
        <p:nvSpPr>
          <p:cNvPr id="6" name="Text 4"/>
          <p:cNvSpPr/>
          <p:nvPr/>
        </p:nvSpPr>
        <p:spPr>
          <a:xfrm>
            <a:off x="10177272" y="109728"/>
            <a:ext cx="192024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Meiryo" pitchFamily="34" charset="0"/>
                <a:ea typeface="Meiryo" pitchFamily="34" charset="-122"/>
                <a:cs typeface="Meiryo" pitchFamily="34" charset="-120"/>
              </a:rPr>
              <a:t>P2 クライアント要件</a:t>
            </a:r>
            <a:endParaRPr lang="en-US" sz="900" dirty="0"/>
          </a:p>
        </p:txBody>
      </p:sp>
      <p:sp>
        <p:nvSpPr>
          <p:cNvPr id="7" name="Text 5"/>
          <p:cNvSpPr/>
          <p:nvPr/>
        </p:nvSpPr>
        <p:spPr>
          <a:xfrm>
            <a:off x="365760" y="1005840"/>
            <a:ext cx="5486400" cy="320040"/>
          </a:xfrm>
          <a:prstGeom prst="rect">
            <a:avLst/>
          </a:prstGeom>
          <a:noFill/>
          <a:ln/>
        </p:spPr>
        <p:txBody>
          <a:bodyPr wrap="square" lIns="0" tIns="0" rIns="0" bIns="0" rtlCol="0" anchor="ctr"/>
          <a:lstStyle/>
          <a:p>
            <a:pPr indent="0" marL="0">
              <a:buNone/>
            </a:pPr>
            <a:r>
              <a:rPr lang="en-US" sz="1200" b="1" dirty="0">
                <a:solidFill>
                  <a:srgbClr val="2D2D2D"/>
                </a:solidFill>
                <a:latin typeface="Meiryo" pitchFamily="34" charset="0"/>
                <a:ea typeface="Meiryo" pitchFamily="34" charset="-122"/>
                <a:cs typeface="Meiryo" pitchFamily="34" charset="-120"/>
              </a:rPr>
              <a:t>判定ロジック① ｜ 固定路線（GPS）</a:t>
            </a:r>
            <a:endParaRPr lang="en-US" sz="1200" dirty="0"/>
          </a:p>
        </p:txBody>
      </p:sp>
      <p:sp>
        <p:nvSpPr>
          <p:cNvPr id="8" name="Shape 6"/>
          <p:cNvSpPr/>
          <p:nvPr/>
        </p:nvSpPr>
        <p:spPr>
          <a:xfrm>
            <a:off x="365760" y="1371600"/>
            <a:ext cx="5303520" cy="1828800"/>
          </a:xfrm>
          <a:prstGeom prst="roundRect">
            <a:avLst>
              <a:gd name="adj" fmla="val 4000"/>
            </a:avLst>
          </a:prstGeom>
          <a:solidFill>
            <a:srgbClr val="F0FFF4"/>
          </a:solidFill>
          <a:ln w="19050">
            <a:solidFill>
              <a:srgbClr val="4CAF50"/>
            </a:solidFill>
            <a:prstDash val="solid"/>
          </a:ln>
        </p:spPr>
      </p:sp>
      <p:sp>
        <p:nvSpPr>
          <p:cNvPr id="9" name="Text 7"/>
          <p:cNvSpPr/>
          <p:nvPr/>
        </p:nvSpPr>
        <p:spPr>
          <a:xfrm>
            <a:off x="502920" y="1463040"/>
            <a:ext cx="5029200" cy="365760"/>
          </a:xfrm>
          <a:prstGeom prst="rect">
            <a:avLst/>
          </a:prstGeom>
          <a:noFill/>
          <a:ln/>
        </p:spPr>
        <p:txBody>
          <a:bodyPr wrap="square" lIns="0" tIns="0" rIns="0" bIns="0" rtlCol="0" anchor="ctr"/>
          <a:lstStyle/>
          <a:p>
            <a:pPr indent="0" marL="0">
              <a:buNone/>
            </a:pPr>
            <a:r>
              <a:rPr lang="en-US" sz="1200" b="1" dirty="0">
                <a:solidFill>
                  <a:srgbClr val="2E7D32"/>
                </a:solidFill>
                <a:latin typeface="Meiryo" pitchFamily="34" charset="0"/>
                <a:ea typeface="Meiryo" pitchFamily="34" charset="-122"/>
                <a:cs typeface="Meiryo" pitchFamily="34" charset="-120"/>
              </a:rPr>
              <a:t>🚌 GPS 乗降2点チェックイン</a:t>
            </a:r>
            <a:endParaRPr lang="en-US" sz="1200" dirty="0"/>
          </a:p>
        </p:txBody>
      </p:sp>
      <p:sp>
        <p:nvSpPr>
          <p:cNvPr id="10" name="Text 8"/>
          <p:cNvSpPr/>
          <p:nvPr/>
        </p:nvSpPr>
        <p:spPr>
          <a:xfrm>
            <a:off x="502920" y="1874520"/>
            <a:ext cx="5029200" cy="1234440"/>
          </a:xfrm>
          <a:prstGeom prst="rect">
            <a:avLst/>
          </a:prstGeom>
          <a:noFill/>
          <a:ln/>
        </p:spPr>
        <p:txBody>
          <a:bodyPr wrap="square" lIns="0" tIns="0" rIns="0" bIns="0" rtlCol="0" anchor="ctr"/>
          <a:lstStyle/>
          <a:p>
            <a:pPr indent="0" marL="0">
              <a:buNone/>
            </a:pPr>
            <a:r>
              <a:rPr lang="en-US" sz="1050" dirty="0">
                <a:solidFill>
                  <a:srgbClr val="444444"/>
                </a:solidFill>
                <a:latin typeface="Meiryo" pitchFamily="34" charset="0"/>
                <a:ea typeface="Meiryo" pitchFamily="34" charset="-122"/>
                <a:cs typeface="Meiryo" pitchFamily="34" charset="-120"/>
              </a:rPr>
              <a:t>GTFSオープンデータの緯度経度情報をシステムに一括登録し、「乗車地（出発）」と「降車地（到着）」の2箇所でのGPSチェックインをもって1乗車と判定。インターバル制限等で車移動での不正を防ぎたい。</a:t>
            </a:r>
            <a:endParaRPr lang="en-US" sz="1050" dirty="0"/>
          </a:p>
        </p:txBody>
      </p:sp>
      <p:sp>
        <p:nvSpPr>
          <p:cNvPr id="11" name="Shape 9"/>
          <p:cNvSpPr/>
          <p:nvPr/>
        </p:nvSpPr>
        <p:spPr>
          <a:xfrm>
            <a:off x="548640" y="3246120"/>
            <a:ext cx="3474720" cy="475488"/>
          </a:xfrm>
          <a:prstGeom prst="roundRect">
            <a:avLst>
              <a:gd name="adj" fmla="val 11538"/>
            </a:avLst>
          </a:prstGeom>
          <a:solidFill>
            <a:srgbClr val="4CAF50"/>
          </a:solidFill>
          <a:ln w="12700">
            <a:solidFill>
              <a:srgbClr val="4CAF50"/>
            </a:solidFill>
            <a:prstDash val="solid"/>
          </a:ln>
        </p:spPr>
      </p:sp>
      <p:sp>
        <p:nvSpPr>
          <p:cNvPr id="12" name="Text 10"/>
          <p:cNvSpPr/>
          <p:nvPr/>
        </p:nvSpPr>
        <p:spPr>
          <a:xfrm>
            <a:off x="594360" y="3291840"/>
            <a:ext cx="338328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乗車地 GPS取得</a:t>
            </a:r>
            <a:endParaRPr lang="en-US" sz="1000" dirty="0"/>
          </a:p>
        </p:txBody>
      </p:sp>
      <p:sp>
        <p:nvSpPr>
          <p:cNvPr id="13" name="Text 11"/>
          <p:cNvSpPr/>
          <p:nvPr/>
        </p:nvSpPr>
        <p:spPr>
          <a:xfrm>
            <a:off x="1828800" y="3291840"/>
            <a:ext cx="731520" cy="228600"/>
          </a:xfrm>
          <a:prstGeom prst="rect">
            <a:avLst/>
          </a:prstGeom>
          <a:noFill/>
          <a:ln/>
        </p:spPr>
        <p:txBody>
          <a:bodyPr wrap="square" lIns="0" tIns="0" rIns="0" bIns="0" rtlCol="0" anchor="ctr"/>
          <a:lstStyle/>
          <a:p>
            <a:pPr algn="ctr" indent="0" marL="0">
              <a:buNone/>
            </a:pPr>
            <a:r>
              <a:rPr lang="en-US" sz="1200" dirty="0">
                <a:solidFill>
                  <a:srgbClr val="4CAF50"/>
                </a:solidFill>
                <a:latin typeface="Meiryo" pitchFamily="34" charset="0"/>
                <a:ea typeface="Meiryo" pitchFamily="34" charset="-122"/>
                <a:cs typeface="Meiryo" pitchFamily="34" charset="-120"/>
              </a:rPr>
              <a:t>↓</a:t>
            </a:r>
            <a:endParaRPr lang="en-US" sz="1200" dirty="0"/>
          </a:p>
        </p:txBody>
      </p:sp>
      <p:sp>
        <p:nvSpPr>
          <p:cNvPr id="14" name="Shape 12"/>
          <p:cNvSpPr/>
          <p:nvPr/>
        </p:nvSpPr>
        <p:spPr>
          <a:xfrm>
            <a:off x="548640" y="3813048"/>
            <a:ext cx="3474720" cy="475488"/>
          </a:xfrm>
          <a:prstGeom prst="roundRect">
            <a:avLst>
              <a:gd name="adj" fmla="val 11538"/>
            </a:avLst>
          </a:prstGeom>
          <a:solidFill>
            <a:srgbClr val="4CAF50"/>
          </a:solidFill>
          <a:ln w="12700">
            <a:solidFill>
              <a:srgbClr val="4CAF50"/>
            </a:solidFill>
            <a:prstDash val="solid"/>
          </a:ln>
        </p:spPr>
      </p:sp>
      <p:sp>
        <p:nvSpPr>
          <p:cNvPr id="15" name="Text 13"/>
          <p:cNvSpPr/>
          <p:nvPr/>
        </p:nvSpPr>
        <p:spPr>
          <a:xfrm>
            <a:off x="594360" y="3858768"/>
            <a:ext cx="338328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降車地 GPS取得</a:t>
            </a:r>
            <a:endParaRPr lang="en-US" sz="1000" dirty="0"/>
          </a:p>
        </p:txBody>
      </p:sp>
      <p:sp>
        <p:nvSpPr>
          <p:cNvPr id="16" name="Text 14"/>
          <p:cNvSpPr/>
          <p:nvPr/>
        </p:nvSpPr>
        <p:spPr>
          <a:xfrm>
            <a:off x="1828800" y="3291840"/>
            <a:ext cx="731520" cy="228600"/>
          </a:xfrm>
          <a:prstGeom prst="rect">
            <a:avLst/>
          </a:prstGeom>
          <a:noFill/>
          <a:ln/>
        </p:spPr>
        <p:txBody>
          <a:bodyPr wrap="square" lIns="0" tIns="0" rIns="0" bIns="0" rtlCol="0" anchor="ctr"/>
          <a:lstStyle/>
          <a:p>
            <a:pPr algn="ctr" indent="0" marL="0">
              <a:buNone/>
            </a:pPr>
            <a:r>
              <a:rPr lang="en-US" sz="1200" dirty="0">
                <a:solidFill>
                  <a:srgbClr val="4CAF50"/>
                </a:solidFill>
                <a:latin typeface="Meiryo" pitchFamily="34" charset="0"/>
                <a:ea typeface="Meiryo" pitchFamily="34" charset="-122"/>
                <a:cs typeface="Meiryo" pitchFamily="34" charset="-120"/>
              </a:rPr>
              <a:t>↓</a:t>
            </a:r>
            <a:endParaRPr lang="en-US" sz="1200" dirty="0"/>
          </a:p>
        </p:txBody>
      </p:sp>
      <p:sp>
        <p:nvSpPr>
          <p:cNvPr id="17" name="Shape 15"/>
          <p:cNvSpPr/>
          <p:nvPr/>
        </p:nvSpPr>
        <p:spPr>
          <a:xfrm>
            <a:off x="548640" y="4379976"/>
            <a:ext cx="3474720" cy="475488"/>
          </a:xfrm>
          <a:prstGeom prst="roundRect">
            <a:avLst>
              <a:gd name="adj" fmla="val 11538"/>
            </a:avLst>
          </a:prstGeom>
          <a:solidFill>
            <a:srgbClr val="4CAF50"/>
          </a:solidFill>
          <a:ln w="12700">
            <a:solidFill>
              <a:srgbClr val="4CAF50"/>
            </a:solidFill>
            <a:prstDash val="solid"/>
          </a:ln>
        </p:spPr>
      </p:sp>
      <p:sp>
        <p:nvSpPr>
          <p:cNvPr id="18" name="Text 16"/>
          <p:cNvSpPr/>
          <p:nvPr/>
        </p:nvSpPr>
        <p:spPr>
          <a:xfrm>
            <a:off x="594360" y="4425696"/>
            <a:ext cx="338328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ペア成立 1pt付与</a:t>
            </a:r>
            <a:endParaRPr lang="en-US" sz="1000" dirty="0"/>
          </a:p>
        </p:txBody>
      </p:sp>
      <p:sp>
        <p:nvSpPr>
          <p:cNvPr id="19" name="Text 17"/>
          <p:cNvSpPr/>
          <p:nvPr/>
        </p:nvSpPr>
        <p:spPr>
          <a:xfrm>
            <a:off x="6126480" y="1005840"/>
            <a:ext cx="5760720" cy="320040"/>
          </a:xfrm>
          <a:prstGeom prst="rect">
            <a:avLst/>
          </a:prstGeom>
          <a:noFill/>
          <a:ln/>
        </p:spPr>
        <p:txBody>
          <a:bodyPr wrap="square" lIns="0" tIns="0" rIns="0" bIns="0" rtlCol="0" anchor="ctr"/>
          <a:lstStyle/>
          <a:p>
            <a:pPr indent="0" marL="0">
              <a:buNone/>
            </a:pPr>
            <a:r>
              <a:rPr lang="en-US" sz="1200" b="1" dirty="0">
                <a:solidFill>
                  <a:srgbClr val="2D2D2D"/>
                </a:solidFill>
                <a:latin typeface="Meiryo" pitchFamily="34" charset="0"/>
                <a:ea typeface="Meiryo" pitchFamily="34" charset="-122"/>
                <a:cs typeface="Meiryo" pitchFamily="34" charset="-120"/>
              </a:rPr>
              <a:t>判定ロジック② ｜ 自由路線（タクシー）</a:t>
            </a:r>
            <a:endParaRPr lang="en-US" sz="1200" dirty="0"/>
          </a:p>
        </p:txBody>
      </p:sp>
      <p:sp>
        <p:nvSpPr>
          <p:cNvPr id="20" name="Shape 18"/>
          <p:cNvSpPr/>
          <p:nvPr/>
        </p:nvSpPr>
        <p:spPr>
          <a:xfrm>
            <a:off x="6126480" y="1371600"/>
            <a:ext cx="5696712" cy="1828800"/>
          </a:xfrm>
          <a:prstGeom prst="roundRect">
            <a:avLst>
              <a:gd name="adj" fmla="val 4000"/>
            </a:avLst>
          </a:prstGeom>
          <a:solidFill>
            <a:srgbClr val="EEF2FF"/>
          </a:solidFill>
          <a:ln w="19050">
            <a:solidFill>
              <a:srgbClr val="6366F1"/>
            </a:solidFill>
            <a:prstDash val="solid"/>
          </a:ln>
        </p:spPr>
      </p:sp>
      <p:sp>
        <p:nvSpPr>
          <p:cNvPr id="21" name="Text 19"/>
          <p:cNvSpPr/>
          <p:nvPr/>
        </p:nvSpPr>
        <p:spPr>
          <a:xfrm>
            <a:off x="6263640" y="1463040"/>
            <a:ext cx="5394960" cy="365760"/>
          </a:xfrm>
          <a:prstGeom prst="rect">
            <a:avLst/>
          </a:prstGeom>
          <a:noFill/>
          <a:ln/>
        </p:spPr>
        <p:txBody>
          <a:bodyPr wrap="square" lIns="0" tIns="0" rIns="0" bIns="0" rtlCol="0" anchor="ctr"/>
          <a:lstStyle/>
          <a:p>
            <a:pPr indent="0" marL="0">
              <a:buNone/>
            </a:pPr>
            <a:r>
              <a:rPr lang="en-US" sz="1200" b="1" dirty="0">
                <a:solidFill>
                  <a:srgbClr val="4338CA"/>
                </a:solidFill>
                <a:latin typeface="Meiryo" pitchFamily="34" charset="0"/>
                <a:ea typeface="Meiryo" pitchFamily="34" charset="-122"/>
                <a:cs typeface="Meiryo" pitchFamily="34" charset="-120"/>
              </a:rPr>
              <a:t>🚕 レシートOCR 判定</a:t>
            </a:r>
            <a:endParaRPr lang="en-US" sz="1200" dirty="0"/>
          </a:p>
        </p:txBody>
      </p:sp>
      <p:sp>
        <p:nvSpPr>
          <p:cNvPr id="22" name="Text 20"/>
          <p:cNvSpPr/>
          <p:nvPr/>
        </p:nvSpPr>
        <p:spPr>
          <a:xfrm>
            <a:off x="6263640" y="1874520"/>
            <a:ext cx="5394960" cy="1234440"/>
          </a:xfrm>
          <a:prstGeom prst="rect">
            <a:avLst/>
          </a:prstGeom>
          <a:noFill/>
          <a:ln/>
        </p:spPr>
        <p:txBody>
          <a:bodyPr wrap="square" lIns="0" tIns="0" rIns="0" bIns="0" rtlCol="0" anchor="ctr"/>
          <a:lstStyle/>
          <a:p>
            <a:pPr indent="0" marL="0">
              <a:buNone/>
            </a:pPr>
            <a:r>
              <a:rPr lang="en-US" sz="1050" dirty="0">
                <a:solidFill>
                  <a:srgbClr val="444444"/>
                </a:solidFill>
                <a:latin typeface="Meiryo" pitchFamily="34" charset="0"/>
                <a:ea typeface="Meiryo" pitchFamily="34" charset="-122"/>
                <a:cs typeface="Meiryo" pitchFamily="34" charset="-120"/>
              </a:rPr>
              <a:t>GPSスポットの設定ができないため、降車時の「レシート画像アップロード（OCR解析・重複チェック）」をもって1乗車と判定。</a:t>
            </a:r>
            <a:endParaRPr lang="en-US" sz="1050" dirty="0"/>
          </a:p>
        </p:txBody>
      </p:sp>
      <p:sp>
        <p:nvSpPr>
          <p:cNvPr id="23" name="Shape 21"/>
          <p:cNvSpPr/>
          <p:nvPr/>
        </p:nvSpPr>
        <p:spPr>
          <a:xfrm>
            <a:off x="6126480" y="3246120"/>
            <a:ext cx="1325880" cy="640080"/>
          </a:xfrm>
          <a:prstGeom prst="roundRect">
            <a:avLst>
              <a:gd name="adj" fmla="val 8571"/>
            </a:avLst>
          </a:prstGeom>
          <a:solidFill>
            <a:srgbClr val="6366F1"/>
          </a:solidFill>
          <a:ln w="12700">
            <a:solidFill>
              <a:srgbClr val="6366F1"/>
            </a:solidFill>
            <a:prstDash val="solid"/>
          </a:ln>
        </p:spPr>
      </p:sp>
      <p:sp>
        <p:nvSpPr>
          <p:cNvPr id="24" name="Text 22"/>
          <p:cNvSpPr/>
          <p:nvPr/>
        </p:nvSpPr>
        <p:spPr>
          <a:xfrm>
            <a:off x="6126480" y="3273552"/>
            <a:ext cx="1325880" cy="5852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レシート撮影 ・アップロード</a:t>
            </a:r>
            <a:endParaRPr lang="en-US" sz="900" dirty="0"/>
          </a:p>
        </p:txBody>
      </p:sp>
      <p:sp>
        <p:nvSpPr>
          <p:cNvPr id="25" name="Text 23"/>
          <p:cNvSpPr/>
          <p:nvPr/>
        </p:nvSpPr>
        <p:spPr>
          <a:xfrm>
            <a:off x="7470648" y="3364992"/>
            <a:ext cx="118872" cy="274320"/>
          </a:xfrm>
          <a:prstGeom prst="rect">
            <a:avLst/>
          </a:prstGeom>
          <a:noFill/>
          <a:ln/>
        </p:spPr>
        <p:txBody>
          <a:bodyPr wrap="square" lIns="0" tIns="0" rIns="0" bIns="0" rtlCol="0" anchor="ctr"/>
          <a:lstStyle/>
          <a:p>
            <a:pPr indent="0" marL="0">
              <a:buNone/>
            </a:pPr>
            <a:r>
              <a:rPr lang="en-US" sz="1000" dirty="0">
                <a:solidFill>
                  <a:srgbClr val="888888"/>
                </a:solidFill>
                <a:latin typeface="Meiryo" pitchFamily="34" charset="0"/>
                <a:ea typeface="Meiryo" pitchFamily="34" charset="-122"/>
                <a:cs typeface="Meiryo" pitchFamily="34" charset="-120"/>
              </a:rPr>
              <a:t>→</a:t>
            </a:r>
            <a:endParaRPr lang="en-US" sz="1000" dirty="0"/>
          </a:p>
        </p:txBody>
      </p:sp>
      <p:sp>
        <p:nvSpPr>
          <p:cNvPr id="26" name="Shape 24"/>
          <p:cNvSpPr/>
          <p:nvPr/>
        </p:nvSpPr>
        <p:spPr>
          <a:xfrm>
            <a:off x="7607808" y="3246120"/>
            <a:ext cx="1325880" cy="640080"/>
          </a:xfrm>
          <a:prstGeom prst="roundRect">
            <a:avLst>
              <a:gd name="adj" fmla="val 8571"/>
            </a:avLst>
          </a:prstGeom>
          <a:solidFill>
            <a:srgbClr val="6366F1"/>
          </a:solidFill>
          <a:ln w="12700">
            <a:solidFill>
              <a:srgbClr val="6366F1"/>
            </a:solidFill>
            <a:prstDash val="solid"/>
          </a:ln>
        </p:spPr>
      </p:sp>
      <p:sp>
        <p:nvSpPr>
          <p:cNvPr id="27" name="Text 25"/>
          <p:cNvSpPr/>
          <p:nvPr/>
        </p:nvSpPr>
        <p:spPr>
          <a:xfrm>
            <a:off x="7607808" y="3273552"/>
            <a:ext cx="1325880" cy="5852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OCR自動判定</a:t>
            </a:r>
            <a:endParaRPr lang="en-US" sz="900" dirty="0"/>
          </a:p>
        </p:txBody>
      </p:sp>
      <p:sp>
        <p:nvSpPr>
          <p:cNvPr id="28" name="Text 26"/>
          <p:cNvSpPr/>
          <p:nvPr/>
        </p:nvSpPr>
        <p:spPr>
          <a:xfrm>
            <a:off x="8951976" y="3364992"/>
            <a:ext cx="118872" cy="274320"/>
          </a:xfrm>
          <a:prstGeom prst="rect">
            <a:avLst/>
          </a:prstGeom>
          <a:noFill/>
          <a:ln/>
        </p:spPr>
        <p:txBody>
          <a:bodyPr wrap="square" lIns="0" tIns="0" rIns="0" bIns="0" rtlCol="0" anchor="ctr"/>
          <a:lstStyle/>
          <a:p>
            <a:pPr indent="0" marL="0">
              <a:buNone/>
            </a:pPr>
            <a:r>
              <a:rPr lang="en-US" sz="1000" dirty="0">
                <a:solidFill>
                  <a:srgbClr val="888888"/>
                </a:solidFill>
                <a:latin typeface="Meiryo" pitchFamily="34" charset="0"/>
                <a:ea typeface="Meiryo" pitchFamily="34" charset="-122"/>
                <a:cs typeface="Meiryo" pitchFamily="34" charset="-120"/>
              </a:rPr>
              <a:t>→</a:t>
            </a:r>
            <a:endParaRPr lang="en-US" sz="1000" dirty="0"/>
          </a:p>
        </p:txBody>
      </p:sp>
      <p:sp>
        <p:nvSpPr>
          <p:cNvPr id="29" name="Shape 27"/>
          <p:cNvSpPr/>
          <p:nvPr/>
        </p:nvSpPr>
        <p:spPr>
          <a:xfrm>
            <a:off x="9089136" y="3246120"/>
            <a:ext cx="1325880" cy="640080"/>
          </a:xfrm>
          <a:prstGeom prst="roundRect">
            <a:avLst>
              <a:gd name="adj" fmla="val 8571"/>
            </a:avLst>
          </a:prstGeom>
          <a:solidFill>
            <a:srgbClr val="6366F1"/>
          </a:solidFill>
          <a:ln w="12700">
            <a:solidFill>
              <a:srgbClr val="6366F1"/>
            </a:solidFill>
            <a:prstDash val="solid"/>
          </a:ln>
        </p:spPr>
      </p:sp>
      <p:sp>
        <p:nvSpPr>
          <p:cNvPr id="30" name="Text 28"/>
          <p:cNvSpPr/>
          <p:nvPr/>
        </p:nvSpPr>
        <p:spPr>
          <a:xfrm>
            <a:off x="9089136" y="3273552"/>
            <a:ext cx="1325880" cy="5852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事務局審査 （日次）</a:t>
            </a:r>
            <a:endParaRPr lang="en-US" sz="900" dirty="0"/>
          </a:p>
        </p:txBody>
      </p:sp>
      <p:sp>
        <p:nvSpPr>
          <p:cNvPr id="31" name="Text 29"/>
          <p:cNvSpPr/>
          <p:nvPr/>
        </p:nvSpPr>
        <p:spPr>
          <a:xfrm>
            <a:off x="10433304" y="3364992"/>
            <a:ext cx="118872" cy="274320"/>
          </a:xfrm>
          <a:prstGeom prst="rect">
            <a:avLst/>
          </a:prstGeom>
          <a:noFill/>
          <a:ln/>
        </p:spPr>
        <p:txBody>
          <a:bodyPr wrap="square" lIns="0" tIns="0" rIns="0" bIns="0" rtlCol="0" anchor="ctr"/>
          <a:lstStyle/>
          <a:p>
            <a:pPr indent="0" marL="0">
              <a:buNone/>
            </a:pPr>
            <a:r>
              <a:rPr lang="en-US" sz="1000" dirty="0">
                <a:solidFill>
                  <a:srgbClr val="888888"/>
                </a:solidFill>
                <a:latin typeface="Meiryo" pitchFamily="34" charset="0"/>
                <a:ea typeface="Meiryo" pitchFamily="34" charset="-122"/>
                <a:cs typeface="Meiryo" pitchFamily="34" charset="-120"/>
              </a:rPr>
              <a:t>→</a:t>
            </a:r>
            <a:endParaRPr lang="en-US" sz="1000" dirty="0"/>
          </a:p>
        </p:txBody>
      </p:sp>
      <p:sp>
        <p:nvSpPr>
          <p:cNvPr id="32" name="Shape 30"/>
          <p:cNvSpPr/>
          <p:nvPr/>
        </p:nvSpPr>
        <p:spPr>
          <a:xfrm>
            <a:off x="10570464" y="3246120"/>
            <a:ext cx="1325880" cy="640080"/>
          </a:xfrm>
          <a:prstGeom prst="roundRect">
            <a:avLst>
              <a:gd name="adj" fmla="val 8571"/>
            </a:avLst>
          </a:prstGeom>
          <a:solidFill>
            <a:srgbClr val="6366F1"/>
          </a:solidFill>
          <a:ln w="12700">
            <a:solidFill>
              <a:srgbClr val="6366F1"/>
            </a:solidFill>
            <a:prstDash val="solid"/>
          </a:ln>
        </p:spPr>
      </p:sp>
      <p:sp>
        <p:nvSpPr>
          <p:cNvPr id="33" name="Text 31"/>
          <p:cNvSpPr/>
          <p:nvPr/>
        </p:nvSpPr>
        <p:spPr>
          <a:xfrm>
            <a:off x="10570464" y="3273552"/>
            <a:ext cx="1325880" cy="5852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承認→ 1pt付与</a:t>
            </a:r>
            <a:endParaRPr lang="en-US" sz="900" dirty="0"/>
          </a:p>
        </p:txBody>
      </p:sp>
      <p:sp>
        <p:nvSpPr>
          <p:cNvPr id="34" name="Text 32"/>
          <p:cNvSpPr/>
          <p:nvPr/>
        </p:nvSpPr>
        <p:spPr>
          <a:xfrm>
            <a:off x="365760" y="4160520"/>
            <a:ext cx="10972800" cy="292608"/>
          </a:xfrm>
          <a:prstGeom prst="rect">
            <a:avLst/>
          </a:prstGeom>
          <a:noFill/>
          <a:ln/>
        </p:spPr>
        <p:txBody>
          <a:bodyPr wrap="square" lIns="0" tIns="0" rIns="0" bIns="0" rtlCol="0" anchor="ctr"/>
          <a:lstStyle/>
          <a:p>
            <a:pPr indent="0" marL="0">
              <a:buNone/>
            </a:pPr>
            <a:r>
              <a:rPr lang="en-US" sz="1200" b="1" dirty="0">
                <a:solidFill>
                  <a:srgbClr val="2D2D2D"/>
                </a:solidFill>
                <a:latin typeface="Meiryo" pitchFamily="34" charset="0"/>
                <a:ea typeface="Meiryo" pitchFamily="34" charset="-122"/>
                <a:cs typeface="Meiryo" pitchFamily="34" charset="-120"/>
              </a:rPr>
              <a:t>その他要件</a:t>
            </a:r>
            <a:endParaRPr lang="en-US" sz="1200" dirty="0"/>
          </a:p>
        </p:txBody>
      </p:sp>
      <p:sp>
        <p:nvSpPr>
          <p:cNvPr id="35" name="Shape 33"/>
          <p:cNvSpPr/>
          <p:nvPr/>
        </p:nvSpPr>
        <p:spPr>
          <a:xfrm>
            <a:off x="365760" y="4526280"/>
            <a:ext cx="5394960" cy="411480"/>
          </a:xfrm>
          <a:prstGeom prst="rect">
            <a:avLst/>
          </a:prstGeom>
          <a:solidFill>
            <a:srgbClr val="F5F5F5"/>
          </a:solidFill>
          <a:ln w="6350">
            <a:solidFill>
              <a:srgbClr val="E8E8E8"/>
            </a:solidFill>
            <a:prstDash val="solid"/>
          </a:ln>
        </p:spPr>
      </p:sp>
      <p:sp>
        <p:nvSpPr>
          <p:cNvPr id="36" name="Text 34"/>
          <p:cNvSpPr/>
          <p:nvPr/>
        </p:nvSpPr>
        <p:spPr>
          <a:xfrm>
            <a:off x="457200" y="4581144"/>
            <a:ext cx="521208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 ポイント蓄積 → 賞品応募（または即時抽選）まで一気通貫</a:t>
            </a:r>
            <a:endParaRPr lang="en-US" sz="1000" dirty="0"/>
          </a:p>
        </p:txBody>
      </p:sp>
      <p:sp>
        <p:nvSpPr>
          <p:cNvPr id="37" name="Shape 35"/>
          <p:cNvSpPr/>
          <p:nvPr/>
        </p:nvSpPr>
        <p:spPr>
          <a:xfrm>
            <a:off x="6126480" y="4526280"/>
            <a:ext cx="5394960" cy="411480"/>
          </a:xfrm>
          <a:prstGeom prst="rect">
            <a:avLst/>
          </a:prstGeom>
          <a:solidFill>
            <a:srgbClr val="F5F5F5"/>
          </a:solidFill>
          <a:ln w="6350">
            <a:solidFill>
              <a:srgbClr val="E8E8E8"/>
            </a:solidFill>
            <a:prstDash val="solid"/>
          </a:ln>
        </p:spPr>
      </p:sp>
      <p:sp>
        <p:nvSpPr>
          <p:cNvPr id="38" name="Text 36"/>
          <p:cNvSpPr/>
          <p:nvPr/>
        </p:nvSpPr>
        <p:spPr>
          <a:xfrm>
            <a:off x="6217920" y="4581144"/>
            <a:ext cx="521208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 個人情報のセキュアな取得</a:t>
            </a:r>
            <a:endParaRPr lang="en-US" sz="1000" dirty="0"/>
          </a:p>
        </p:txBody>
      </p:sp>
      <p:sp>
        <p:nvSpPr>
          <p:cNvPr id="39" name="Shape 37"/>
          <p:cNvSpPr/>
          <p:nvPr/>
        </p:nvSpPr>
        <p:spPr>
          <a:xfrm>
            <a:off x="365760" y="5029200"/>
            <a:ext cx="5394960" cy="411480"/>
          </a:xfrm>
          <a:prstGeom prst="rect">
            <a:avLst/>
          </a:prstGeom>
          <a:solidFill>
            <a:srgbClr val="F5F5F5"/>
          </a:solidFill>
          <a:ln w="6350">
            <a:solidFill>
              <a:srgbClr val="E8E8E8"/>
            </a:solidFill>
            <a:prstDash val="solid"/>
          </a:ln>
        </p:spPr>
      </p:sp>
      <p:sp>
        <p:nvSpPr>
          <p:cNvPr id="40" name="Text 38"/>
          <p:cNvSpPr/>
          <p:nvPr/>
        </p:nvSpPr>
        <p:spPr>
          <a:xfrm>
            <a:off x="457200" y="5084064"/>
            <a:ext cx="521208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 GTFSデータの一括取り込み可否を確認したい</a:t>
            </a:r>
            <a:endParaRPr lang="en-US" sz="1000" dirty="0"/>
          </a:p>
        </p:txBody>
      </p:sp>
      <p:sp>
        <p:nvSpPr>
          <p:cNvPr id="41" name="Shape 39"/>
          <p:cNvSpPr/>
          <p:nvPr/>
        </p:nvSpPr>
        <p:spPr>
          <a:xfrm>
            <a:off x="6126480" y="5029200"/>
            <a:ext cx="5394960" cy="411480"/>
          </a:xfrm>
          <a:prstGeom prst="rect">
            <a:avLst/>
          </a:prstGeom>
          <a:solidFill>
            <a:srgbClr val="FFF3E0"/>
          </a:solidFill>
          <a:ln w="6350">
            <a:solidFill>
              <a:srgbClr val="E8E8E8"/>
            </a:solidFill>
            <a:prstDash val="solid"/>
          </a:ln>
        </p:spPr>
      </p:sp>
      <p:sp>
        <p:nvSpPr>
          <p:cNvPr id="42" name="Text 40"/>
          <p:cNvSpPr/>
          <p:nvPr/>
        </p:nvSpPr>
        <p:spPr>
          <a:xfrm>
            <a:off x="6217920" y="5084064"/>
            <a:ext cx="5212080" cy="292608"/>
          </a:xfrm>
          <a:prstGeom prst="rect">
            <a:avLst/>
          </a:prstGeom>
          <a:noFill/>
          <a:ln/>
        </p:spPr>
        <p:txBody>
          <a:bodyPr wrap="square" lIns="0" tIns="0" rIns="0" bIns="0" rtlCol="0" anchor="ctr"/>
          <a:lstStyle/>
          <a:p>
            <a:pPr indent="0" marL="0">
              <a:buNone/>
            </a:pPr>
            <a:r>
              <a:rPr lang="en-US" sz="1000" dirty="0">
                <a:solidFill>
                  <a:srgbClr val="E87722"/>
                </a:solidFill>
                <a:latin typeface="Meiryo" pitchFamily="34" charset="0"/>
                <a:ea typeface="Meiryo" pitchFamily="34" charset="-122"/>
                <a:cs typeface="Meiryo" pitchFamily="34" charset="-120"/>
              </a:rPr>
              <a:t>⚡ コンペ参加案件のため競合他社との差別化が必要</a:t>
            </a:r>
            <a:endParaRPr lang="en-US" sz="1000" dirty="0"/>
          </a:p>
        </p:txBody>
      </p:sp>
      <p:sp>
        <p:nvSpPr>
          <p:cNvPr id="43" name="Text 41"/>
          <p:cNvSpPr/>
          <p:nvPr/>
        </p:nvSpPr>
        <p:spPr>
          <a:xfrm>
            <a:off x="11365992" y="6565392"/>
            <a:ext cx="731520" cy="256032"/>
          </a:xfrm>
          <a:prstGeom prst="rect">
            <a:avLst/>
          </a:prstGeom>
          <a:noFill/>
          <a:ln/>
        </p:spPr>
        <p:txBody>
          <a:bodyPr wrap="square" lIns="0" tIns="0" rIns="0" bIns="0" rtlCol="0" anchor="ctr"/>
          <a:lstStyle/>
          <a:p>
            <a:pPr algn="r" indent="0" marL="0">
              <a:buNone/>
            </a:pPr>
            <a:r>
              <a:rPr lang="en-US" sz="900" dirty="0">
                <a:solidFill>
                  <a:srgbClr val="AAAAAA"/>
                </a:solidFill>
                <a:latin typeface="Meiryo" pitchFamily="34" charset="0"/>
                <a:ea typeface="Meiryo" pitchFamily="34" charset="-122"/>
                <a:cs typeface="Meiryo" pitchFamily="34" charset="-120"/>
              </a:rPr>
              <a:t>2 / 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2D2D2D"/>
          </a:solidFill>
          <a:ln/>
        </p:spPr>
      </p:sp>
      <p:sp>
        <p:nvSpPr>
          <p:cNvPr id="3" name="Shape 1"/>
          <p:cNvSpPr/>
          <p:nvPr/>
        </p:nvSpPr>
        <p:spPr>
          <a:xfrm>
            <a:off x="0" y="0"/>
            <a:ext cx="164592" cy="914400"/>
          </a:xfrm>
          <a:prstGeom prst="rect">
            <a:avLst/>
          </a:prstGeom>
          <a:solidFill>
            <a:srgbClr val="E87722"/>
          </a:solidFill>
          <a:ln/>
        </p:spPr>
      </p:sp>
      <p:sp>
        <p:nvSpPr>
          <p:cNvPr id="4" name="Text 2"/>
          <p:cNvSpPr/>
          <p:nvPr/>
        </p:nvSpPr>
        <p:spPr>
          <a:xfrm>
            <a:off x="347472" y="91440"/>
            <a:ext cx="10058400" cy="50292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提案方針</a:t>
            </a:r>
            <a:endParaRPr lang="en-US" sz="2200" dirty="0"/>
          </a:p>
        </p:txBody>
      </p:sp>
      <p:sp>
        <p:nvSpPr>
          <p:cNvPr id="5" name="Text 3"/>
          <p:cNvSpPr/>
          <p:nvPr/>
        </p:nvSpPr>
        <p:spPr>
          <a:xfrm>
            <a:off x="347472" y="576072"/>
            <a:ext cx="10058400" cy="274320"/>
          </a:xfrm>
          <a:prstGeom prst="rect">
            <a:avLst/>
          </a:prstGeom>
          <a:noFill/>
          <a:ln/>
        </p:spPr>
        <p:txBody>
          <a:bodyPr wrap="square" lIns="0" tIns="0" rIns="0" bIns="0" rtlCol="0" anchor="ctr"/>
          <a:lstStyle/>
          <a:p>
            <a:pPr indent="0" marL="0">
              <a:buNone/>
            </a:pPr>
            <a:r>
              <a:rPr lang="en-US" sz="1000" dirty="0">
                <a:solidFill>
                  <a:srgbClr val="BBBBBB"/>
                </a:solidFill>
                <a:latin typeface="Meiryo" pitchFamily="34" charset="0"/>
                <a:ea typeface="Meiryo" pitchFamily="34" charset="-122"/>
                <a:cs typeface="Meiryo" pitchFamily="34" charset="-120"/>
              </a:rPr>
              <a:t>SmartStampCard × SmartRecieco｜3段階プランで柔軟対応</a:t>
            </a:r>
            <a:endParaRPr lang="en-US" sz="1000" dirty="0"/>
          </a:p>
        </p:txBody>
      </p:sp>
      <p:sp>
        <p:nvSpPr>
          <p:cNvPr id="6" name="Text 4"/>
          <p:cNvSpPr/>
          <p:nvPr/>
        </p:nvSpPr>
        <p:spPr>
          <a:xfrm>
            <a:off x="10177272" y="109728"/>
            <a:ext cx="192024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Meiryo" pitchFamily="34" charset="0"/>
                <a:ea typeface="Meiryo" pitchFamily="34" charset="-122"/>
                <a:cs typeface="Meiryo" pitchFamily="34" charset="-120"/>
              </a:rPr>
              <a:t>P3 提案方針</a:t>
            </a:r>
            <a:endParaRPr lang="en-US" sz="900" dirty="0"/>
          </a:p>
        </p:txBody>
      </p:sp>
      <p:sp>
        <p:nvSpPr>
          <p:cNvPr id="7" name="Shape 5"/>
          <p:cNvSpPr/>
          <p:nvPr/>
        </p:nvSpPr>
        <p:spPr>
          <a:xfrm>
            <a:off x="365760" y="987552"/>
            <a:ext cx="11457432" cy="502920"/>
          </a:xfrm>
          <a:prstGeom prst="rect">
            <a:avLst/>
          </a:prstGeom>
          <a:solidFill>
            <a:srgbClr val="FFF8F0"/>
          </a:solidFill>
          <a:ln w="12700">
            <a:solidFill>
              <a:srgbClr val="E87722"/>
            </a:solidFill>
            <a:prstDash val="solid"/>
          </a:ln>
        </p:spPr>
      </p:sp>
      <p:sp>
        <p:nvSpPr>
          <p:cNvPr id="8" name="Text 6"/>
          <p:cNvSpPr/>
          <p:nvPr/>
        </p:nvSpPr>
        <p:spPr>
          <a:xfrm>
            <a:off x="502920" y="1060704"/>
            <a:ext cx="11155680" cy="365760"/>
          </a:xfrm>
          <a:prstGeom prst="rect">
            <a:avLst/>
          </a:prstGeom>
          <a:noFill/>
          <a:ln/>
        </p:spPr>
        <p:txBody>
          <a:bodyPr wrap="square" lIns="0" tIns="0" rIns="0" bIns="0" rtlCol="0" anchor="ctr"/>
          <a:lstStyle/>
          <a:p>
            <a:pPr indent="0" marL="0">
              <a:buNone/>
            </a:pPr>
            <a:r>
              <a:rPr lang="en-US" sz="1100" i="1" dirty="0">
                <a:solidFill>
                  <a:srgbClr val="7A4200"/>
                </a:solidFill>
                <a:latin typeface="Meiryo" pitchFamily="34" charset="0"/>
                <a:ea typeface="Meiryo" pitchFamily="34" charset="-122"/>
                <a:cs typeface="Meiryo" pitchFamily="34" charset="-120"/>
              </a:rPr>
              <a:t>「要件を100%満たせなくても、目的（公共交通利用促進）を達成できる提案をする」</a:t>
            </a:r>
            <a:endParaRPr lang="en-US" sz="1100" dirty="0"/>
          </a:p>
        </p:txBody>
      </p:sp>
      <p:sp>
        <p:nvSpPr>
          <p:cNvPr id="9" name="Text 7"/>
          <p:cNvSpPr/>
          <p:nvPr/>
        </p:nvSpPr>
        <p:spPr>
          <a:xfrm>
            <a:off x="365760" y="1627632"/>
            <a:ext cx="5029200" cy="292608"/>
          </a:xfrm>
          <a:prstGeom prst="rect">
            <a:avLst/>
          </a:prstGeom>
          <a:noFill/>
          <a:ln/>
        </p:spPr>
        <p:txBody>
          <a:bodyPr wrap="square" lIns="0" tIns="0" rIns="0" bIns="0" rtlCol="0" anchor="ctr"/>
          <a:lstStyle/>
          <a:p>
            <a:pPr indent="0" marL="0">
              <a:buNone/>
            </a:pPr>
            <a:r>
              <a:rPr lang="en-US" sz="1200" b="1" dirty="0">
                <a:solidFill>
                  <a:srgbClr val="2D2D2D"/>
                </a:solidFill>
                <a:latin typeface="Meiryo" pitchFamily="34" charset="0"/>
                <a:ea typeface="Meiryo" pitchFamily="34" charset="-122"/>
                <a:cs typeface="Meiryo" pitchFamily="34" charset="-120"/>
              </a:rPr>
              <a:t>プロダクト選定</a:t>
            </a:r>
            <a:endParaRPr lang="en-US" sz="1200" dirty="0"/>
          </a:p>
        </p:txBody>
      </p:sp>
      <p:sp>
        <p:nvSpPr>
          <p:cNvPr id="10" name="Shape 8"/>
          <p:cNvSpPr/>
          <p:nvPr/>
        </p:nvSpPr>
        <p:spPr>
          <a:xfrm>
            <a:off x="365760" y="1993392"/>
            <a:ext cx="5029200" cy="1188720"/>
          </a:xfrm>
          <a:prstGeom prst="roundRect">
            <a:avLst>
              <a:gd name="adj" fmla="val 6154"/>
            </a:avLst>
          </a:prstGeom>
          <a:solidFill>
            <a:srgbClr val="FFF8F0"/>
          </a:solidFill>
          <a:ln w="19050">
            <a:solidFill>
              <a:srgbClr val="E87722"/>
            </a:solidFill>
            <a:prstDash val="solid"/>
          </a:ln>
        </p:spPr>
      </p:sp>
      <p:sp>
        <p:nvSpPr>
          <p:cNvPr id="11" name="Text 9"/>
          <p:cNvSpPr/>
          <p:nvPr/>
        </p:nvSpPr>
        <p:spPr>
          <a:xfrm>
            <a:off x="502920" y="2084832"/>
            <a:ext cx="4754880" cy="320040"/>
          </a:xfrm>
          <a:prstGeom prst="rect">
            <a:avLst/>
          </a:prstGeom>
          <a:noFill/>
          <a:ln/>
        </p:spPr>
        <p:txBody>
          <a:bodyPr wrap="square" lIns="0" tIns="0" rIns="0" bIns="0" rtlCol="0" anchor="ctr"/>
          <a:lstStyle/>
          <a:p>
            <a:pPr indent="0" marL="0">
              <a:buNone/>
            </a:pPr>
            <a:r>
              <a:rPr lang="en-US" sz="1100" b="1" dirty="0">
                <a:solidFill>
                  <a:srgbClr val="E87722"/>
                </a:solidFill>
                <a:latin typeface="Meiryo" pitchFamily="34" charset="0"/>
                <a:ea typeface="Meiryo" pitchFamily="34" charset="-122"/>
                <a:cs typeface="Meiryo" pitchFamily="34" charset="-120"/>
              </a:rPr>
              <a:t>SmartStampCard（スタンダード）</a:t>
            </a:r>
            <a:endParaRPr lang="en-US" sz="1100" dirty="0"/>
          </a:p>
        </p:txBody>
      </p:sp>
      <p:sp>
        <p:nvSpPr>
          <p:cNvPr id="12" name="Text 10"/>
          <p:cNvSpPr/>
          <p:nvPr/>
        </p:nvSpPr>
        <p:spPr>
          <a:xfrm>
            <a:off x="548640" y="2432304"/>
            <a:ext cx="4663440" cy="237744"/>
          </a:xfrm>
          <a:prstGeom prst="rect">
            <a:avLst/>
          </a:prstGeom>
          <a:noFill/>
          <a:ln/>
        </p:spPr>
        <p:txBody>
          <a:bodyPr wrap="square" lIns="0" tIns="0" rIns="0" bIns="0" rtlCol="0" anchor="ctr"/>
          <a:lstStyle/>
          <a:p>
            <a:pPr indent="0" marL="0">
              <a:buNone/>
            </a:pPr>
            <a:r>
              <a:rPr lang="en-US" sz="950" dirty="0">
                <a:solidFill>
                  <a:srgbClr val="444444"/>
                </a:solidFill>
                <a:latin typeface="Meiryo" pitchFamily="34" charset="0"/>
                <a:ea typeface="Meiryo" pitchFamily="34" charset="-122"/>
                <a:cs typeface="Meiryo" pitchFamily="34" charset="-120"/>
              </a:rPr>
              <a:t>• GPS乗降2点チェックイン → 固定路線の乗車判定</a:t>
            </a:r>
            <a:endParaRPr lang="en-US" sz="950" dirty="0"/>
          </a:p>
        </p:txBody>
      </p:sp>
      <p:sp>
        <p:nvSpPr>
          <p:cNvPr id="13" name="Text 11"/>
          <p:cNvSpPr/>
          <p:nvPr/>
        </p:nvSpPr>
        <p:spPr>
          <a:xfrm>
            <a:off x="548640" y="2688336"/>
            <a:ext cx="4663440" cy="237744"/>
          </a:xfrm>
          <a:prstGeom prst="rect">
            <a:avLst/>
          </a:prstGeom>
          <a:noFill/>
          <a:ln/>
        </p:spPr>
        <p:txBody>
          <a:bodyPr wrap="square" lIns="0" tIns="0" rIns="0" bIns="0" rtlCol="0" anchor="ctr"/>
          <a:lstStyle/>
          <a:p>
            <a:pPr indent="0" marL="0">
              <a:buNone/>
            </a:pPr>
            <a:r>
              <a:rPr lang="en-US" sz="950" dirty="0">
                <a:solidFill>
                  <a:srgbClr val="444444"/>
                </a:solidFill>
                <a:latin typeface="Meiryo" pitchFamily="34" charset="0"/>
                <a:ea typeface="Meiryo" pitchFamily="34" charset="-122"/>
                <a:cs typeface="Meiryo" pitchFamily="34" charset="-120"/>
              </a:rPr>
              <a:t>• マイレージ機能（OP） → ポイント累積・賞品応募</a:t>
            </a:r>
            <a:endParaRPr lang="en-US" sz="950" dirty="0"/>
          </a:p>
        </p:txBody>
      </p:sp>
      <p:sp>
        <p:nvSpPr>
          <p:cNvPr id="14" name="Text 12"/>
          <p:cNvSpPr/>
          <p:nvPr/>
        </p:nvSpPr>
        <p:spPr>
          <a:xfrm>
            <a:off x="548640" y="2944368"/>
            <a:ext cx="4663440" cy="237744"/>
          </a:xfrm>
          <a:prstGeom prst="rect">
            <a:avLst/>
          </a:prstGeom>
          <a:noFill/>
          <a:ln/>
        </p:spPr>
        <p:txBody>
          <a:bodyPr wrap="square" lIns="0" tIns="0" rIns="0" bIns="0" rtlCol="0" anchor="ctr"/>
          <a:lstStyle/>
          <a:p>
            <a:pPr indent="0" marL="0">
              <a:buNone/>
            </a:pPr>
            <a:r>
              <a:rPr lang="en-US" sz="950" dirty="0">
                <a:solidFill>
                  <a:srgbClr val="444444"/>
                </a:solidFill>
                <a:latin typeface="Meiryo" pitchFamily="34" charset="0"/>
                <a:ea typeface="Meiryo" pitchFamily="34" charset="-122"/>
                <a:cs typeface="Meiryo" pitchFamily="34" charset="-120"/>
              </a:rPr>
              <a:t>• LINEログイン（OP） → ブラウザ参加・認証基盤</a:t>
            </a:r>
            <a:endParaRPr lang="en-US" sz="950" dirty="0"/>
          </a:p>
        </p:txBody>
      </p:sp>
      <p:sp>
        <p:nvSpPr>
          <p:cNvPr id="15" name="Shape 13"/>
          <p:cNvSpPr/>
          <p:nvPr/>
        </p:nvSpPr>
        <p:spPr>
          <a:xfrm>
            <a:off x="365760" y="3319272"/>
            <a:ext cx="5029200" cy="1188720"/>
          </a:xfrm>
          <a:prstGeom prst="roundRect">
            <a:avLst>
              <a:gd name="adj" fmla="val 6154"/>
            </a:avLst>
          </a:prstGeom>
          <a:solidFill>
            <a:srgbClr val="EEF2FF"/>
          </a:solidFill>
          <a:ln w="19050">
            <a:solidFill>
              <a:srgbClr val="1D4ED8"/>
            </a:solidFill>
            <a:prstDash val="solid"/>
          </a:ln>
        </p:spPr>
      </p:sp>
      <p:sp>
        <p:nvSpPr>
          <p:cNvPr id="16" name="Text 14"/>
          <p:cNvSpPr/>
          <p:nvPr/>
        </p:nvSpPr>
        <p:spPr>
          <a:xfrm>
            <a:off x="502920" y="3410712"/>
            <a:ext cx="4754880" cy="320040"/>
          </a:xfrm>
          <a:prstGeom prst="rect">
            <a:avLst/>
          </a:prstGeom>
          <a:noFill/>
          <a:ln/>
        </p:spPr>
        <p:txBody>
          <a:bodyPr wrap="square" lIns="0" tIns="0" rIns="0" bIns="0" rtlCol="0" anchor="ctr"/>
          <a:lstStyle/>
          <a:p>
            <a:pPr indent="0" marL="0">
              <a:buNone/>
            </a:pPr>
            <a:r>
              <a:rPr lang="en-US" sz="1100" b="1" dirty="0">
                <a:solidFill>
                  <a:srgbClr val="1D4ED8"/>
                </a:solidFill>
                <a:latin typeface="Meiryo" pitchFamily="34" charset="0"/>
                <a:ea typeface="Meiryo" pitchFamily="34" charset="-122"/>
                <a:cs typeface="Meiryo" pitchFamily="34" charset="-120"/>
              </a:rPr>
              <a:t>SmartRecieco（WEB版 マイレージ＋LINE OP）</a:t>
            </a:r>
            <a:endParaRPr lang="en-US" sz="1100" dirty="0"/>
          </a:p>
        </p:txBody>
      </p:sp>
      <p:sp>
        <p:nvSpPr>
          <p:cNvPr id="17" name="Text 15"/>
          <p:cNvSpPr/>
          <p:nvPr/>
        </p:nvSpPr>
        <p:spPr>
          <a:xfrm>
            <a:off x="548640" y="3758184"/>
            <a:ext cx="4663440" cy="237744"/>
          </a:xfrm>
          <a:prstGeom prst="rect">
            <a:avLst/>
          </a:prstGeom>
          <a:noFill/>
          <a:ln/>
        </p:spPr>
        <p:txBody>
          <a:bodyPr wrap="square" lIns="0" tIns="0" rIns="0" bIns="0" rtlCol="0" anchor="ctr"/>
          <a:lstStyle/>
          <a:p>
            <a:pPr indent="0" marL="0">
              <a:buNone/>
            </a:pPr>
            <a:r>
              <a:rPr lang="en-US" sz="950" dirty="0">
                <a:solidFill>
                  <a:srgbClr val="444444"/>
                </a:solidFill>
                <a:latin typeface="Meiryo" pitchFamily="34" charset="0"/>
                <a:ea typeface="Meiryo" pitchFamily="34" charset="-122"/>
                <a:cs typeface="Meiryo" pitchFamily="34" charset="-120"/>
              </a:rPr>
              <a:t>• OCR自動審査 → タクシー領収書の乗車判定</a:t>
            </a:r>
            <a:endParaRPr lang="en-US" sz="950" dirty="0"/>
          </a:p>
        </p:txBody>
      </p:sp>
      <p:sp>
        <p:nvSpPr>
          <p:cNvPr id="18" name="Text 16"/>
          <p:cNvSpPr/>
          <p:nvPr/>
        </p:nvSpPr>
        <p:spPr>
          <a:xfrm>
            <a:off x="548640" y="4014216"/>
            <a:ext cx="4663440" cy="237744"/>
          </a:xfrm>
          <a:prstGeom prst="rect">
            <a:avLst/>
          </a:prstGeom>
          <a:noFill/>
          <a:ln/>
        </p:spPr>
        <p:txBody>
          <a:bodyPr wrap="square" lIns="0" tIns="0" rIns="0" bIns="0" rtlCol="0" anchor="ctr"/>
          <a:lstStyle/>
          <a:p>
            <a:pPr indent="0" marL="0">
              <a:buNone/>
            </a:pPr>
            <a:r>
              <a:rPr lang="en-US" sz="950" dirty="0">
                <a:solidFill>
                  <a:srgbClr val="444444"/>
                </a:solidFill>
                <a:latin typeface="Meiryo" pitchFamily="34" charset="0"/>
                <a:ea typeface="Meiryo" pitchFamily="34" charset="-122"/>
                <a:cs typeface="Meiryo" pitchFamily="34" charset="-120"/>
              </a:rPr>
              <a:t>• 事務局日次審査 → 重複・不正チェック</a:t>
            </a:r>
            <a:endParaRPr lang="en-US" sz="950" dirty="0"/>
          </a:p>
        </p:txBody>
      </p:sp>
      <p:sp>
        <p:nvSpPr>
          <p:cNvPr id="19" name="Shape 17"/>
          <p:cNvSpPr/>
          <p:nvPr/>
        </p:nvSpPr>
        <p:spPr>
          <a:xfrm>
            <a:off x="365760" y="4663440"/>
            <a:ext cx="5029200" cy="347472"/>
          </a:xfrm>
          <a:prstGeom prst="rect">
            <a:avLst/>
          </a:prstGeom>
          <a:solidFill>
            <a:srgbClr val="E8F5E9"/>
          </a:solidFill>
          <a:ln w="12700">
            <a:solidFill>
              <a:srgbClr val="4CAF50"/>
            </a:solidFill>
            <a:prstDash val="solid"/>
          </a:ln>
        </p:spPr>
      </p:sp>
      <p:sp>
        <p:nvSpPr>
          <p:cNvPr id="20" name="Text 18"/>
          <p:cNvSpPr/>
          <p:nvPr/>
        </p:nvSpPr>
        <p:spPr>
          <a:xfrm>
            <a:off x="502920" y="4727448"/>
            <a:ext cx="4754880" cy="256032"/>
          </a:xfrm>
          <a:prstGeom prst="rect">
            <a:avLst/>
          </a:prstGeom>
          <a:noFill/>
          <a:ln/>
        </p:spPr>
        <p:txBody>
          <a:bodyPr wrap="square" lIns="0" tIns="0" rIns="0" bIns="0" rtlCol="0" anchor="ctr"/>
          <a:lstStyle/>
          <a:p>
            <a:pPr indent="0" marL="0">
              <a:buNone/>
            </a:pPr>
            <a:r>
              <a:rPr lang="en-US" sz="950" dirty="0">
                <a:solidFill>
                  <a:srgbClr val="2E7D32"/>
                </a:solidFill>
                <a:latin typeface="Meiryo" pitchFamily="34" charset="0"/>
                <a:ea typeface="Meiryo" pitchFamily="34" charset="-122"/>
                <a:cs typeface="Meiryo" pitchFamily="34" charset="-120"/>
              </a:rPr>
              <a:t>🔗 連携：Receico承認 → Cardポイント加算（カスタム開発・B-02）</a:t>
            </a:r>
            <a:endParaRPr lang="en-US" sz="950" dirty="0"/>
          </a:p>
        </p:txBody>
      </p:sp>
      <p:sp>
        <p:nvSpPr>
          <p:cNvPr id="21" name="Text 19"/>
          <p:cNvSpPr/>
          <p:nvPr/>
        </p:nvSpPr>
        <p:spPr>
          <a:xfrm>
            <a:off x="5760720" y="1627632"/>
            <a:ext cx="6035040" cy="292608"/>
          </a:xfrm>
          <a:prstGeom prst="rect">
            <a:avLst/>
          </a:prstGeom>
          <a:noFill/>
          <a:ln/>
        </p:spPr>
        <p:txBody>
          <a:bodyPr wrap="square" lIns="0" tIns="0" rIns="0" bIns="0" rtlCol="0" anchor="ctr"/>
          <a:lstStyle/>
          <a:p>
            <a:pPr indent="0" marL="0">
              <a:buNone/>
            </a:pPr>
            <a:r>
              <a:rPr lang="en-US" sz="1200" b="1" dirty="0">
                <a:solidFill>
                  <a:srgbClr val="2D2D2D"/>
                </a:solidFill>
                <a:latin typeface="Meiryo" pitchFamily="34" charset="0"/>
                <a:ea typeface="Meiryo" pitchFamily="34" charset="-122"/>
                <a:cs typeface="Meiryo" pitchFamily="34" charset="-120"/>
              </a:rPr>
              <a:t>3段階プラン</a:t>
            </a:r>
            <a:endParaRPr lang="en-US" sz="1200" dirty="0"/>
          </a:p>
        </p:txBody>
      </p:sp>
      <p:sp>
        <p:nvSpPr>
          <p:cNvPr id="22" name="Shape 20"/>
          <p:cNvSpPr/>
          <p:nvPr/>
        </p:nvSpPr>
        <p:spPr>
          <a:xfrm>
            <a:off x="5760720" y="1993392"/>
            <a:ext cx="1874520" cy="3108960"/>
          </a:xfrm>
          <a:prstGeom prst="roundRect">
            <a:avLst>
              <a:gd name="adj" fmla="val 4878"/>
            </a:avLst>
          </a:prstGeom>
          <a:solidFill>
            <a:srgbClr val="F5F5F5"/>
          </a:solidFill>
          <a:ln w="12700">
            <a:solidFill>
              <a:srgbClr val="CCCCCC"/>
            </a:solidFill>
            <a:prstDash val="solid"/>
          </a:ln>
        </p:spPr>
      </p:sp>
      <p:sp>
        <p:nvSpPr>
          <p:cNvPr id="23" name="Text 21"/>
          <p:cNvSpPr/>
          <p:nvPr/>
        </p:nvSpPr>
        <p:spPr>
          <a:xfrm>
            <a:off x="5806440" y="2130552"/>
            <a:ext cx="1783080" cy="411480"/>
          </a:xfrm>
          <a:prstGeom prst="rect">
            <a:avLst/>
          </a:prstGeom>
          <a:noFill/>
          <a:ln/>
        </p:spPr>
        <p:txBody>
          <a:bodyPr wrap="square" lIns="0" tIns="0" rIns="0" bIns="0" rtlCol="0" anchor="ctr"/>
          <a:lstStyle/>
          <a:p>
            <a:pPr algn="ctr" indent="0" marL="0">
              <a:buNone/>
            </a:pPr>
            <a:r>
              <a:rPr lang="en-US" sz="1300" b="1" dirty="0">
                <a:solidFill>
                  <a:srgbClr val="555555"/>
                </a:solidFill>
                <a:latin typeface="Meiryo" pitchFamily="34" charset="0"/>
                <a:ea typeface="Meiryo" pitchFamily="34" charset="-122"/>
                <a:cs typeface="Meiryo" pitchFamily="34" charset="-120"/>
              </a:rPr>
              <a:t>標準プラン</a:t>
            </a:r>
            <a:endParaRPr lang="en-US" sz="1300" dirty="0"/>
          </a:p>
        </p:txBody>
      </p:sp>
      <p:sp>
        <p:nvSpPr>
          <p:cNvPr id="24" name="Text 22"/>
          <p:cNvSpPr/>
          <p:nvPr/>
        </p:nvSpPr>
        <p:spPr>
          <a:xfrm>
            <a:off x="5806440" y="2587752"/>
            <a:ext cx="1783080" cy="457200"/>
          </a:xfrm>
          <a:prstGeom prst="rect">
            <a:avLst/>
          </a:prstGeom>
          <a:noFill/>
          <a:ln/>
        </p:spPr>
        <p:txBody>
          <a:bodyPr wrap="square" lIns="0" tIns="0" rIns="0" bIns="0" rtlCol="0" anchor="ctr"/>
          <a:lstStyle/>
          <a:p>
            <a:pPr algn="ctr" indent="0" marL="0">
              <a:buNone/>
            </a:pPr>
            <a:r>
              <a:rPr lang="en-US" sz="950" dirty="0">
                <a:solidFill>
                  <a:srgbClr val="888888"/>
                </a:solidFill>
                <a:latin typeface="Meiryo" pitchFamily="34" charset="0"/>
                <a:ea typeface="Meiryo" pitchFamily="34" charset="-122"/>
                <a:cs typeface="Meiryo" pitchFamily="34" charset="-120"/>
              </a:rPr>
              <a:t>初期25万〜 / 月3万〜</a:t>
            </a:r>
            <a:endParaRPr lang="en-US" sz="950" dirty="0"/>
          </a:p>
        </p:txBody>
      </p:sp>
      <p:sp>
        <p:nvSpPr>
          <p:cNvPr id="25" name="Shape 23"/>
          <p:cNvSpPr/>
          <p:nvPr/>
        </p:nvSpPr>
        <p:spPr>
          <a:xfrm>
            <a:off x="7690104" y="1993392"/>
            <a:ext cx="1874520" cy="3108960"/>
          </a:xfrm>
          <a:prstGeom prst="roundRect">
            <a:avLst>
              <a:gd name="adj" fmla="val 4878"/>
            </a:avLst>
          </a:prstGeom>
          <a:solidFill>
            <a:srgbClr val="FFF8F0"/>
          </a:solidFill>
          <a:ln w="25400">
            <a:solidFill>
              <a:srgbClr val="E87722"/>
            </a:solidFill>
            <a:prstDash val="solid"/>
          </a:ln>
        </p:spPr>
      </p:sp>
      <p:sp>
        <p:nvSpPr>
          <p:cNvPr id="26" name="Text 24"/>
          <p:cNvSpPr/>
          <p:nvPr/>
        </p:nvSpPr>
        <p:spPr>
          <a:xfrm>
            <a:off x="8055864" y="1810512"/>
            <a:ext cx="1143000" cy="237744"/>
          </a:xfrm>
          <a:prstGeom prst="rect">
            <a:avLst/>
          </a:prstGeom>
          <a:solidFill>
            <a:srgbClr val="E87722"/>
          </a:solidFill>
          <a:ln/>
        </p:spPr>
        <p:txBody>
          <a:bodyPr wrap="square" lIns="25400" tIns="25400" rIns="25400" bIns="2540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 推奨</a:t>
            </a:r>
            <a:endParaRPr lang="en-US" sz="900" dirty="0"/>
          </a:p>
        </p:txBody>
      </p:sp>
      <p:sp>
        <p:nvSpPr>
          <p:cNvPr id="27" name="Text 25"/>
          <p:cNvSpPr/>
          <p:nvPr/>
        </p:nvSpPr>
        <p:spPr>
          <a:xfrm>
            <a:off x="7735824" y="2130552"/>
            <a:ext cx="1783080" cy="411480"/>
          </a:xfrm>
          <a:prstGeom prst="rect">
            <a:avLst/>
          </a:prstGeom>
          <a:noFill/>
          <a:ln/>
        </p:spPr>
        <p:txBody>
          <a:bodyPr wrap="square" lIns="0" tIns="0" rIns="0" bIns="0" rtlCol="0" anchor="ctr"/>
          <a:lstStyle/>
          <a:p>
            <a:pPr algn="ctr" indent="0" marL="0">
              <a:buNone/>
            </a:pPr>
            <a:r>
              <a:rPr lang="en-US" sz="1300" b="1" dirty="0">
                <a:solidFill>
                  <a:srgbClr val="E87722"/>
                </a:solidFill>
                <a:latin typeface="Meiryo" pitchFamily="34" charset="0"/>
                <a:ea typeface="Meiryo" pitchFamily="34" charset="-122"/>
                <a:cs typeface="Meiryo" pitchFamily="34" charset="-120"/>
              </a:rPr>
              <a:t>推奨プラン</a:t>
            </a:r>
            <a:endParaRPr lang="en-US" sz="1300" dirty="0"/>
          </a:p>
        </p:txBody>
      </p:sp>
      <p:sp>
        <p:nvSpPr>
          <p:cNvPr id="28" name="Text 26"/>
          <p:cNvSpPr/>
          <p:nvPr/>
        </p:nvSpPr>
        <p:spPr>
          <a:xfrm>
            <a:off x="7735824" y="2587752"/>
            <a:ext cx="1783080" cy="457200"/>
          </a:xfrm>
          <a:prstGeom prst="rect">
            <a:avLst/>
          </a:prstGeom>
          <a:noFill/>
          <a:ln/>
        </p:spPr>
        <p:txBody>
          <a:bodyPr wrap="square" lIns="0" tIns="0" rIns="0" bIns="0" rtlCol="0" anchor="ctr"/>
          <a:lstStyle/>
          <a:p>
            <a:pPr algn="ctr" indent="0" marL="0">
              <a:buNone/>
            </a:pPr>
            <a:r>
              <a:rPr lang="en-US" sz="950" dirty="0">
                <a:solidFill>
                  <a:srgbClr val="888888"/>
                </a:solidFill>
                <a:latin typeface="Meiryo" pitchFamily="34" charset="0"/>
                <a:ea typeface="Meiryo" pitchFamily="34" charset="-122"/>
                <a:cs typeface="Meiryo" pitchFamily="34" charset="-120"/>
              </a:rPr>
              <a:t>初期65万〜 / 月5万〜</a:t>
            </a:r>
            <a:endParaRPr lang="en-US" sz="950" dirty="0"/>
          </a:p>
        </p:txBody>
      </p:sp>
      <p:sp>
        <p:nvSpPr>
          <p:cNvPr id="29" name="Shape 27"/>
          <p:cNvSpPr/>
          <p:nvPr/>
        </p:nvSpPr>
        <p:spPr>
          <a:xfrm>
            <a:off x="9619488" y="1993392"/>
            <a:ext cx="1874520" cy="3108960"/>
          </a:xfrm>
          <a:prstGeom prst="roundRect">
            <a:avLst>
              <a:gd name="adj" fmla="val 4878"/>
            </a:avLst>
          </a:prstGeom>
          <a:solidFill>
            <a:srgbClr val="F5F5F5"/>
          </a:solidFill>
          <a:ln w="12700">
            <a:solidFill>
              <a:srgbClr val="CCCCCC"/>
            </a:solidFill>
            <a:prstDash val="solid"/>
          </a:ln>
        </p:spPr>
      </p:sp>
      <p:sp>
        <p:nvSpPr>
          <p:cNvPr id="30" name="Text 28"/>
          <p:cNvSpPr/>
          <p:nvPr/>
        </p:nvSpPr>
        <p:spPr>
          <a:xfrm>
            <a:off x="9665208" y="2130552"/>
            <a:ext cx="1783080" cy="411480"/>
          </a:xfrm>
          <a:prstGeom prst="rect">
            <a:avLst/>
          </a:prstGeom>
          <a:noFill/>
          <a:ln/>
        </p:spPr>
        <p:txBody>
          <a:bodyPr wrap="square" lIns="0" tIns="0" rIns="0" bIns="0" rtlCol="0" anchor="ctr"/>
          <a:lstStyle/>
          <a:p>
            <a:pPr algn="ctr" indent="0" marL="0">
              <a:buNone/>
            </a:pPr>
            <a:r>
              <a:rPr lang="en-US" sz="1300" b="1" dirty="0">
                <a:solidFill>
                  <a:srgbClr val="555555"/>
                </a:solidFill>
                <a:latin typeface="Meiryo" pitchFamily="34" charset="0"/>
                <a:ea typeface="Meiryo" pitchFamily="34" charset="-122"/>
                <a:cs typeface="Meiryo" pitchFamily="34" charset="-120"/>
              </a:rPr>
              <a:t>フルカスタム</a:t>
            </a:r>
            <a:endParaRPr lang="en-US" sz="1300" dirty="0"/>
          </a:p>
        </p:txBody>
      </p:sp>
      <p:sp>
        <p:nvSpPr>
          <p:cNvPr id="31" name="Text 29"/>
          <p:cNvSpPr/>
          <p:nvPr/>
        </p:nvSpPr>
        <p:spPr>
          <a:xfrm>
            <a:off x="9665208" y="2587752"/>
            <a:ext cx="1783080" cy="457200"/>
          </a:xfrm>
          <a:prstGeom prst="rect">
            <a:avLst/>
          </a:prstGeom>
          <a:noFill/>
          <a:ln/>
        </p:spPr>
        <p:txBody>
          <a:bodyPr wrap="square" lIns="0" tIns="0" rIns="0" bIns="0" rtlCol="0" anchor="ctr"/>
          <a:lstStyle/>
          <a:p>
            <a:pPr algn="ctr" indent="0" marL="0">
              <a:buNone/>
            </a:pPr>
            <a:r>
              <a:rPr lang="en-US" sz="950" dirty="0">
                <a:solidFill>
                  <a:srgbClr val="888888"/>
                </a:solidFill>
                <a:latin typeface="Meiryo" pitchFamily="34" charset="0"/>
                <a:ea typeface="Meiryo" pitchFamily="34" charset="-122"/>
                <a:cs typeface="Meiryo" pitchFamily="34" charset="-120"/>
              </a:rPr>
              <a:t>要相談</a:t>
            </a:r>
            <a:endParaRPr lang="en-US" sz="950" dirty="0"/>
          </a:p>
        </p:txBody>
      </p:sp>
      <p:sp>
        <p:nvSpPr>
          <p:cNvPr id="32" name="Text 30"/>
          <p:cNvSpPr/>
          <p:nvPr/>
        </p:nvSpPr>
        <p:spPr>
          <a:xfrm>
            <a:off x="5760720" y="5257800"/>
            <a:ext cx="6035040" cy="292608"/>
          </a:xfrm>
          <a:prstGeom prst="rect">
            <a:avLst/>
          </a:prstGeom>
          <a:noFill/>
          <a:ln/>
        </p:spPr>
        <p:txBody>
          <a:bodyPr wrap="square" lIns="0" tIns="0" rIns="0" bIns="0" rtlCol="0" anchor="ctr"/>
          <a:lstStyle/>
          <a:p>
            <a:pPr indent="0" marL="0">
              <a:buNone/>
            </a:pPr>
            <a:r>
              <a:rPr lang="en-US" sz="1200" b="1" dirty="0">
                <a:solidFill>
                  <a:srgbClr val="2D2D2D"/>
                </a:solidFill>
                <a:latin typeface="Meiryo" pitchFamily="34" charset="0"/>
                <a:ea typeface="Meiryo" pitchFamily="34" charset="-122"/>
                <a:cs typeface="Meiryo" pitchFamily="34" charset="-120"/>
              </a:rPr>
              <a:t>コンペ戦略</a:t>
            </a:r>
            <a:endParaRPr lang="en-US" sz="1200" dirty="0"/>
          </a:p>
        </p:txBody>
      </p:sp>
      <p:sp>
        <p:nvSpPr>
          <p:cNvPr id="33" name="Text 31"/>
          <p:cNvSpPr/>
          <p:nvPr/>
        </p:nvSpPr>
        <p:spPr>
          <a:xfrm>
            <a:off x="5760720" y="5577840"/>
            <a:ext cx="6035040" cy="347472"/>
          </a:xfrm>
          <a:prstGeom prst="rect">
            <a:avLst/>
          </a:prstGeom>
          <a:noFill/>
          <a:ln/>
        </p:spPr>
        <p:txBody>
          <a:bodyPr wrap="square" lIns="0" tIns="0" rIns="0" bIns="0" rtlCol="0" anchor="ctr"/>
          <a:lstStyle/>
          <a:p>
            <a:pPr indent="0" marL="0">
              <a:buNone/>
            </a:pPr>
            <a:r>
              <a:rPr lang="en-US" sz="1000" dirty="0">
                <a:solidFill>
                  <a:srgbClr val="444444"/>
                </a:solidFill>
                <a:latin typeface="Meiryo" pitchFamily="34" charset="0"/>
                <a:ea typeface="Meiryo" pitchFamily="34" charset="-122"/>
                <a:cs typeface="Meiryo" pitchFamily="34" charset="-120"/>
              </a:rPr>
              <a:t>▶ 行政案件は「スケジュール確実性」と「費用の透明性」が刺さる</a:t>
            </a:r>
            <a:endParaRPr lang="en-US" sz="1000" dirty="0"/>
          </a:p>
        </p:txBody>
      </p:sp>
      <p:sp>
        <p:nvSpPr>
          <p:cNvPr id="34" name="Text 32"/>
          <p:cNvSpPr/>
          <p:nvPr/>
        </p:nvSpPr>
        <p:spPr>
          <a:xfrm>
            <a:off x="5760720" y="5980176"/>
            <a:ext cx="6035040" cy="347472"/>
          </a:xfrm>
          <a:prstGeom prst="rect">
            <a:avLst/>
          </a:prstGeom>
          <a:noFill/>
          <a:ln/>
        </p:spPr>
        <p:txBody>
          <a:bodyPr wrap="square" lIns="0" tIns="0" rIns="0" bIns="0" rtlCol="0" anchor="ctr"/>
          <a:lstStyle/>
          <a:p>
            <a:pPr indent="0" marL="0">
              <a:buNone/>
            </a:pPr>
            <a:r>
              <a:rPr lang="en-US" sz="1000" dirty="0">
                <a:solidFill>
                  <a:srgbClr val="444444"/>
                </a:solidFill>
                <a:latin typeface="Meiryo" pitchFamily="34" charset="0"/>
                <a:ea typeface="Meiryo" pitchFamily="34" charset="-122"/>
                <a:cs typeface="Meiryo" pitchFamily="34" charset="-120"/>
              </a:rPr>
              <a:t>▶ Ph.1 MVP（早期稼働）→ Ph.2 GTFS完全版のフェーズ提案</a:t>
            </a:r>
            <a:endParaRPr lang="en-US" sz="1000" dirty="0"/>
          </a:p>
        </p:txBody>
      </p:sp>
      <p:sp>
        <p:nvSpPr>
          <p:cNvPr id="35" name="Text 33"/>
          <p:cNvSpPr/>
          <p:nvPr/>
        </p:nvSpPr>
        <p:spPr>
          <a:xfrm>
            <a:off x="11365992" y="6565392"/>
            <a:ext cx="731520" cy="256032"/>
          </a:xfrm>
          <a:prstGeom prst="rect">
            <a:avLst/>
          </a:prstGeom>
          <a:noFill/>
          <a:ln/>
        </p:spPr>
        <p:txBody>
          <a:bodyPr wrap="square" lIns="0" tIns="0" rIns="0" bIns="0" rtlCol="0" anchor="ctr"/>
          <a:lstStyle/>
          <a:p>
            <a:pPr algn="r" indent="0" marL="0">
              <a:buNone/>
            </a:pPr>
            <a:r>
              <a:rPr lang="en-US" sz="900" dirty="0">
                <a:solidFill>
                  <a:srgbClr val="AAAAAA"/>
                </a:solidFill>
                <a:latin typeface="Meiryo" pitchFamily="34" charset="0"/>
                <a:ea typeface="Meiryo" pitchFamily="34" charset="-122"/>
                <a:cs typeface="Meiryo" pitchFamily="34" charset="-120"/>
              </a:rPr>
              <a:t>3 / 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2D2D2D"/>
          </a:solidFill>
          <a:ln/>
        </p:spPr>
      </p:sp>
      <p:sp>
        <p:nvSpPr>
          <p:cNvPr id="3" name="Shape 1"/>
          <p:cNvSpPr/>
          <p:nvPr/>
        </p:nvSpPr>
        <p:spPr>
          <a:xfrm>
            <a:off x="0" y="0"/>
            <a:ext cx="164592" cy="914400"/>
          </a:xfrm>
          <a:prstGeom prst="rect">
            <a:avLst/>
          </a:prstGeom>
          <a:solidFill>
            <a:srgbClr val="E87722"/>
          </a:solidFill>
          <a:ln/>
        </p:spPr>
      </p:sp>
      <p:sp>
        <p:nvSpPr>
          <p:cNvPr id="4" name="Text 2"/>
          <p:cNvSpPr/>
          <p:nvPr/>
        </p:nvSpPr>
        <p:spPr>
          <a:xfrm>
            <a:off x="347472" y="91440"/>
            <a:ext cx="10058400" cy="50292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技術的な合意事項</a:t>
            </a:r>
            <a:endParaRPr lang="en-US" sz="2200" dirty="0"/>
          </a:p>
        </p:txBody>
      </p:sp>
      <p:sp>
        <p:nvSpPr>
          <p:cNvPr id="5" name="Text 3"/>
          <p:cNvSpPr/>
          <p:nvPr/>
        </p:nvSpPr>
        <p:spPr>
          <a:xfrm>
            <a:off x="347472" y="576072"/>
            <a:ext cx="10058400" cy="274320"/>
          </a:xfrm>
          <a:prstGeom prst="rect">
            <a:avLst/>
          </a:prstGeom>
          <a:noFill/>
          <a:ln/>
        </p:spPr>
        <p:txBody>
          <a:bodyPr wrap="square" lIns="0" tIns="0" rIns="0" bIns="0" rtlCol="0" anchor="ctr"/>
          <a:lstStyle/>
          <a:p>
            <a:pPr indent="0" marL="0">
              <a:buNone/>
            </a:pPr>
            <a:r>
              <a:rPr lang="en-US" sz="1000" dirty="0">
                <a:solidFill>
                  <a:srgbClr val="BBBBBB"/>
                </a:solidFill>
                <a:latin typeface="Meiryo" pitchFamily="34" charset="0"/>
                <a:ea typeface="Meiryo" pitchFamily="34" charset="-122"/>
                <a:cs typeface="Meiryo" pitchFamily="34" charset="-120"/>
              </a:rPr>
              <a:t>打合せで決定した設計内容</a:t>
            </a:r>
            <a:endParaRPr lang="en-US" sz="1000" dirty="0"/>
          </a:p>
        </p:txBody>
      </p:sp>
      <p:sp>
        <p:nvSpPr>
          <p:cNvPr id="6" name="Text 4"/>
          <p:cNvSpPr/>
          <p:nvPr/>
        </p:nvSpPr>
        <p:spPr>
          <a:xfrm>
            <a:off x="10177272" y="109728"/>
            <a:ext cx="192024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Meiryo" pitchFamily="34" charset="0"/>
                <a:ea typeface="Meiryo" pitchFamily="34" charset="-122"/>
                <a:cs typeface="Meiryo" pitchFamily="34" charset="-120"/>
              </a:rPr>
              <a:t>P4 技術合意</a:t>
            </a:r>
            <a:endParaRPr lang="en-US" sz="900" dirty="0"/>
          </a:p>
        </p:txBody>
      </p:sp>
      <p:sp>
        <p:nvSpPr>
          <p:cNvPr id="7" name="Shape 5"/>
          <p:cNvSpPr/>
          <p:nvPr/>
        </p:nvSpPr>
        <p:spPr>
          <a:xfrm>
            <a:off x="274320" y="960120"/>
            <a:ext cx="3749040" cy="384048"/>
          </a:xfrm>
          <a:prstGeom prst="rect">
            <a:avLst/>
          </a:prstGeom>
          <a:solidFill>
            <a:srgbClr val="4CAF50"/>
          </a:solidFill>
          <a:ln w="12700">
            <a:solidFill>
              <a:srgbClr val="4CAF50"/>
            </a:solidFill>
            <a:prstDash val="solid"/>
          </a:ln>
        </p:spPr>
      </p:sp>
      <p:sp>
        <p:nvSpPr>
          <p:cNvPr id="8" name="Text 6"/>
          <p:cNvSpPr/>
          <p:nvPr/>
        </p:nvSpPr>
        <p:spPr>
          <a:xfrm>
            <a:off x="347472" y="1005840"/>
            <a:ext cx="3602736" cy="310896"/>
          </a:xfrm>
          <a:prstGeom prst="rect">
            <a:avLst/>
          </a:prstGeom>
          <a:noFill/>
          <a:ln/>
        </p:spPr>
        <p:txBody>
          <a:bodyPr wrap="square" lIns="0" tIns="0" rIns="0" bIns="0" rtlCol="0" anchor="ctr"/>
          <a:lstStyle/>
          <a:p>
            <a:pPr indent="0" marL="0">
              <a:buNone/>
            </a:pPr>
            <a:r>
              <a:rPr lang="en-US" sz="1000" b="1" dirty="0">
                <a:solidFill>
                  <a:srgbClr val="FFFFFF"/>
                </a:solidFill>
                <a:latin typeface="Meiryo" pitchFamily="34" charset="0"/>
                <a:ea typeface="Meiryo" pitchFamily="34" charset="-122"/>
                <a:cs typeface="Meiryo" pitchFamily="34" charset="-120"/>
              </a:rPr>
              <a:t>乗降2点チェックインの仕組み</a:t>
            </a:r>
            <a:endParaRPr lang="en-US" sz="1000" dirty="0"/>
          </a:p>
        </p:txBody>
      </p:sp>
      <p:sp>
        <p:nvSpPr>
          <p:cNvPr id="9" name="Shape 7"/>
          <p:cNvSpPr/>
          <p:nvPr/>
        </p:nvSpPr>
        <p:spPr>
          <a:xfrm>
            <a:off x="274320" y="1389888"/>
            <a:ext cx="3749040" cy="713232"/>
          </a:xfrm>
          <a:prstGeom prst="rect">
            <a:avLst/>
          </a:prstGeom>
          <a:solidFill>
            <a:srgbClr val="FAFAFA"/>
          </a:solidFill>
          <a:ln w="6350">
            <a:solidFill>
              <a:srgbClr val="EEEEEE"/>
            </a:solidFill>
            <a:prstDash val="solid"/>
          </a:ln>
        </p:spPr>
      </p:sp>
      <p:sp>
        <p:nvSpPr>
          <p:cNvPr id="10" name="Text 8"/>
          <p:cNvSpPr/>
          <p:nvPr/>
        </p:nvSpPr>
        <p:spPr>
          <a:xfrm>
            <a:off x="329184" y="1426464"/>
            <a:ext cx="822960" cy="256032"/>
          </a:xfrm>
          <a:prstGeom prst="rect">
            <a:avLst/>
          </a:prstGeom>
          <a:noFill/>
          <a:ln/>
        </p:spPr>
        <p:txBody>
          <a:bodyPr wrap="square" lIns="0" tIns="0" rIns="0" bIns="0" rtlCol="0" anchor="ctr"/>
          <a:lstStyle/>
          <a:p>
            <a:pPr indent="0" marL="0">
              <a:buNone/>
            </a:pPr>
            <a:r>
              <a:rPr lang="en-US" sz="850" b="1" dirty="0">
                <a:solidFill>
                  <a:srgbClr val="4CAF50"/>
                </a:solidFill>
                <a:latin typeface="Meiryo" pitchFamily="34" charset="0"/>
                <a:ea typeface="Meiryo" pitchFamily="34" charset="-122"/>
                <a:cs typeface="Meiryo" pitchFamily="34" charset="-120"/>
              </a:rPr>
              <a:t>①</a:t>
            </a:r>
            <a:endParaRPr lang="en-US" sz="850" dirty="0"/>
          </a:p>
        </p:txBody>
      </p:sp>
      <p:sp>
        <p:nvSpPr>
          <p:cNvPr id="11" name="Text 9"/>
          <p:cNvSpPr/>
          <p:nvPr/>
        </p:nvSpPr>
        <p:spPr>
          <a:xfrm>
            <a:off x="329184" y="1682496"/>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管理画面に各駅・停留所を事前登録（GTFS等から取り込み）</a:t>
            </a:r>
            <a:endParaRPr lang="en-US" sz="900" dirty="0"/>
          </a:p>
        </p:txBody>
      </p:sp>
      <p:sp>
        <p:nvSpPr>
          <p:cNvPr id="12" name="Shape 10"/>
          <p:cNvSpPr/>
          <p:nvPr/>
        </p:nvSpPr>
        <p:spPr>
          <a:xfrm>
            <a:off x="274320" y="2139696"/>
            <a:ext cx="3749040" cy="713232"/>
          </a:xfrm>
          <a:prstGeom prst="rect">
            <a:avLst/>
          </a:prstGeom>
          <a:solidFill>
            <a:srgbClr val="FFFFFF"/>
          </a:solidFill>
          <a:ln w="6350">
            <a:solidFill>
              <a:srgbClr val="EEEEEE"/>
            </a:solidFill>
            <a:prstDash val="solid"/>
          </a:ln>
        </p:spPr>
      </p:sp>
      <p:sp>
        <p:nvSpPr>
          <p:cNvPr id="13" name="Text 11"/>
          <p:cNvSpPr/>
          <p:nvPr/>
        </p:nvSpPr>
        <p:spPr>
          <a:xfrm>
            <a:off x="329184" y="2176272"/>
            <a:ext cx="822960" cy="256032"/>
          </a:xfrm>
          <a:prstGeom prst="rect">
            <a:avLst/>
          </a:prstGeom>
          <a:noFill/>
          <a:ln/>
        </p:spPr>
        <p:txBody>
          <a:bodyPr wrap="square" lIns="0" tIns="0" rIns="0" bIns="0" rtlCol="0" anchor="ctr"/>
          <a:lstStyle/>
          <a:p>
            <a:pPr indent="0" marL="0">
              <a:buNone/>
            </a:pPr>
            <a:r>
              <a:rPr lang="en-US" sz="850" b="1" dirty="0">
                <a:solidFill>
                  <a:srgbClr val="4CAF50"/>
                </a:solidFill>
                <a:latin typeface="Meiryo" pitchFamily="34" charset="0"/>
                <a:ea typeface="Meiryo" pitchFamily="34" charset="-122"/>
                <a:cs typeface="Meiryo" pitchFamily="34" charset="-120"/>
              </a:rPr>
              <a:t>②</a:t>
            </a:r>
            <a:endParaRPr lang="en-US" sz="850" dirty="0"/>
          </a:p>
        </p:txBody>
      </p:sp>
      <p:sp>
        <p:nvSpPr>
          <p:cNvPr id="14" name="Text 12"/>
          <p:cNvSpPr/>
          <p:nvPr/>
        </p:nvSpPr>
        <p:spPr>
          <a:xfrm>
            <a:off x="329184" y="2432304"/>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ユーザーが「乗車」→「降車」の順でGPSスタンプを2回押す</a:t>
            </a:r>
            <a:endParaRPr lang="en-US" sz="900" dirty="0"/>
          </a:p>
        </p:txBody>
      </p:sp>
      <p:sp>
        <p:nvSpPr>
          <p:cNvPr id="15" name="Shape 13"/>
          <p:cNvSpPr/>
          <p:nvPr/>
        </p:nvSpPr>
        <p:spPr>
          <a:xfrm>
            <a:off x="274320" y="2889504"/>
            <a:ext cx="3749040" cy="713232"/>
          </a:xfrm>
          <a:prstGeom prst="rect">
            <a:avLst/>
          </a:prstGeom>
          <a:solidFill>
            <a:srgbClr val="FAFAFA"/>
          </a:solidFill>
          <a:ln w="6350">
            <a:solidFill>
              <a:srgbClr val="EEEEEE"/>
            </a:solidFill>
            <a:prstDash val="solid"/>
          </a:ln>
        </p:spPr>
      </p:sp>
      <p:sp>
        <p:nvSpPr>
          <p:cNvPr id="16" name="Text 14"/>
          <p:cNvSpPr/>
          <p:nvPr/>
        </p:nvSpPr>
        <p:spPr>
          <a:xfrm>
            <a:off x="329184" y="2926080"/>
            <a:ext cx="822960" cy="256032"/>
          </a:xfrm>
          <a:prstGeom prst="rect">
            <a:avLst/>
          </a:prstGeom>
          <a:noFill/>
          <a:ln/>
        </p:spPr>
        <p:txBody>
          <a:bodyPr wrap="square" lIns="0" tIns="0" rIns="0" bIns="0" rtlCol="0" anchor="ctr"/>
          <a:lstStyle/>
          <a:p>
            <a:pPr indent="0" marL="0">
              <a:buNone/>
            </a:pPr>
            <a:r>
              <a:rPr lang="en-US" sz="850" b="1" dirty="0">
                <a:solidFill>
                  <a:srgbClr val="4CAF50"/>
                </a:solidFill>
                <a:latin typeface="Meiryo" pitchFamily="34" charset="0"/>
                <a:ea typeface="Meiryo" pitchFamily="34" charset="-122"/>
                <a:cs typeface="Meiryo" pitchFamily="34" charset="-120"/>
              </a:rPr>
              <a:t>③</a:t>
            </a:r>
            <a:endParaRPr lang="en-US" sz="850" dirty="0"/>
          </a:p>
        </p:txBody>
      </p:sp>
      <p:sp>
        <p:nvSpPr>
          <p:cNvPr id="17" name="Text 15"/>
          <p:cNvSpPr/>
          <p:nvPr/>
        </p:nvSpPr>
        <p:spPr>
          <a:xfrm>
            <a:off x="329184" y="3182112"/>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乗車地＋降車地のペア成立で1ポイント付与</a:t>
            </a:r>
            <a:endParaRPr lang="en-US" sz="900" dirty="0"/>
          </a:p>
        </p:txBody>
      </p:sp>
      <p:sp>
        <p:nvSpPr>
          <p:cNvPr id="18" name="Shape 16"/>
          <p:cNvSpPr/>
          <p:nvPr/>
        </p:nvSpPr>
        <p:spPr>
          <a:xfrm>
            <a:off x="274320" y="3639312"/>
            <a:ext cx="3749040" cy="713232"/>
          </a:xfrm>
          <a:prstGeom prst="rect">
            <a:avLst/>
          </a:prstGeom>
          <a:solidFill>
            <a:srgbClr val="FFFFFF"/>
          </a:solidFill>
          <a:ln w="6350">
            <a:solidFill>
              <a:srgbClr val="EEEEEE"/>
            </a:solidFill>
            <a:prstDash val="solid"/>
          </a:ln>
        </p:spPr>
      </p:sp>
      <p:sp>
        <p:nvSpPr>
          <p:cNvPr id="19" name="Text 17"/>
          <p:cNvSpPr/>
          <p:nvPr/>
        </p:nvSpPr>
        <p:spPr>
          <a:xfrm>
            <a:off x="329184" y="3675888"/>
            <a:ext cx="822960" cy="256032"/>
          </a:xfrm>
          <a:prstGeom prst="rect">
            <a:avLst/>
          </a:prstGeom>
          <a:noFill/>
          <a:ln/>
        </p:spPr>
        <p:txBody>
          <a:bodyPr wrap="square" lIns="0" tIns="0" rIns="0" bIns="0" rtlCol="0" anchor="ctr"/>
          <a:lstStyle/>
          <a:p>
            <a:pPr indent="0" marL="0">
              <a:buNone/>
            </a:pPr>
            <a:r>
              <a:rPr lang="en-US" sz="850" b="1" dirty="0">
                <a:solidFill>
                  <a:srgbClr val="4CAF50"/>
                </a:solidFill>
                <a:latin typeface="Meiryo" pitchFamily="34" charset="0"/>
                <a:ea typeface="Meiryo" pitchFamily="34" charset="-122"/>
                <a:cs typeface="Meiryo" pitchFamily="34" charset="-120"/>
              </a:rPr>
              <a:t>⚠️</a:t>
            </a:r>
            <a:endParaRPr lang="en-US" sz="850" dirty="0"/>
          </a:p>
        </p:txBody>
      </p:sp>
      <p:sp>
        <p:nvSpPr>
          <p:cNvPr id="20" name="Text 18"/>
          <p:cNvSpPr/>
          <p:nvPr/>
        </p:nvSpPr>
        <p:spPr>
          <a:xfrm>
            <a:off x="329184" y="3931920"/>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どちらか片方のみでは付与しない（B-01 カスタム開発）</a:t>
            </a:r>
            <a:endParaRPr lang="en-US" sz="900" dirty="0"/>
          </a:p>
        </p:txBody>
      </p:sp>
      <p:sp>
        <p:nvSpPr>
          <p:cNvPr id="21" name="Shape 19"/>
          <p:cNvSpPr/>
          <p:nvPr/>
        </p:nvSpPr>
        <p:spPr>
          <a:xfrm>
            <a:off x="4206240" y="960120"/>
            <a:ext cx="3749040" cy="384048"/>
          </a:xfrm>
          <a:prstGeom prst="rect">
            <a:avLst/>
          </a:prstGeom>
          <a:solidFill>
            <a:srgbClr val="6366F1"/>
          </a:solidFill>
          <a:ln w="12700">
            <a:solidFill>
              <a:srgbClr val="6366F1"/>
            </a:solidFill>
            <a:prstDash val="solid"/>
          </a:ln>
        </p:spPr>
      </p:sp>
      <p:sp>
        <p:nvSpPr>
          <p:cNvPr id="22" name="Text 20"/>
          <p:cNvSpPr/>
          <p:nvPr/>
        </p:nvSpPr>
        <p:spPr>
          <a:xfrm>
            <a:off x="4279392" y="1005840"/>
            <a:ext cx="3602736" cy="310896"/>
          </a:xfrm>
          <a:prstGeom prst="rect">
            <a:avLst/>
          </a:prstGeom>
          <a:noFill/>
          <a:ln/>
        </p:spPr>
        <p:txBody>
          <a:bodyPr wrap="square" lIns="0" tIns="0" rIns="0" bIns="0" rtlCol="0" anchor="ctr"/>
          <a:lstStyle/>
          <a:p>
            <a:pPr indent="0" marL="0">
              <a:buNone/>
            </a:pPr>
            <a:r>
              <a:rPr lang="en-US" sz="1000" b="1" dirty="0">
                <a:solidFill>
                  <a:srgbClr val="FFFFFF"/>
                </a:solidFill>
                <a:latin typeface="Meiryo" pitchFamily="34" charset="0"/>
                <a:ea typeface="Meiryo" pitchFamily="34" charset="-122"/>
                <a:cs typeface="Meiryo" pitchFamily="34" charset="-120"/>
              </a:rPr>
              <a:t>タクシーレシートの運用フロー</a:t>
            </a:r>
            <a:endParaRPr lang="en-US" sz="1000" dirty="0"/>
          </a:p>
        </p:txBody>
      </p:sp>
      <p:sp>
        <p:nvSpPr>
          <p:cNvPr id="23" name="Shape 21"/>
          <p:cNvSpPr/>
          <p:nvPr/>
        </p:nvSpPr>
        <p:spPr>
          <a:xfrm>
            <a:off x="4206240" y="1389888"/>
            <a:ext cx="3749040" cy="713232"/>
          </a:xfrm>
          <a:prstGeom prst="rect">
            <a:avLst/>
          </a:prstGeom>
          <a:solidFill>
            <a:srgbClr val="FAFAFA"/>
          </a:solidFill>
          <a:ln w="6350">
            <a:solidFill>
              <a:srgbClr val="EEEEEE"/>
            </a:solidFill>
            <a:prstDash val="solid"/>
          </a:ln>
        </p:spPr>
      </p:sp>
      <p:sp>
        <p:nvSpPr>
          <p:cNvPr id="24" name="Text 22"/>
          <p:cNvSpPr/>
          <p:nvPr/>
        </p:nvSpPr>
        <p:spPr>
          <a:xfrm>
            <a:off x="4261104" y="1426464"/>
            <a:ext cx="822960" cy="256032"/>
          </a:xfrm>
          <a:prstGeom prst="rect">
            <a:avLst/>
          </a:prstGeom>
          <a:noFill/>
          <a:ln/>
        </p:spPr>
        <p:txBody>
          <a:bodyPr wrap="square" lIns="0" tIns="0" rIns="0" bIns="0" rtlCol="0" anchor="ctr"/>
          <a:lstStyle/>
          <a:p>
            <a:pPr indent="0" marL="0">
              <a:buNone/>
            </a:pPr>
            <a:r>
              <a:rPr lang="en-US" sz="850" b="1" dirty="0">
                <a:solidFill>
                  <a:srgbClr val="6366F1"/>
                </a:solidFill>
                <a:latin typeface="Meiryo" pitchFamily="34" charset="0"/>
                <a:ea typeface="Meiryo" pitchFamily="34" charset="-122"/>
                <a:cs typeface="Meiryo" pitchFamily="34" charset="-120"/>
              </a:rPr>
              <a:t>ユーザー</a:t>
            </a:r>
            <a:endParaRPr lang="en-US" sz="850" dirty="0"/>
          </a:p>
        </p:txBody>
      </p:sp>
      <p:sp>
        <p:nvSpPr>
          <p:cNvPr id="25" name="Text 23"/>
          <p:cNvSpPr/>
          <p:nvPr/>
        </p:nvSpPr>
        <p:spPr>
          <a:xfrm>
            <a:off x="4261104" y="1682496"/>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領収書を撮影・アップロード（写真を選択ボタン）</a:t>
            </a:r>
            <a:endParaRPr lang="en-US" sz="900" dirty="0"/>
          </a:p>
        </p:txBody>
      </p:sp>
      <p:sp>
        <p:nvSpPr>
          <p:cNvPr id="26" name="Shape 24"/>
          <p:cNvSpPr/>
          <p:nvPr/>
        </p:nvSpPr>
        <p:spPr>
          <a:xfrm>
            <a:off x="4206240" y="2139696"/>
            <a:ext cx="3749040" cy="713232"/>
          </a:xfrm>
          <a:prstGeom prst="rect">
            <a:avLst/>
          </a:prstGeom>
          <a:solidFill>
            <a:srgbClr val="FFFFFF"/>
          </a:solidFill>
          <a:ln w="6350">
            <a:solidFill>
              <a:srgbClr val="EEEEEE"/>
            </a:solidFill>
            <a:prstDash val="solid"/>
          </a:ln>
        </p:spPr>
      </p:sp>
      <p:sp>
        <p:nvSpPr>
          <p:cNvPr id="27" name="Text 25"/>
          <p:cNvSpPr/>
          <p:nvPr/>
        </p:nvSpPr>
        <p:spPr>
          <a:xfrm>
            <a:off x="4261104" y="2176272"/>
            <a:ext cx="822960" cy="256032"/>
          </a:xfrm>
          <a:prstGeom prst="rect">
            <a:avLst/>
          </a:prstGeom>
          <a:noFill/>
          <a:ln/>
        </p:spPr>
        <p:txBody>
          <a:bodyPr wrap="square" lIns="0" tIns="0" rIns="0" bIns="0" rtlCol="0" anchor="ctr"/>
          <a:lstStyle/>
          <a:p>
            <a:pPr indent="0" marL="0">
              <a:buNone/>
            </a:pPr>
            <a:r>
              <a:rPr lang="en-US" sz="850" b="1" dirty="0">
                <a:solidFill>
                  <a:srgbClr val="6366F1"/>
                </a:solidFill>
                <a:latin typeface="Meiryo" pitchFamily="34" charset="0"/>
                <a:ea typeface="Meiryo" pitchFamily="34" charset="-122"/>
                <a:cs typeface="Meiryo" pitchFamily="34" charset="-120"/>
              </a:rPr>
              <a:t>OCR自動</a:t>
            </a:r>
            <a:endParaRPr lang="en-US" sz="850" dirty="0"/>
          </a:p>
        </p:txBody>
      </p:sp>
      <p:sp>
        <p:nvSpPr>
          <p:cNvPr id="28" name="Text 26"/>
          <p:cNvSpPr/>
          <p:nvPr/>
        </p:nvSpPr>
        <p:spPr>
          <a:xfrm>
            <a:off x="4261104" y="2432304"/>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タクシー会社名・日時をタグ条件で自動判定</a:t>
            </a:r>
            <a:endParaRPr lang="en-US" sz="900" dirty="0"/>
          </a:p>
        </p:txBody>
      </p:sp>
      <p:sp>
        <p:nvSpPr>
          <p:cNvPr id="29" name="Shape 27"/>
          <p:cNvSpPr/>
          <p:nvPr/>
        </p:nvSpPr>
        <p:spPr>
          <a:xfrm>
            <a:off x="4206240" y="2889504"/>
            <a:ext cx="3749040" cy="713232"/>
          </a:xfrm>
          <a:prstGeom prst="rect">
            <a:avLst/>
          </a:prstGeom>
          <a:solidFill>
            <a:srgbClr val="FAFAFA"/>
          </a:solidFill>
          <a:ln w="6350">
            <a:solidFill>
              <a:srgbClr val="EEEEEE"/>
            </a:solidFill>
            <a:prstDash val="solid"/>
          </a:ln>
        </p:spPr>
      </p:sp>
      <p:sp>
        <p:nvSpPr>
          <p:cNvPr id="30" name="Text 28"/>
          <p:cNvSpPr/>
          <p:nvPr/>
        </p:nvSpPr>
        <p:spPr>
          <a:xfrm>
            <a:off x="4261104" y="2926080"/>
            <a:ext cx="822960" cy="256032"/>
          </a:xfrm>
          <a:prstGeom prst="rect">
            <a:avLst/>
          </a:prstGeom>
          <a:noFill/>
          <a:ln/>
        </p:spPr>
        <p:txBody>
          <a:bodyPr wrap="square" lIns="0" tIns="0" rIns="0" bIns="0" rtlCol="0" anchor="ctr"/>
          <a:lstStyle/>
          <a:p>
            <a:pPr indent="0" marL="0">
              <a:buNone/>
            </a:pPr>
            <a:r>
              <a:rPr lang="en-US" sz="850" b="1" dirty="0">
                <a:solidFill>
                  <a:srgbClr val="6366F1"/>
                </a:solidFill>
                <a:latin typeface="Meiryo" pitchFamily="34" charset="0"/>
                <a:ea typeface="Meiryo" pitchFamily="34" charset="-122"/>
                <a:cs typeface="Meiryo" pitchFamily="34" charset="-120"/>
              </a:rPr>
              <a:t>⚠️ 重要</a:t>
            </a:r>
            <a:endParaRPr lang="en-US" sz="850" dirty="0"/>
          </a:p>
        </p:txBody>
      </p:sp>
      <p:sp>
        <p:nvSpPr>
          <p:cNvPr id="31" name="Text 29"/>
          <p:cNvSpPr/>
          <p:nvPr/>
        </p:nvSpPr>
        <p:spPr>
          <a:xfrm>
            <a:off x="4261104" y="3182112"/>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OCR結果はユーザー画面に表示しない（管理側のみ）</a:t>
            </a:r>
            <a:endParaRPr lang="en-US" sz="900" dirty="0"/>
          </a:p>
        </p:txBody>
      </p:sp>
      <p:sp>
        <p:nvSpPr>
          <p:cNvPr id="32" name="Shape 30"/>
          <p:cNvSpPr/>
          <p:nvPr/>
        </p:nvSpPr>
        <p:spPr>
          <a:xfrm>
            <a:off x="4206240" y="3639312"/>
            <a:ext cx="3749040" cy="713232"/>
          </a:xfrm>
          <a:prstGeom prst="rect">
            <a:avLst/>
          </a:prstGeom>
          <a:solidFill>
            <a:srgbClr val="FFFFFF"/>
          </a:solidFill>
          <a:ln w="6350">
            <a:solidFill>
              <a:srgbClr val="EEEEEE"/>
            </a:solidFill>
            <a:prstDash val="solid"/>
          </a:ln>
        </p:spPr>
      </p:sp>
      <p:sp>
        <p:nvSpPr>
          <p:cNvPr id="33" name="Text 31"/>
          <p:cNvSpPr/>
          <p:nvPr/>
        </p:nvSpPr>
        <p:spPr>
          <a:xfrm>
            <a:off x="4261104" y="3675888"/>
            <a:ext cx="822960" cy="256032"/>
          </a:xfrm>
          <a:prstGeom prst="rect">
            <a:avLst/>
          </a:prstGeom>
          <a:noFill/>
          <a:ln/>
        </p:spPr>
        <p:txBody>
          <a:bodyPr wrap="square" lIns="0" tIns="0" rIns="0" bIns="0" rtlCol="0" anchor="ctr"/>
          <a:lstStyle/>
          <a:p>
            <a:pPr indent="0" marL="0">
              <a:buNone/>
            </a:pPr>
            <a:r>
              <a:rPr lang="en-US" sz="850" b="1" dirty="0">
                <a:solidFill>
                  <a:srgbClr val="6366F1"/>
                </a:solidFill>
                <a:latin typeface="Meiryo" pitchFamily="34" charset="0"/>
                <a:ea typeface="Meiryo" pitchFamily="34" charset="-122"/>
                <a:cs typeface="Meiryo" pitchFamily="34" charset="-120"/>
              </a:rPr>
              <a:t>事務局</a:t>
            </a:r>
            <a:endParaRPr lang="en-US" sz="850" dirty="0"/>
          </a:p>
        </p:txBody>
      </p:sp>
      <p:sp>
        <p:nvSpPr>
          <p:cNvPr id="34" name="Text 32"/>
          <p:cNvSpPr/>
          <p:nvPr/>
        </p:nvSpPr>
        <p:spPr>
          <a:xfrm>
            <a:off x="4261104" y="3931920"/>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1日1回目視確認（最大100件/日）→ 承認でCardにポイント反映</a:t>
            </a:r>
            <a:endParaRPr lang="en-US" sz="900" dirty="0"/>
          </a:p>
        </p:txBody>
      </p:sp>
      <p:sp>
        <p:nvSpPr>
          <p:cNvPr id="35" name="Shape 33"/>
          <p:cNvSpPr/>
          <p:nvPr/>
        </p:nvSpPr>
        <p:spPr>
          <a:xfrm>
            <a:off x="4206240" y="4389120"/>
            <a:ext cx="3749040" cy="713232"/>
          </a:xfrm>
          <a:prstGeom prst="rect">
            <a:avLst/>
          </a:prstGeom>
          <a:solidFill>
            <a:srgbClr val="FAFAFA"/>
          </a:solidFill>
          <a:ln w="6350">
            <a:solidFill>
              <a:srgbClr val="EEEEEE"/>
            </a:solidFill>
            <a:prstDash val="solid"/>
          </a:ln>
        </p:spPr>
      </p:sp>
      <p:sp>
        <p:nvSpPr>
          <p:cNvPr id="36" name="Text 34"/>
          <p:cNvSpPr/>
          <p:nvPr/>
        </p:nvSpPr>
        <p:spPr>
          <a:xfrm>
            <a:off x="4261104" y="4425696"/>
            <a:ext cx="822960" cy="256032"/>
          </a:xfrm>
          <a:prstGeom prst="rect">
            <a:avLst/>
          </a:prstGeom>
          <a:noFill/>
          <a:ln/>
        </p:spPr>
        <p:txBody>
          <a:bodyPr wrap="square" lIns="0" tIns="0" rIns="0" bIns="0" rtlCol="0" anchor="ctr"/>
          <a:lstStyle/>
          <a:p>
            <a:pPr indent="0" marL="0">
              <a:buNone/>
            </a:pPr>
            <a:r>
              <a:rPr lang="en-US" sz="850" b="1" dirty="0">
                <a:solidFill>
                  <a:srgbClr val="6366F1"/>
                </a:solidFill>
                <a:latin typeface="Meiryo" pitchFamily="34" charset="0"/>
                <a:ea typeface="Meiryo" pitchFamily="34" charset="-122"/>
                <a:cs typeface="Meiryo" pitchFamily="34" charset="-120"/>
              </a:rPr>
              <a:t>表示</a:t>
            </a:r>
            <a:endParaRPr lang="en-US" sz="850" dirty="0"/>
          </a:p>
        </p:txBody>
      </p:sp>
      <p:sp>
        <p:nvSpPr>
          <p:cNvPr id="37" name="Text 35"/>
          <p:cNvSpPr/>
          <p:nvPr/>
        </p:nvSpPr>
        <p:spPr>
          <a:xfrm>
            <a:off x="4261104" y="4681728"/>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「2〜3営業日以内に付与」と表示</a:t>
            </a:r>
            <a:endParaRPr lang="en-US" sz="900" dirty="0"/>
          </a:p>
        </p:txBody>
      </p:sp>
      <p:sp>
        <p:nvSpPr>
          <p:cNvPr id="38" name="Shape 36"/>
          <p:cNvSpPr/>
          <p:nvPr/>
        </p:nvSpPr>
        <p:spPr>
          <a:xfrm>
            <a:off x="8138160" y="960120"/>
            <a:ext cx="3749040" cy="384048"/>
          </a:xfrm>
          <a:prstGeom prst="rect">
            <a:avLst/>
          </a:prstGeom>
          <a:solidFill>
            <a:srgbClr val="E87722"/>
          </a:solidFill>
          <a:ln w="12700">
            <a:solidFill>
              <a:srgbClr val="E87722"/>
            </a:solidFill>
            <a:prstDash val="solid"/>
          </a:ln>
        </p:spPr>
      </p:sp>
      <p:sp>
        <p:nvSpPr>
          <p:cNvPr id="39" name="Text 37"/>
          <p:cNvSpPr/>
          <p:nvPr/>
        </p:nvSpPr>
        <p:spPr>
          <a:xfrm>
            <a:off x="8211312" y="1005840"/>
            <a:ext cx="3602736" cy="310896"/>
          </a:xfrm>
          <a:prstGeom prst="rect">
            <a:avLst/>
          </a:prstGeom>
          <a:noFill/>
          <a:ln/>
        </p:spPr>
        <p:txBody>
          <a:bodyPr wrap="square" lIns="0" tIns="0" rIns="0" bIns="0" rtlCol="0" anchor="ctr"/>
          <a:lstStyle/>
          <a:p>
            <a:pPr indent="0" marL="0">
              <a:buNone/>
            </a:pPr>
            <a:r>
              <a:rPr lang="en-US" sz="1000" b="1" dirty="0">
                <a:solidFill>
                  <a:srgbClr val="FFFFFF"/>
                </a:solidFill>
                <a:latin typeface="Meiryo" pitchFamily="34" charset="0"/>
                <a:ea typeface="Meiryo" pitchFamily="34" charset="-122"/>
                <a:cs typeface="Meiryo" pitchFamily="34" charset="-120"/>
              </a:rPr>
              <a:t>ポイント統合の設計</a:t>
            </a:r>
            <a:endParaRPr lang="en-US" sz="1000" dirty="0"/>
          </a:p>
        </p:txBody>
      </p:sp>
      <p:sp>
        <p:nvSpPr>
          <p:cNvPr id="40" name="Shape 38"/>
          <p:cNvSpPr/>
          <p:nvPr/>
        </p:nvSpPr>
        <p:spPr>
          <a:xfrm>
            <a:off x="8138160" y="1389888"/>
            <a:ext cx="3749040" cy="713232"/>
          </a:xfrm>
          <a:prstGeom prst="rect">
            <a:avLst/>
          </a:prstGeom>
          <a:solidFill>
            <a:srgbClr val="FAFAFA"/>
          </a:solidFill>
          <a:ln w="6350">
            <a:solidFill>
              <a:srgbClr val="EEEEEE"/>
            </a:solidFill>
            <a:prstDash val="solid"/>
          </a:ln>
        </p:spPr>
      </p:sp>
      <p:sp>
        <p:nvSpPr>
          <p:cNvPr id="41" name="Text 39"/>
          <p:cNvSpPr/>
          <p:nvPr/>
        </p:nvSpPr>
        <p:spPr>
          <a:xfrm>
            <a:off x="8193024" y="1426464"/>
            <a:ext cx="822960" cy="256032"/>
          </a:xfrm>
          <a:prstGeom prst="rect">
            <a:avLst/>
          </a:prstGeom>
          <a:noFill/>
          <a:ln/>
        </p:spPr>
        <p:txBody>
          <a:bodyPr wrap="square" lIns="0" tIns="0" rIns="0" bIns="0" rtlCol="0" anchor="ctr"/>
          <a:lstStyle/>
          <a:p>
            <a:pPr indent="0" marL="0">
              <a:buNone/>
            </a:pPr>
            <a:r>
              <a:rPr lang="en-US" sz="850" b="1" dirty="0">
                <a:solidFill>
                  <a:srgbClr val="E87722"/>
                </a:solidFill>
                <a:latin typeface="Meiryo" pitchFamily="34" charset="0"/>
                <a:ea typeface="Meiryo" pitchFamily="34" charset="-122"/>
                <a:cs typeface="Meiryo" pitchFamily="34" charset="-120"/>
              </a:rPr>
              <a:t>基盤</a:t>
            </a:r>
            <a:endParaRPr lang="en-US" sz="850" dirty="0"/>
          </a:p>
        </p:txBody>
      </p:sp>
      <p:sp>
        <p:nvSpPr>
          <p:cNvPr id="42" name="Text 40"/>
          <p:cNvSpPr/>
          <p:nvPr/>
        </p:nvSpPr>
        <p:spPr>
          <a:xfrm>
            <a:off x="8193024" y="1682496"/>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StampCardをポイント管理の基盤とする</a:t>
            </a:r>
            <a:endParaRPr lang="en-US" sz="900" dirty="0"/>
          </a:p>
        </p:txBody>
      </p:sp>
      <p:sp>
        <p:nvSpPr>
          <p:cNvPr id="43" name="Shape 41"/>
          <p:cNvSpPr/>
          <p:nvPr/>
        </p:nvSpPr>
        <p:spPr>
          <a:xfrm>
            <a:off x="8138160" y="2139696"/>
            <a:ext cx="3749040" cy="713232"/>
          </a:xfrm>
          <a:prstGeom prst="rect">
            <a:avLst/>
          </a:prstGeom>
          <a:solidFill>
            <a:srgbClr val="FFFFFF"/>
          </a:solidFill>
          <a:ln w="6350">
            <a:solidFill>
              <a:srgbClr val="EEEEEE"/>
            </a:solidFill>
            <a:prstDash val="solid"/>
          </a:ln>
        </p:spPr>
      </p:sp>
      <p:sp>
        <p:nvSpPr>
          <p:cNvPr id="44" name="Text 42"/>
          <p:cNvSpPr/>
          <p:nvPr/>
        </p:nvSpPr>
        <p:spPr>
          <a:xfrm>
            <a:off x="8193024" y="2176272"/>
            <a:ext cx="822960" cy="256032"/>
          </a:xfrm>
          <a:prstGeom prst="rect">
            <a:avLst/>
          </a:prstGeom>
          <a:noFill/>
          <a:ln/>
        </p:spPr>
        <p:txBody>
          <a:bodyPr wrap="square" lIns="0" tIns="0" rIns="0" bIns="0" rtlCol="0" anchor="ctr"/>
          <a:lstStyle/>
          <a:p>
            <a:pPr indent="0" marL="0">
              <a:buNone/>
            </a:pPr>
            <a:r>
              <a:rPr lang="en-US" sz="850" b="1" dirty="0">
                <a:solidFill>
                  <a:srgbClr val="E87722"/>
                </a:solidFill>
                <a:latin typeface="Meiryo" pitchFamily="34" charset="0"/>
                <a:ea typeface="Meiryo" pitchFamily="34" charset="-122"/>
                <a:cs typeface="Meiryo" pitchFamily="34" charset="-120"/>
              </a:rPr>
              <a:t>SSO</a:t>
            </a:r>
            <a:endParaRPr lang="en-US" sz="850" dirty="0"/>
          </a:p>
        </p:txBody>
      </p:sp>
      <p:sp>
        <p:nvSpPr>
          <p:cNvPr id="45" name="Text 43"/>
          <p:cNvSpPr/>
          <p:nvPr/>
        </p:nvSpPr>
        <p:spPr>
          <a:xfrm>
            <a:off x="8193024" y="2432304"/>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ReceicoはLINEトークン引き継ぎ（SSO）でCardからシームレス遷移</a:t>
            </a:r>
            <a:endParaRPr lang="en-US" sz="900" dirty="0"/>
          </a:p>
        </p:txBody>
      </p:sp>
      <p:sp>
        <p:nvSpPr>
          <p:cNvPr id="46" name="Shape 44"/>
          <p:cNvSpPr/>
          <p:nvPr/>
        </p:nvSpPr>
        <p:spPr>
          <a:xfrm>
            <a:off x="8138160" y="2889504"/>
            <a:ext cx="3749040" cy="713232"/>
          </a:xfrm>
          <a:prstGeom prst="rect">
            <a:avLst/>
          </a:prstGeom>
          <a:solidFill>
            <a:srgbClr val="FAFAFA"/>
          </a:solidFill>
          <a:ln w="6350">
            <a:solidFill>
              <a:srgbClr val="EEEEEE"/>
            </a:solidFill>
            <a:prstDash val="solid"/>
          </a:ln>
        </p:spPr>
      </p:sp>
      <p:sp>
        <p:nvSpPr>
          <p:cNvPr id="47" name="Text 45"/>
          <p:cNvSpPr/>
          <p:nvPr/>
        </p:nvSpPr>
        <p:spPr>
          <a:xfrm>
            <a:off x="8193024" y="2926080"/>
            <a:ext cx="822960" cy="256032"/>
          </a:xfrm>
          <a:prstGeom prst="rect">
            <a:avLst/>
          </a:prstGeom>
          <a:noFill/>
          <a:ln/>
        </p:spPr>
        <p:txBody>
          <a:bodyPr wrap="square" lIns="0" tIns="0" rIns="0" bIns="0" rtlCol="0" anchor="ctr"/>
          <a:lstStyle/>
          <a:p>
            <a:pPr indent="0" marL="0">
              <a:buNone/>
            </a:pPr>
            <a:r>
              <a:rPr lang="en-US" sz="850" b="1" dirty="0">
                <a:solidFill>
                  <a:srgbClr val="E87722"/>
                </a:solidFill>
                <a:latin typeface="Meiryo" pitchFamily="34" charset="0"/>
                <a:ea typeface="Meiryo" pitchFamily="34" charset="-122"/>
                <a:cs typeface="Meiryo" pitchFamily="34" charset="-120"/>
              </a:rPr>
              <a:t>連携</a:t>
            </a:r>
            <a:endParaRPr lang="en-US" sz="850" dirty="0"/>
          </a:p>
        </p:txBody>
      </p:sp>
      <p:sp>
        <p:nvSpPr>
          <p:cNvPr id="48" name="Text 46"/>
          <p:cNvSpPr/>
          <p:nvPr/>
        </p:nvSpPr>
        <p:spPr>
          <a:xfrm>
            <a:off x="8193024" y="3182112"/>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タクシー承認ポイントはReceico→CardへのAPI連携（Webhook）で反映</a:t>
            </a:r>
            <a:endParaRPr lang="en-US" sz="900" dirty="0"/>
          </a:p>
        </p:txBody>
      </p:sp>
      <p:sp>
        <p:nvSpPr>
          <p:cNvPr id="49" name="Shape 47"/>
          <p:cNvSpPr/>
          <p:nvPr/>
        </p:nvSpPr>
        <p:spPr>
          <a:xfrm>
            <a:off x="8138160" y="3639312"/>
            <a:ext cx="3749040" cy="713232"/>
          </a:xfrm>
          <a:prstGeom prst="rect">
            <a:avLst/>
          </a:prstGeom>
          <a:solidFill>
            <a:srgbClr val="FFFFFF"/>
          </a:solidFill>
          <a:ln w="6350">
            <a:solidFill>
              <a:srgbClr val="EEEEEE"/>
            </a:solidFill>
            <a:prstDash val="solid"/>
          </a:ln>
        </p:spPr>
      </p:sp>
      <p:sp>
        <p:nvSpPr>
          <p:cNvPr id="50" name="Text 48"/>
          <p:cNvSpPr/>
          <p:nvPr/>
        </p:nvSpPr>
        <p:spPr>
          <a:xfrm>
            <a:off x="8193024" y="3675888"/>
            <a:ext cx="822960" cy="256032"/>
          </a:xfrm>
          <a:prstGeom prst="rect">
            <a:avLst/>
          </a:prstGeom>
          <a:noFill/>
          <a:ln/>
        </p:spPr>
        <p:txBody>
          <a:bodyPr wrap="square" lIns="0" tIns="0" rIns="0" bIns="0" rtlCol="0" anchor="ctr"/>
          <a:lstStyle/>
          <a:p>
            <a:pPr indent="0" marL="0">
              <a:buNone/>
            </a:pPr>
            <a:r>
              <a:rPr lang="en-US" sz="850" b="1" dirty="0">
                <a:solidFill>
                  <a:srgbClr val="E87722"/>
                </a:solidFill>
                <a:latin typeface="Meiryo" pitchFamily="34" charset="0"/>
                <a:ea typeface="Meiryo" pitchFamily="34" charset="-122"/>
                <a:cs typeface="Meiryo" pitchFamily="34" charset="-120"/>
              </a:rPr>
              <a:t>表示</a:t>
            </a:r>
            <a:endParaRPr lang="en-US" sz="850" dirty="0"/>
          </a:p>
        </p:txBody>
      </p:sp>
      <p:sp>
        <p:nvSpPr>
          <p:cNvPr id="51" name="Text 49"/>
          <p:cNvSpPr/>
          <p:nvPr/>
        </p:nvSpPr>
        <p:spPr>
          <a:xfrm>
            <a:off x="8193024" y="3931920"/>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「GPS乗車分」「タクシー承認済」「審査中（予定）」を内訳表示</a:t>
            </a:r>
            <a:endParaRPr lang="en-US" sz="900" dirty="0"/>
          </a:p>
        </p:txBody>
      </p:sp>
      <p:sp>
        <p:nvSpPr>
          <p:cNvPr id="52" name="Text 50"/>
          <p:cNvSpPr/>
          <p:nvPr/>
        </p:nvSpPr>
        <p:spPr>
          <a:xfrm>
            <a:off x="11365992" y="6565392"/>
            <a:ext cx="731520" cy="256032"/>
          </a:xfrm>
          <a:prstGeom prst="rect">
            <a:avLst/>
          </a:prstGeom>
          <a:noFill/>
          <a:ln/>
        </p:spPr>
        <p:txBody>
          <a:bodyPr wrap="square" lIns="0" tIns="0" rIns="0" bIns="0" rtlCol="0" anchor="ctr"/>
          <a:lstStyle/>
          <a:p>
            <a:pPr algn="r" indent="0" marL="0">
              <a:buNone/>
            </a:pPr>
            <a:r>
              <a:rPr lang="en-US" sz="900" dirty="0">
                <a:solidFill>
                  <a:srgbClr val="AAAAAA"/>
                </a:solidFill>
                <a:latin typeface="Meiryo" pitchFamily="34" charset="0"/>
                <a:ea typeface="Meiryo" pitchFamily="34" charset="-122"/>
                <a:cs typeface="Meiryo" pitchFamily="34" charset="-120"/>
              </a:rPr>
              <a:t>4 / 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2D2D2D"/>
          </a:solidFill>
          <a:ln/>
        </p:spPr>
      </p:sp>
      <p:sp>
        <p:nvSpPr>
          <p:cNvPr id="3" name="Shape 1"/>
          <p:cNvSpPr/>
          <p:nvPr/>
        </p:nvSpPr>
        <p:spPr>
          <a:xfrm>
            <a:off x="0" y="0"/>
            <a:ext cx="164592" cy="914400"/>
          </a:xfrm>
          <a:prstGeom prst="rect">
            <a:avLst/>
          </a:prstGeom>
          <a:solidFill>
            <a:srgbClr val="E87722"/>
          </a:solidFill>
          <a:ln/>
        </p:spPr>
      </p:sp>
      <p:sp>
        <p:nvSpPr>
          <p:cNvPr id="4" name="Text 2"/>
          <p:cNvSpPr/>
          <p:nvPr/>
        </p:nvSpPr>
        <p:spPr>
          <a:xfrm>
            <a:off x="347472" y="91440"/>
            <a:ext cx="10058400" cy="50292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カスタム開発が必要な箇所</a:t>
            </a:r>
            <a:endParaRPr lang="en-US" sz="2200" dirty="0"/>
          </a:p>
        </p:txBody>
      </p:sp>
      <p:sp>
        <p:nvSpPr>
          <p:cNvPr id="5" name="Text 3"/>
          <p:cNvSpPr/>
          <p:nvPr/>
        </p:nvSpPr>
        <p:spPr>
          <a:xfrm>
            <a:off x="347472" y="576072"/>
            <a:ext cx="10058400" cy="274320"/>
          </a:xfrm>
          <a:prstGeom prst="rect">
            <a:avLst/>
          </a:prstGeom>
          <a:noFill/>
          <a:ln/>
        </p:spPr>
        <p:txBody>
          <a:bodyPr wrap="square" lIns="0" tIns="0" rIns="0" bIns="0" rtlCol="0" anchor="ctr"/>
          <a:lstStyle/>
          <a:p>
            <a:pPr indent="0" marL="0">
              <a:buNone/>
            </a:pPr>
            <a:r>
              <a:rPr lang="en-US" sz="1000" dirty="0">
                <a:solidFill>
                  <a:srgbClr val="BBBBBB"/>
                </a:solidFill>
                <a:latin typeface="Meiryo" pitchFamily="34" charset="0"/>
                <a:ea typeface="Meiryo" pitchFamily="34" charset="-122"/>
                <a:cs typeface="Meiryo" pitchFamily="34" charset="-120"/>
              </a:rPr>
              <a:t>SE算定対象｜標準機能以外のカスタム開発ポイント</a:t>
            </a:r>
            <a:endParaRPr lang="en-US" sz="1000" dirty="0"/>
          </a:p>
        </p:txBody>
      </p:sp>
      <p:sp>
        <p:nvSpPr>
          <p:cNvPr id="6" name="Text 4"/>
          <p:cNvSpPr/>
          <p:nvPr/>
        </p:nvSpPr>
        <p:spPr>
          <a:xfrm>
            <a:off x="10177272" y="109728"/>
            <a:ext cx="192024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Meiryo" pitchFamily="34" charset="0"/>
                <a:ea typeface="Meiryo" pitchFamily="34" charset="-122"/>
                <a:cs typeface="Meiryo" pitchFamily="34" charset="-120"/>
              </a:rPr>
              <a:t>P5 カスタム開発</a:t>
            </a:r>
            <a:endParaRPr lang="en-US" sz="900" dirty="0"/>
          </a:p>
        </p:txBody>
      </p:sp>
      <p:sp>
        <p:nvSpPr>
          <p:cNvPr id="7" name="Shape 5"/>
          <p:cNvSpPr/>
          <p:nvPr/>
        </p:nvSpPr>
        <p:spPr>
          <a:xfrm>
            <a:off x="274320" y="987552"/>
            <a:ext cx="731520" cy="365760"/>
          </a:xfrm>
          <a:prstGeom prst="rect">
            <a:avLst/>
          </a:prstGeom>
          <a:solidFill>
            <a:srgbClr val="E87722"/>
          </a:solidFill>
          <a:ln w="12700">
            <a:solidFill>
              <a:srgbClr val="E87722"/>
            </a:solidFill>
            <a:prstDash val="solid"/>
          </a:ln>
        </p:spPr>
      </p:sp>
      <p:sp>
        <p:nvSpPr>
          <p:cNvPr id="8" name="Text 6"/>
          <p:cNvSpPr/>
          <p:nvPr/>
        </p:nvSpPr>
        <p:spPr>
          <a:xfrm>
            <a:off x="320040" y="1024128"/>
            <a:ext cx="640080" cy="274320"/>
          </a:xfrm>
          <a:prstGeom prst="rect">
            <a:avLst/>
          </a:prstGeom>
          <a:noFill/>
          <a:ln/>
        </p:spPr>
        <p:txBody>
          <a:bodyPr wrap="square" lIns="0" tIns="0" rIns="0" bIns="0" rtlCol="0" anchor="ctr"/>
          <a:lstStyle/>
          <a:p>
            <a:pPr indent="0" marL="0">
              <a:buNone/>
            </a:pPr>
            <a:r>
              <a:rPr lang="en-US" sz="900" b="1" dirty="0">
                <a:solidFill>
                  <a:srgbClr val="FFFFFF"/>
                </a:solidFill>
                <a:latin typeface="Meiryo" pitchFamily="34" charset="0"/>
                <a:ea typeface="Meiryo" pitchFamily="34" charset="-122"/>
                <a:cs typeface="Meiryo" pitchFamily="34" charset="-120"/>
              </a:rPr>
              <a:t>ID</a:t>
            </a:r>
            <a:endParaRPr lang="en-US" sz="900" dirty="0"/>
          </a:p>
        </p:txBody>
      </p:sp>
      <p:sp>
        <p:nvSpPr>
          <p:cNvPr id="9" name="Shape 7"/>
          <p:cNvSpPr/>
          <p:nvPr/>
        </p:nvSpPr>
        <p:spPr>
          <a:xfrm>
            <a:off x="1005840" y="987552"/>
            <a:ext cx="914400" cy="365760"/>
          </a:xfrm>
          <a:prstGeom prst="rect">
            <a:avLst/>
          </a:prstGeom>
          <a:solidFill>
            <a:srgbClr val="E87722"/>
          </a:solidFill>
          <a:ln w="12700">
            <a:solidFill>
              <a:srgbClr val="E87722"/>
            </a:solidFill>
            <a:prstDash val="solid"/>
          </a:ln>
        </p:spPr>
      </p:sp>
      <p:sp>
        <p:nvSpPr>
          <p:cNvPr id="10" name="Text 8"/>
          <p:cNvSpPr/>
          <p:nvPr/>
        </p:nvSpPr>
        <p:spPr>
          <a:xfrm>
            <a:off x="1051560" y="1024128"/>
            <a:ext cx="822960" cy="274320"/>
          </a:xfrm>
          <a:prstGeom prst="rect">
            <a:avLst/>
          </a:prstGeom>
          <a:noFill/>
          <a:ln/>
        </p:spPr>
        <p:txBody>
          <a:bodyPr wrap="square" lIns="0" tIns="0" rIns="0" bIns="0" rtlCol="0" anchor="ctr"/>
          <a:lstStyle/>
          <a:p>
            <a:pPr indent="0" marL="0">
              <a:buNone/>
            </a:pPr>
            <a:r>
              <a:rPr lang="en-US" sz="900" b="1" dirty="0">
                <a:solidFill>
                  <a:srgbClr val="FFFFFF"/>
                </a:solidFill>
                <a:latin typeface="Meiryo" pitchFamily="34" charset="0"/>
                <a:ea typeface="Meiryo" pitchFamily="34" charset="-122"/>
                <a:cs typeface="Meiryo" pitchFamily="34" charset="-120"/>
              </a:rPr>
              <a:t>区分</a:t>
            </a:r>
            <a:endParaRPr lang="en-US" sz="900" dirty="0"/>
          </a:p>
        </p:txBody>
      </p:sp>
      <p:sp>
        <p:nvSpPr>
          <p:cNvPr id="11" name="Shape 9"/>
          <p:cNvSpPr/>
          <p:nvPr/>
        </p:nvSpPr>
        <p:spPr>
          <a:xfrm>
            <a:off x="1920240" y="987552"/>
            <a:ext cx="2286000" cy="365760"/>
          </a:xfrm>
          <a:prstGeom prst="rect">
            <a:avLst/>
          </a:prstGeom>
          <a:solidFill>
            <a:srgbClr val="E87722"/>
          </a:solidFill>
          <a:ln w="12700">
            <a:solidFill>
              <a:srgbClr val="E87722"/>
            </a:solidFill>
            <a:prstDash val="solid"/>
          </a:ln>
        </p:spPr>
      </p:sp>
      <p:sp>
        <p:nvSpPr>
          <p:cNvPr id="12" name="Text 10"/>
          <p:cNvSpPr/>
          <p:nvPr/>
        </p:nvSpPr>
        <p:spPr>
          <a:xfrm>
            <a:off x="1965960" y="1024128"/>
            <a:ext cx="2194560" cy="274320"/>
          </a:xfrm>
          <a:prstGeom prst="rect">
            <a:avLst/>
          </a:prstGeom>
          <a:noFill/>
          <a:ln/>
        </p:spPr>
        <p:txBody>
          <a:bodyPr wrap="square" lIns="0" tIns="0" rIns="0" bIns="0" rtlCol="0" anchor="ctr"/>
          <a:lstStyle/>
          <a:p>
            <a:pPr indent="0" marL="0">
              <a:buNone/>
            </a:pPr>
            <a:r>
              <a:rPr lang="en-US" sz="900" b="1" dirty="0">
                <a:solidFill>
                  <a:srgbClr val="FFFFFF"/>
                </a:solidFill>
                <a:latin typeface="Meiryo" pitchFamily="34" charset="0"/>
                <a:ea typeface="Meiryo" pitchFamily="34" charset="-122"/>
                <a:cs typeface="Meiryo" pitchFamily="34" charset="-120"/>
              </a:rPr>
              <a:t>機能名</a:t>
            </a:r>
            <a:endParaRPr lang="en-US" sz="900" dirty="0"/>
          </a:p>
        </p:txBody>
      </p:sp>
      <p:sp>
        <p:nvSpPr>
          <p:cNvPr id="13" name="Shape 11"/>
          <p:cNvSpPr/>
          <p:nvPr/>
        </p:nvSpPr>
        <p:spPr>
          <a:xfrm>
            <a:off x="4206240" y="987552"/>
            <a:ext cx="5120640" cy="365760"/>
          </a:xfrm>
          <a:prstGeom prst="rect">
            <a:avLst/>
          </a:prstGeom>
          <a:solidFill>
            <a:srgbClr val="E87722"/>
          </a:solidFill>
          <a:ln w="12700">
            <a:solidFill>
              <a:srgbClr val="E87722"/>
            </a:solidFill>
            <a:prstDash val="solid"/>
          </a:ln>
        </p:spPr>
      </p:sp>
      <p:sp>
        <p:nvSpPr>
          <p:cNvPr id="14" name="Text 12"/>
          <p:cNvSpPr/>
          <p:nvPr/>
        </p:nvSpPr>
        <p:spPr>
          <a:xfrm>
            <a:off x="4251960" y="1024128"/>
            <a:ext cx="5029200" cy="274320"/>
          </a:xfrm>
          <a:prstGeom prst="rect">
            <a:avLst/>
          </a:prstGeom>
          <a:noFill/>
          <a:ln/>
        </p:spPr>
        <p:txBody>
          <a:bodyPr wrap="square" lIns="0" tIns="0" rIns="0" bIns="0" rtlCol="0" anchor="ctr"/>
          <a:lstStyle/>
          <a:p>
            <a:pPr indent="0" marL="0">
              <a:buNone/>
            </a:pPr>
            <a:r>
              <a:rPr lang="en-US" sz="900" b="1" dirty="0">
                <a:solidFill>
                  <a:srgbClr val="FFFFFF"/>
                </a:solidFill>
                <a:latin typeface="Meiryo" pitchFamily="34" charset="0"/>
                <a:ea typeface="Meiryo" pitchFamily="34" charset="-122"/>
                <a:cs typeface="Meiryo" pitchFamily="34" charset="-120"/>
              </a:rPr>
              <a:t>要件概要</a:t>
            </a:r>
            <a:endParaRPr lang="en-US" sz="900" dirty="0"/>
          </a:p>
        </p:txBody>
      </p:sp>
      <p:sp>
        <p:nvSpPr>
          <p:cNvPr id="15" name="Shape 13"/>
          <p:cNvSpPr/>
          <p:nvPr/>
        </p:nvSpPr>
        <p:spPr>
          <a:xfrm>
            <a:off x="9326880" y="987552"/>
            <a:ext cx="914400" cy="365760"/>
          </a:xfrm>
          <a:prstGeom prst="rect">
            <a:avLst/>
          </a:prstGeom>
          <a:solidFill>
            <a:srgbClr val="E87722"/>
          </a:solidFill>
          <a:ln w="12700">
            <a:solidFill>
              <a:srgbClr val="E87722"/>
            </a:solidFill>
            <a:prstDash val="solid"/>
          </a:ln>
        </p:spPr>
      </p:sp>
      <p:sp>
        <p:nvSpPr>
          <p:cNvPr id="16" name="Text 14"/>
          <p:cNvSpPr/>
          <p:nvPr/>
        </p:nvSpPr>
        <p:spPr>
          <a:xfrm>
            <a:off x="9372600" y="1024128"/>
            <a:ext cx="822960" cy="274320"/>
          </a:xfrm>
          <a:prstGeom prst="rect">
            <a:avLst/>
          </a:prstGeom>
          <a:noFill/>
          <a:ln/>
        </p:spPr>
        <p:txBody>
          <a:bodyPr wrap="square" lIns="0" tIns="0" rIns="0" bIns="0" rtlCol="0" anchor="ctr"/>
          <a:lstStyle/>
          <a:p>
            <a:pPr indent="0" marL="0">
              <a:buNone/>
            </a:pPr>
            <a:r>
              <a:rPr lang="en-US" sz="900" b="1" dirty="0">
                <a:solidFill>
                  <a:srgbClr val="FFFFFF"/>
                </a:solidFill>
                <a:latin typeface="Meiryo" pitchFamily="34" charset="0"/>
                <a:ea typeface="Meiryo" pitchFamily="34" charset="-122"/>
                <a:cs typeface="Meiryo" pitchFamily="34" charset="-120"/>
              </a:rPr>
              <a:t>難易度</a:t>
            </a:r>
            <a:endParaRPr lang="en-US" sz="900" dirty="0"/>
          </a:p>
        </p:txBody>
      </p:sp>
      <p:sp>
        <p:nvSpPr>
          <p:cNvPr id="17" name="Shape 15"/>
          <p:cNvSpPr/>
          <p:nvPr/>
        </p:nvSpPr>
        <p:spPr>
          <a:xfrm>
            <a:off x="10241280" y="987552"/>
            <a:ext cx="1764792" cy="365760"/>
          </a:xfrm>
          <a:prstGeom prst="rect">
            <a:avLst/>
          </a:prstGeom>
          <a:solidFill>
            <a:srgbClr val="E87722"/>
          </a:solidFill>
          <a:ln w="12700">
            <a:solidFill>
              <a:srgbClr val="E87722"/>
            </a:solidFill>
            <a:prstDash val="solid"/>
          </a:ln>
        </p:spPr>
      </p:sp>
      <p:sp>
        <p:nvSpPr>
          <p:cNvPr id="18" name="Text 16"/>
          <p:cNvSpPr/>
          <p:nvPr/>
        </p:nvSpPr>
        <p:spPr>
          <a:xfrm>
            <a:off x="10287000" y="1024128"/>
            <a:ext cx="1673352" cy="274320"/>
          </a:xfrm>
          <a:prstGeom prst="rect">
            <a:avLst/>
          </a:prstGeom>
          <a:noFill/>
          <a:ln/>
        </p:spPr>
        <p:txBody>
          <a:bodyPr wrap="square" lIns="0" tIns="0" rIns="0" bIns="0" rtlCol="0" anchor="ctr"/>
          <a:lstStyle/>
          <a:p>
            <a:pPr indent="0" marL="0">
              <a:buNone/>
            </a:pPr>
            <a:r>
              <a:rPr lang="en-US" sz="900" b="1" dirty="0">
                <a:solidFill>
                  <a:srgbClr val="FFFFFF"/>
                </a:solidFill>
                <a:latin typeface="Meiryo" pitchFamily="34" charset="0"/>
                <a:ea typeface="Meiryo" pitchFamily="34" charset="-122"/>
                <a:cs typeface="Meiryo" pitchFamily="34" charset="-120"/>
              </a:rPr>
              <a:t>確認事項</a:t>
            </a:r>
            <a:endParaRPr lang="en-US" sz="900" dirty="0"/>
          </a:p>
        </p:txBody>
      </p:sp>
      <p:sp>
        <p:nvSpPr>
          <p:cNvPr id="19" name="Shape 17"/>
          <p:cNvSpPr/>
          <p:nvPr/>
        </p:nvSpPr>
        <p:spPr>
          <a:xfrm>
            <a:off x="274320" y="1389888"/>
            <a:ext cx="731520" cy="566928"/>
          </a:xfrm>
          <a:prstGeom prst="rect">
            <a:avLst/>
          </a:prstGeom>
          <a:solidFill>
            <a:srgbClr val="FAFAFA"/>
          </a:solidFill>
          <a:ln w="6350">
            <a:solidFill>
              <a:srgbClr val="EEEEEE"/>
            </a:solidFill>
            <a:prstDash val="solid"/>
          </a:ln>
        </p:spPr>
      </p:sp>
      <p:sp>
        <p:nvSpPr>
          <p:cNvPr id="20" name="Shape 18"/>
          <p:cNvSpPr/>
          <p:nvPr/>
        </p:nvSpPr>
        <p:spPr>
          <a:xfrm>
            <a:off x="1005840" y="1389888"/>
            <a:ext cx="914400" cy="566928"/>
          </a:xfrm>
          <a:prstGeom prst="rect">
            <a:avLst/>
          </a:prstGeom>
          <a:solidFill>
            <a:srgbClr val="FAFAFA"/>
          </a:solidFill>
          <a:ln w="6350">
            <a:solidFill>
              <a:srgbClr val="EEEEEE"/>
            </a:solidFill>
            <a:prstDash val="solid"/>
          </a:ln>
        </p:spPr>
      </p:sp>
      <p:sp>
        <p:nvSpPr>
          <p:cNvPr id="21" name="Shape 19"/>
          <p:cNvSpPr/>
          <p:nvPr/>
        </p:nvSpPr>
        <p:spPr>
          <a:xfrm>
            <a:off x="1920240" y="1389888"/>
            <a:ext cx="2286000" cy="566928"/>
          </a:xfrm>
          <a:prstGeom prst="rect">
            <a:avLst/>
          </a:prstGeom>
          <a:solidFill>
            <a:srgbClr val="FAFAFA"/>
          </a:solidFill>
          <a:ln w="6350">
            <a:solidFill>
              <a:srgbClr val="EEEEEE"/>
            </a:solidFill>
            <a:prstDash val="solid"/>
          </a:ln>
        </p:spPr>
      </p:sp>
      <p:sp>
        <p:nvSpPr>
          <p:cNvPr id="22" name="Shape 20"/>
          <p:cNvSpPr/>
          <p:nvPr/>
        </p:nvSpPr>
        <p:spPr>
          <a:xfrm>
            <a:off x="4206240" y="1389888"/>
            <a:ext cx="5120640" cy="566928"/>
          </a:xfrm>
          <a:prstGeom prst="rect">
            <a:avLst/>
          </a:prstGeom>
          <a:solidFill>
            <a:srgbClr val="FAFAFA"/>
          </a:solidFill>
          <a:ln w="6350">
            <a:solidFill>
              <a:srgbClr val="EEEEEE"/>
            </a:solidFill>
            <a:prstDash val="solid"/>
          </a:ln>
        </p:spPr>
      </p:sp>
      <p:sp>
        <p:nvSpPr>
          <p:cNvPr id="23" name="Shape 21"/>
          <p:cNvSpPr/>
          <p:nvPr/>
        </p:nvSpPr>
        <p:spPr>
          <a:xfrm>
            <a:off x="9326880" y="1389888"/>
            <a:ext cx="914400" cy="566928"/>
          </a:xfrm>
          <a:prstGeom prst="rect">
            <a:avLst/>
          </a:prstGeom>
          <a:solidFill>
            <a:srgbClr val="FAFAFA"/>
          </a:solidFill>
          <a:ln w="6350">
            <a:solidFill>
              <a:srgbClr val="EEEEEE"/>
            </a:solidFill>
            <a:prstDash val="solid"/>
          </a:ln>
        </p:spPr>
      </p:sp>
      <p:sp>
        <p:nvSpPr>
          <p:cNvPr id="24" name="Shape 22"/>
          <p:cNvSpPr/>
          <p:nvPr/>
        </p:nvSpPr>
        <p:spPr>
          <a:xfrm>
            <a:off x="10241280" y="1389888"/>
            <a:ext cx="1764792" cy="566928"/>
          </a:xfrm>
          <a:prstGeom prst="rect">
            <a:avLst/>
          </a:prstGeom>
          <a:solidFill>
            <a:srgbClr val="FAFAFA"/>
          </a:solidFill>
          <a:ln w="6350">
            <a:solidFill>
              <a:srgbClr val="EEEEEE"/>
            </a:solidFill>
            <a:prstDash val="solid"/>
          </a:ln>
        </p:spPr>
      </p:sp>
      <p:sp>
        <p:nvSpPr>
          <p:cNvPr id="25" name="Text 23"/>
          <p:cNvSpPr/>
          <p:nvPr/>
        </p:nvSpPr>
        <p:spPr>
          <a:xfrm>
            <a:off x="320040" y="1444752"/>
            <a:ext cx="640080" cy="457200"/>
          </a:xfrm>
          <a:prstGeom prst="rect">
            <a:avLst/>
          </a:prstGeom>
          <a:solidFill>
            <a:srgbClr val="FEE2E2"/>
          </a:solidFill>
          <a:ln/>
        </p:spPr>
        <p:txBody>
          <a:bodyPr wrap="square" lIns="25400" tIns="25400" rIns="25400" bIns="25400" rtlCol="0" anchor="ctr"/>
          <a:lstStyle/>
          <a:p>
            <a:pPr algn="ctr" indent="0" marL="0">
              <a:buNone/>
            </a:pPr>
            <a:r>
              <a:rPr lang="en-US" sz="900" b="1" dirty="0">
                <a:solidFill>
                  <a:srgbClr val="991B1B"/>
                </a:solidFill>
                <a:latin typeface="Meiryo" pitchFamily="34" charset="0"/>
                <a:ea typeface="Meiryo" pitchFamily="34" charset="-122"/>
                <a:cs typeface="Meiryo" pitchFamily="34" charset="-120"/>
              </a:rPr>
              <a:t>F-01</a:t>
            </a:r>
            <a:endParaRPr lang="en-US" sz="900" dirty="0"/>
          </a:p>
        </p:txBody>
      </p:sp>
      <p:sp>
        <p:nvSpPr>
          <p:cNvPr id="26" name="Text 24"/>
          <p:cNvSpPr/>
          <p:nvPr/>
        </p:nvSpPr>
        <p:spPr>
          <a:xfrm>
            <a:off x="1051560" y="1527048"/>
            <a:ext cx="822960" cy="274320"/>
          </a:xfrm>
          <a:prstGeom prst="rect">
            <a:avLst/>
          </a:prstGeom>
          <a:solidFill>
            <a:srgbClr val="DBEAFE"/>
          </a:solidFill>
          <a:ln/>
        </p:spPr>
        <p:txBody>
          <a:bodyPr wrap="square" lIns="25400" tIns="25400" rIns="25400" bIns="25400" rtlCol="0" anchor="ctr"/>
          <a:lstStyle/>
          <a:p>
            <a:pPr algn="ctr" indent="0" marL="0">
              <a:buNone/>
            </a:pPr>
            <a:r>
              <a:rPr lang="en-US" sz="850" b="1" dirty="0">
                <a:solidFill>
                  <a:srgbClr val="1D4ED8"/>
                </a:solidFill>
                <a:latin typeface="Meiryo" pitchFamily="34" charset="0"/>
                <a:ea typeface="Meiryo" pitchFamily="34" charset="-122"/>
                <a:cs typeface="Meiryo" pitchFamily="34" charset="-120"/>
              </a:rPr>
              <a:t>フロント</a:t>
            </a:r>
            <a:endParaRPr lang="en-US" sz="850" dirty="0"/>
          </a:p>
        </p:txBody>
      </p:sp>
      <p:sp>
        <p:nvSpPr>
          <p:cNvPr id="27" name="Text 25"/>
          <p:cNvSpPr/>
          <p:nvPr/>
        </p:nvSpPr>
        <p:spPr>
          <a:xfrm>
            <a:off x="1965960" y="1444752"/>
            <a:ext cx="2194560" cy="457200"/>
          </a:xfrm>
          <a:prstGeom prst="rect">
            <a:avLst/>
          </a:prstGeom>
          <a:noFill/>
          <a:ln/>
        </p:spPr>
        <p:txBody>
          <a:bodyPr wrap="square" lIns="0" tIns="0" rIns="0" bIns="0" rtlCol="0" anchor="ctr"/>
          <a:lstStyle/>
          <a:p>
            <a:pPr indent="0" marL="0">
              <a:buNone/>
            </a:pPr>
            <a:r>
              <a:rPr lang="en-US" sz="900" b="1" dirty="0">
                <a:solidFill>
                  <a:srgbClr val="2D2D2D"/>
                </a:solidFill>
                <a:latin typeface="Meiryo" pitchFamily="34" charset="0"/>
                <a:ea typeface="Meiryo" pitchFamily="34" charset="-122"/>
                <a:cs typeface="Meiryo" pitchFamily="34" charset="-120"/>
              </a:rPr>
              <a:t>マイページ ボタン追加＋乗車中UI</a:t>
            </a:r>
            <a:endParaRPr lang="en-US" sz="900" dirty="0"/>
          </a:p>
        </p:txBody>
      </p:sp>
      <p:sp>
        <p:nvSpPr>
          <p:cNvPr id="28" name="Text 26"/>
          <p:cNvSpPr/>
          <p:nvPr/>
        </p:nvSpPr>
        <p:spPr>
          <a:xfrm>
            <a:off x="4251960" y="1426464"/>
            <a:ext cx="5029200" cy="50292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乗車/タクシー2ボタン分岐・乗車中バー・降りるボタン解放・キャンセル確認</a:t>
            </a:r>
            <a:endParaRPr lang="en-US" sz="900" dirty="0"/>
          </a:p>
        </p:txBody>
      </p:sp>
      <p:sp>
        <p:nvSpPr>
          <p:cNvPr id="29" name="Text 27"/>
          <p:cNvSpPr/>
          <p:nvPr/>
        </p:nvSpPr>
        <p:spPr>
          <a:xfrm>
            <a:off x="9372600" y="1527048"/>
            <a:ext cx="822960" cy="274320"/>
          </a:xfrm>
          <a:prstGeom prst="rect">
            <a:avLst/>
          </a:prstGeom>
          <a:solidFill>
            <a:srgbClr val="FEF3C7"/>
          </a:solidFill>
          <a:ln/>
        </p:spPr>
        <p:txBody>
          <a:bodyPr wrap="square" lIns="25400" tIns="25400" rIns="25400" bIns="25400" rtlCol="0" anchor="ctr"/>
          <a:lstStyle/>
          <a:p>
            <a:pPr algn="ctr" indent="0" marL="0">
              <a:buNone/>
            </a:pPr>
            <a:r>
              <a:rPr lang="en-US" sz="800" b="1" dirty="0">
                <a:solidFill>
                  <a:srgbClr val="92400E"/>
                </a:solidFill>
                <a:latin typeface="Meiryo" pitchFamily="34" charset="0"/>
                <a:ea typeface="Meiryo" pitchFamily="34" charset="-122"/>
                <a:cs typeface="Meiryo" pitchFamily="34" charset="-120"/>
              </a:rPr>
              <a:t>小〜中</a:t>
            </a:r>
            <a:endParaRPr lang="en-US" sz="800" dirty="0"/>
          </a:p>
        </p:txBody>
      </p:sp>
      <p:sp>
        <p:nvSpPr>
          <p:cNvPr id="30" name="Text 28"/>
          <p:cNvSpPr/>
          <p:nvPr/>
        </p:nvSpPr>
        <p:spPr>
          <a:xfrm>
            <a:off x="10287000" y="1426464"/>
            <a:ext cx="1645920" cy="502920"/>
          </a:xfrm>
          <a:prstGeom prst="rect">
            <a:avLst/>
          </a:prstGeom>
          <a:noFill/>
          <a:ln/>
        </p:spPr>
        <p:txBody>
          <a:bodyPr wrap="square" lIns="0" tIns="0" rIns="0" bIns="0" rtlCol="0" anchor="ctr"/>
          <a:lstStyle/>
          <a:p>
            <a:pPr indent="0" marL="0">
              <a:buNone/>
            </a:pPr>
            <a:r>
              <a:rPr lang="en-US" sz="850" dirty="0">
                <a:solidFill>
                  <a:srgbClr val="E53935"/>
                </a:solidFill>
                <a:latin typeface="Meiryo" pitchFamily="34" charset="0"/>
                <a:ea typeface="Meiryo" pitchFamily="34" charset="-122"/>
                <a:cs typeface="Meiryo" pitchFamily="34" charset="-120"/>
              </a:rPr>
              <a:t>マイページHTML</a:t>
            </a:r>
            <a:endParaRPr lang="en-US" sz="850" dirty="0"/>
          </a:p>
          <a:p>
            <a:pPr indent="0" marL="0">
              <a:buNone/>
            </a:pPr>
            <a:r>
              <a:rPr lang="en-US" sz="850" dirty="0">
                <a:solidFill>
                  <a:srgbClr val="E53935"/>
                </a:solidFill>
                <a:latin typeface="Meiryo" pitchFamily="34" charset="0"/>
                <a:ea typeface="Meiryo" pitchFamily="34" charset="-122"/>
                <a:cs typeface="Meiryo" pitchFamily="34" charset="-120"/>
              </a:rPr>
              <a:t>カスタマイズ範囲</a:t>
            </a:r>
            <a:endParaRPr lang="en-US" sz="850" dirty="0"/>
          </a:p>
        </p:txBody>
      </p:sp>
      <p:sp>
        <p:nvSpPr>
          <p:cNvPr id="31" name="Shape 29"/>
          <p:cNvSpPr/>
          <p:nvPr/>
        </p:nvSpPr>
        <p:spPr>
          <a:xfrm>
            <a:off x="274320" y="1993392"/>
            <a:ext cx="731520" cy="566928"/>
          </a:xfrm>
          <a:prstGeom prst="rect">
            <a:avLst/>
          </a:prstGeom>
          <a:solidFill>
            <a:srgbClr val="FFFFFF"/>
          </a:solidFill>
          <a:ln w="6350">
            <a:solidFill>
              <a:srgbClr val="EEEEEE"/>
            </a:solidFill>
            <a:prstDash val="solid"/>
          </a:ln>
        </p:spPr>
      </p:sp>
      <p:sp>
        <p:nvSpPr>
          <p:cNvPr id="32" name="Shape 30"/>
          <p:cNvSpPr/>
          <p:nvPr/>
        </p:nvSpPr>
        <p:spPr>
          <a:xfrm>
            <a:off x="1005840" y="1993392"/>
            <a:ext cx="914400" cy="566928"/>
          </a:xfrm>
          <a:prstGeom prst="rect">
            <a:avLst/>
          </a:prstGeom>
          <a:solidFill>
            <a:srgbClr val="FFFFFF"/>
          </a:solidFill>
          <a:ln w="6350">
            <a:solidFill>
              <a:srgbClr val="EEEEEE"/>
            </a:solidFill>
            <a:prstDash val="solid"/>
          </a:ln>
        </p:spPr>
      </p:sp>
      <p:sp>
        <p:nvSpPr>
          <p:cNvPr id="33" name="Shape 31"/>
          <p:cNvSpPr/>
          <p:nvPr/>
        </p:nvSpPr>
        <p:spPr>
          <a:xfrm>
            <a:off x="1920240" y="1993392"/>
            <a:ext cx="2286000" cy="566928"/>
          </a:xfrm>
          <a:prstGeom prst="rect">
            <a:avLst/>
          </a:prstGeom>
          <a:solidFill>
            <a:srgbClr val="FFFFFF"/>
          </a:solidFill>
          <a:ln w="6350">
            <a:solidFill>
              <a:srgbClr val="EEEEEE"/>
            </a:solidFill>
            <a:prstDash val="solid"/>
          </a:ln>
        </p:spPr>
      </p:sp>
      <p:sp>
        <p:nvSpPr>
          <p:cNvPr id="34" name="Shape 32"/>
          <p:cNvSpPr/>
          <p:nvPr/>
        </p:nvSpPr>
        <p:spPr>
          <a:xfrm>
            <a:off x="4206240" y="1993392"/>
            <a:ext cx="5120640" cy="566928"/>
          </a:xfrm>
          <a:prstGeom prst="rect">
            <a:avLst/>
          </a:prstGeom>
          <a:solidFill>
            <a:srgbClr val="FFFFFF"/>
          </a:solidFill>
          <a:ln w="6350">
            <a:solidFill>
              <a:srgbClr val="EEEEEE"/>
            </a:solidFill>
            <a:prstDash val="solid"/>
          </a:ln>
        </p:spPr>
      </p:sp>
      <p:sp>
        <p:nvSpPr>
          <p:cNvPr id="35" name="Shape 33"/>
          <p:cNvSpPr/>
          <p:nvPr/>
        </p:nvSpPr>
        <p:spPr>
          <a:xfrm>
            <a:off x="9326880" y="1993392"/>
            <a:ext cx="914400" cy="566928"/>
          </a:xfrm>
          <a:prstGeom prst="rect">
            <a:avLst/>
          </a:prstGeom>
          <a:solidFill>
            <a:srgbClr val="FFFFFF"/>
          </a:solidFill>
          <a:ln w="6350">
            <a:solidFill>
              <a:srgbClr val="EEEEEE"/>
            </a:solidFill>
            <a:prstDash val="solid"/>
          </a:ln>
        </p:spPr>
      </p:sp>
      <p:sp>
        <p:nvSpPr>
          <p:cNvPr id="36" name="Shape 34"/>
          <p:cNvSpPr/>
          <p:nvPr/>
        </p:nvSpPr>
        <p:spPr>
          <a:xfrm>
            <a:off x="10241280" y="1993392"/>
            <a:ext cx="1764792" cy="566928"/>
          </a:xfrm>
          <a:prstGeom prst="rect">
            <a:avLst/>
          </a:prstGeom>
          <a:solidFill>
            <a:srgbClr val="FFFFFF"/>
          </a:solidFill>
          <a:ln w="6350">
            <a:solidFill>
              <a:srgbClr val="EEEEEE"/>
            </a:solidFill>
            <a:prstDash val="solid"/>
          </a:ln>
        </p:spPr>
      </p:sp>
      <p:sp>
        <p:nvSpPr>
          <p:cNvPr id="37" name="Text 35"/>
          <p:cNvSpPr/>
          <p:nvPr/>
        </p:nvSpPr>
        <p:spPr>
          <a:xfrm>
            <a:off x="320040" y="2048256"/>
            <a:ext cx="640080" cy="457200"/>
          </a:xfrm>
          <a:prstGeom prst="rect">
            <a:avLst/>
          </a:prstGeom>
          <a:solidFill>
            <a:srgbClr val="FEE2E2"/>
          </a:solidFill>
          <a:ln/>
        </p:spPr>
        <p:txBody>
          <a:bodyPr wrap="square" lIns="25400" tIns="25400" rIns="25400" bIns="25400" rtlCol="0" anchor="ctr"/>
          <a:lstStyle/>
          <a:p>
            <a:pPr algn="ctr" indent="0" marL="0">
              <a:buNone/>
            </a:pPr>
            <a:r>
              <a:rPr lang="en-US" sz="900" b="1" dirty="0">
                <a:solidFill>
                  <a:srgbClr val="991B1B"/>
                </a:solidFill>
                <a:latin typeface="Meiryo" pitchFamily="34" charset="0"/>
                <a:ea typeface="Meiryo" pitchFamily="34" charset="-122"/>
                <a:cs typeface="Meiryo" pitchFamily="34" charset="-120"/>
              </a:rPr>
              <a:t>F-02</a:t>
            </a:r>
            <a:endParaRPr lang="en-US" sz="900" dirty="0"/>
          </a:p>
        </p:txBody>
      </p:sp>
      <p:sp>
        <p:nvSpPr>
          <p:cNvPr id="38" name="Text 36"/>
          <p:cNvSpPr/>
          <p:nvPr/>
        </p:nvSpPr>
        <p:spPr>
          <a:xfrm>
            <a:off x="1051560" y="2130552"/>
            <a:ext cx="822960" cy="274320"/>
          </a:xfrm>
          <a:prstGeom prst="rect">
            <a:avLst/>
          </a:prstGeom>
          <a:solidFill>
            <a:srgbClr val="DBEAFE"/>
          </a:solidFill>
          <a:ln/>
        </p:spPr>
        <p:txBody>
          <a:bodyPr wrap="square" lIns="25400" tIns="25400" rIns="25400" bIns="25400" rtlCol="0" anchor="ctr"/>
          <a:lstStyle/>
          <a:p>
            <a:pPr algn="ctr" indent="0" marL="0">
              <a:buNone/>
            </a:pPr>
            <a:r>
              <a:rPr lang="en-US" sz="850" b="1" dirty="0">
                <a:solidFill>
                  <a:srgbClr val="1D4ED8"/>
                </a:solidFill>
                <a:latin typeface="Meiryo" pitchFamily="34" charset="0"/>
                <a:ea typeface="Meiryo" pitchFamily="34" charset="-122"/>
                <a:cs typeface="Meiryo" pitchFamily="34" charset="-120"/>
              </a:rPr>
              <a:t>フロント</a:t>
            </a:r>
            <a:endParaRPr lang="en-US" sz="850" dirty="0"/>
          </a:p>
        </p:txBody>
      </p:sp>
      <p:sp>
        <p:nvSpPr>
          <p:cNvPr id="39" name="Text 37"/>
          <p:cNvSpPr/>
          <p:nvPr/>
        </p:nvSpPr>
        <p:spPr>
          <a:xfrm>
            <a:off x="1965960" y="2048256"/>
            <a:ext cx="2194560" cy="457200"/>
          </a:xfrm>
          <a:prstGeom prst="rect">
            <a:avLst/>
          </a:prstGeom>
          <a:noFill/>
          <a:ln/>
        </p:spPr>
        <p:txBody>
          <a:bodyPr wrap="square" lIns="0" tIns="0" rIns="0" bIns="0" rtlCol="0" anchor="ctr"/>
          <a:lstStyle/>
          <a:p>
            <a:pPr indent="0" marL="0">
              <a:buNone/>
            </a:pPr>
            <a:r>
              <a:rPr lang="en-US" sz="900" b="1" dirty="0">
                <a:solidFill>
                  <a:srgbClr val="2D2D2D"/>
                </a:solidFill>
                <a:latin typeface="Meiryo" pitchFamily="34" charset="0"/>
                <a:ea typeface="Meiryo" pitchFamily="34" charset="-122"/>
                <a:cs typeface="Meiryo" pitchFamily="34" charset="-120"/>
              </a:rPr>
              <a:t>乗車地検索フロー （BoardingSearchFlow）</a:t>
            </a:r>
            <a:endParaRPr lang="en-US" sz="900" dirty="0"/>
          </a:p>
        </p:txBody>
      </p:sp>
      <p:sp>
        <p:nvSpPr>
          <p:cNvPr id="40" name="Text 38"/>
          <p:cNvSpPr/>
          <p:nvPr/>
        </p:nvSpPr>
        <p:spPr>
          <a:xfrm>
            <a:off x="4251960" y="2029968"/>
            <a:ext cx="5029200" cy="50292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交通種別→会社→路線選択→GPS→停留所選択 全12画面</a:t>
            </a:r>
            <a:endParaRPr lang="en-US" sz="900" dirty="0"/>
          </a:p>
        </p:txBody>
      </p:sp>
      <p:sp>
        <p:nvSpPr>
          <p:cNvPr id="41" name="Text 39"/>
          <p:cNvSpPr/>
          <p:nvPr/>
        </p:nvSpPr>
        <p:spPr>
          <a:xfrm>
            <a:off x="9372600" y="2130552"/>
            <a:ext cx="822960" cy="274320"/>
          </a:xfrm>
          <a:prstGeom prst="rect">
            <a:avLst/>
          </a:prstGeom>
          <a:solidFill>
            <a:srgbClr val="FEE2E2"/>
          </a:solidFill>
          <a:ln/>
        </p:spPr>
        <p:txBody>
          <a:bodyPr wrap="square" lIns="25400" tIns="25400" rIns="25400" bIns="25400" rtlCol="0" anchor="ctr"/>
          <a:lstStyle/>
          <a:p>
            <a:pPr algn="ctr" indent="0" marL="0">
              <a:buNone/>
            </a:pPr>
            <a:r>
              <a:rPr lang="en-US" sz="800" b="1" dirty="0">
                <a:solidFill>
                  <a:srgbClr val="991B1B"/>
                </a:solidFill>
                <a:latin typeface="Meiryo" pitchFamily="34" charset="0"/>
                <a:ea typeface="Meiryo" pitchFamily="34" charset="-122"/>
                <a:cs typeface="Meiryo" pitchFamily="34" charset="-120"/>
              </a:rPr>
              <a:t>中〜大</a:t>
            </a:r>
            <a:endParaRPr lang="en-US" sz="800" dirty="0"/>
          </a:p>
        </p:txBody>
      </p:sp>
      <p:sp>
        <p:nvSpPr>
          <p:cNvPr id="42" name="Text 40"/>
          <p:cNvSpPr/>
          <p:nvPr/>
        </p:nvSpPr>
        <p:spPr>
          <a:xfrm>
            <a:off x="10287000" y="2029968"/>
            <a:ext cx="1645920" cy="502920"/>
          </a:xfrm>
          <a:prstGeom prst="rect">
            <a:avLst/>
          </a:prstGeom>
          <a:noFill/>
          <a:ln/>
        </p:spPr>
        <p:txBody>
          <a:bodyPr wrap="square" lIns="0" tIns="0" rIns="0" bIns="0" rtlCol="0" anchor="ctr"/>
          <a:lstStyle/>
          <a:p>
            <a:pPr indent="0" marL="0">
              <a:buNone/>
            </a:pPr>
            <a:r>
              <a:rPr lang="en-US" sz="850" dirty="0">
                <a:solidFill>
                  <a:srgbClr val="E53935"/>
                </a:solidFill>
                <a:latin typeface="Meiryo" pitchFamily="34" charset="0"/>
                <a:ea typeface="Meiryo" pitchFamily="34" charset="-122"/>
                <a:cs typeface="Meiryo" pitchFamily="34" charset="-120"/>
              </a:rPr>
              <a:t>停留所検索API</a:t>
            </a:r>
            <a:endParaRPr lang="en-US" sz="850" dirty="0"/>
          </a:p>
          <a:p>
            <a:pPr indent="0" marL="0">
              <a:buNone/>
            </a:pPr>
            <a:r>
              <a:rPr lang="en-US" sz="850" dirty="0">
                <a:solidFill>
                  <a:srgbClr val="E53935"/>
                </a:solidFill>
                <a:latin typeface="Meiryo" pitchFamily="34" charset="0"/>
                <a:ea typeface="Meiryo" pitchFamily="34" charset="-122"/>
                <a:cs typeface="Meiryo" pitchFamily="34" charset="-120"/>
              </a:rPr>
              <a:t>実装方式を確認</a:t>
            </a:r>
            <a:endParaRPr lang="en-US" sz="850" dirty="0"/>
          </a:p>
        </p:txBody>
      </p:sp>
      <p:sp>
        <p:nvSpPr>
          <p:cNvPr id="43" name="Shape 41"/>
          <p:cNvSpPr/>
          <p:nvPr/>
        </p:nvSpPr>
        <p:spPr>
          <a:xfrm>
            <a:off x="274320" y="2596896"/>
            <a:ext cx="731520" cy="566928"/>
          </a:xfrm>
          <a:prstGeom prst="rect">
            <a:avLst/>
          </a:prstGeom>
          <a:solidFill>
            <a:srgbClr val="FAFAFA"/>
          </a:solidFill>
          <a:ln w="6350">
            <a:solidFill>
              <a:srgbClr val="EEEEEE"/>
            </a:solidFill>
            <a:prstDash val="solid"/>
          </a:ln>
        </p:spPr>
      </p:sp>
      <p:sp>
        <p:nvSpPr>
          <p:cNvPr id="44" name="Shape 42"/>
          <p:cNvSpPr/>
          <p:nvPr/>
        </p:nvSpPr>
        <p:spPr>
          <a:xfrm>
            <a:off x="1005840" y="2596896"/>
            <a:ext cx="914400" cy="566928"/>
          </a:xfrm>
          <a:prstGeom prst="rect">
            <a:avLst/>
          </a:prstGeom>
          <a:solidFill>
            <a:srgbClr val="FAFAFA"/>
          </a:solidFill>
          <a:ln w="6350">
            <a:solidFill>
              <a:srgbClr val="EEEEEE"/>
            </a:solidFill>
            <a:prstDash val="solid"/>
          </a:ln>
        </p:spPr>
      </p:sp>
      <p:sp>
        <p:nvSpPr>
          <p:cNvPr id="45" name="Shape 43"/>
          <p:cNvSpPr/>
          <p:nvPr/>
        </p:nvSpPr>
        <p:spPr>
          <a:xfrm>
            <a:off x="1920240" y="2596896"/>
            <a:ext cx="2286000" cy="566928"/>
          </a:xfrm>
          <a:prstGeom prst="rect">
            <a:avLst/>
          </a:prstGeom>
          <a:solidFill>
            <a:srgbClr val="FAFAFA"/>
          </a:solidFill>
          <a:ln w="6350">
            <a:solidFill>
              <a:srgbClr val="EEEEEE"/>
            </a:solidFill>
            <a:prstDash val="solid"/>
          </a:ln>
        </p:spPr>
      </p:sp>
      <p:sp>
        <p:nvSpPr>
          <p:cNvPr id="46" name="Shape 44"/>
          <p:cNvSpPr/>
          <p:nvPr/>
        </p:nvSpPr>
        <p:spPr>
          <a:xfrm>
            <a:off x="4206240" y="2596896"/>
            <a:ext cx="5120640" cy="566928"/>
          </a:xfrm>
          <a:prstGeom prst="rect">
            <a:avLst/>
          </a:prstGeom>
          <a:solidFill>
            <a:srgbClr val="FAFAFA"/>
          </a:solidFill>
          <a:ln w="6350">
            <a:solidFill>
              <a:srgbClr val="EEEEEE"/>
            </a:solidFill>
            <a:prstDash val="solid"/>
          </a:ln>
        </p:spPr>
      </p:sp>
      <p:sp>
        <p:nvSpPr>
          <p:cNvPr id="47" name="Shape 45"/>
          <p:cNvSpPr/>
          <p:nvPr/>
        </p:nvSpPr>
        <p:spPr>
          <a:xfrm>
            <a:off x="9326880" y="2596896"/>
            <a:ext cx="914400" cy="566928"/>
          </a:xfrm>
          <a:prstGeom prst="rect">
            <a:avLst/>
          </a:prstGeom>
          <a:solidFill>
            <a:srgbClr val="FAFAFA"/>
          </a:solidFill>
          <a:ln w="6350">
            <a:solidFill>
              <a:srgbClr val="EEEEEE"/>
            </a:solidFill>
            <a:prstDash val="solid"/>
          </a:ln>
        </p:spPr>
      </p:sp>
      <p:sp>
        <p:nvSpPr>
          <p:cNvPr id="48" name="Shape 46"/>
          <p:cNvSpPr/>
          <p:nvPr/>
        </p:nvSpPr>
        <p:spPr>
          <a:xfrm>
            <a:off x="10241280" y="2596896"/>
            <a:ext cx="1764792" cy="566928"/>
          </a:xfrm>
          <a:prstGeom prst="rect">
            <a:avLst/>
          </a:prstGeom>
          <a:solidFill>
            <a:srgbClr val="FAFAFA"/>
          </a:solidFill>
          <a:ln w="6350">
            <a:solidFill>
              <a:srgbClr val="EEEEEE"/>
            </a:solidFill>
            <a:prstDash val="solid"/>
          </a:ln>
        </p:spPr>
      </p:sp>
      <p:sp>
        <p:nvSpPr>
          <p:cNvPr id="49" name="Text 47"/>
          <p:cNvSpPr/>
          <p:nvPr/>
        </p:nvSpPr>
        <p:spPr>
          <a:xfrm>
            <a:off x="320040" y="2651760"/>
            <a:ext cx="640080" cy="457200"/>
          </a:xfrm>
          <a:prstGeom prst="rect">
            <a:avLst/>
          </a:prstGeom>
          <a:solidFill>
            <a:srgbClr val="FEE2E2"/>
          </a:solidFill>
          <a:ln/>
        </p:spPr>
        <p:txBody>
          <a:bodyPr wrap="square" lIns="25400" tIns="25400" rIns="25400" bIns="25400" rtlCol="0" anchor="ctr"/>
          <a:lstStyle/>
          <a:p>
            <a:pPr algn="ctr" indent="0" marL="0">
              <a:buNone/>
            </a:pPr>
            <a:r>
              <a:rPr lang="en-US" sz="900" b="1" dirty="0">
                <a:solidFill>
                  <a:srgbClr val="991B1B"/>
                </a:solidFill>
                <a:latin typeface="Meiryo" pitchFamily="34" charset="0"/>
                <a:ea typeface="Meiryo" pitchFamily="34" charset="-122"/>
                <a:cs typeface="Meiryo" pitchFamily="34" charset="-120"/>
              </a:rPr>
              <a:t>B-01</a:t>
            </a:r>
            <a:endParaRPr lang="en-US" sz="900" dirty="0"/>
          </a:p>
        </p:txBody>
      </p:sp>
      <p:sp>
        <p:nvSpPr>
          <p:cNvPr id="50" name="Text 48"/>
          <p:cNvSpPr/>
          <p:nvPr/>
        </p:nvSpPr>
        <p:spPr>
          <a:xfrm>
            <a:off x="1051560" y="2734056"/>
            <a:ext cx="822960" cy="274320"/>
          </a:xfrm>
          <a:prstGeom prst="rect">
            <a:avLst/>
          </a:prstGeom>
          <a:solidFill>
            <a:srgbClr val="EDE9FE"/>
          </a:solidFill>
          <a:ln/>
        </p:spPr>
        <p:txBody>
          <a:bodyPr wrap="square" lIns="25400" tIns="25400" rIns="25400" bIns="25400" rtlCol="0" anchor="ctr"/>
          <a:lstStyle/>
          <a:p>
            <a:pPr algn="ctr" indent="0" marL="0">
              <a:buNone/>
            </a:pPr>
            <a:r>
              <a:rPr lang="en-US" sz="850" b="1" dirty="0">
                <a:solidFill>
                  <a:srgbClr val="7C3AED"/>
                </a:solidFill>
                <a:latin typeface="Meiryo" pitchFamily="34" charset="0"/>
                <a:ea typeface="Meiryo" pitchFamily="34" charset="-122"/>
                <a:cs typeface="Meiryo" pitchFamily="34" charset="-120"/>
              </a:rPr>
              <a:t>バック</a:t>
            </a:r>
            <a:endParaRPr lang="en-US" sz="850" dirty="0"/>
          </a:p>
        </p:txBody>
      </p:sp>
      <p:sp>
        <p:nvSpPr>
          <p:cNvPr id="51" name="Text 49"/>
          <p:cNvSpPr/>
          <p:nvPr/>
        </p:nvSpPr>
        <p:spPr>
          <a:xfrm>
            <a:off x="1965960" y="2651760"/>
            <a:ext cx="2194560" cy="457200"/>
          </a:xfrm>
          <a:prstGeom prst="rect">
            <a:avLst/>
          </a:prstGeom>
          <a:noFill/>
          <a:ln/>
        </p:spPr>
        <p:txBody>
          <a:bodyPr wrap="square" lIns="0" tIns="0" rIns="0" bIns="0" rtlCol="0" anchor="ctr"/>
          <a:lstStyle/>
          <a:p>
            <a:pPr indent="0" marL="0">
              <a:buNone/>
            </a:pPr>
            <a:r>
              <a:rPr lang="en-US" sz="900" b="1" dirty="0">
                <a:solidFill>
                  <a:srgbClr val="2D2D2D"/>
                </a:solidFill>
                <a:latin typeface="Meiryo" pitchFamily="34" charset="0"/>
                <a:ea typeface="Meiryo" pitchFamily="34" charset="-122"/>
                <a:cs typeface="Meiryo" pitchFamily="34" charset="-120"/>
              </a:rPr>
              <a:t>会社・路線マスタ 停留所DB・ペア判定</a:t>
            </a:r>
            <a:endParaRPr lang="en-US" sz="900" dirty="0"/>
          </a:p>
        </p:txBody>
      </p:sp>
      <p:sp>
        <p:nvSpPr>
          <p:cNvPr id="52" name="Text 50"/>
          <p:cNvSpPr/>
          <p:nvPr/>
        </p:nvSpPr>
        <p:spPr>
          <a:xfrm>
            <a:off x="4251960" y="2633472"/>
            <a:ext cx="5029200" cy="50292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TransitCompany/Route/Stop DB、現在地→停留所検索API、乗降セッション管理</a:t>
            </a:r>
            <a:endParaRPr lang="en-US" sz="900" dirty="0"/>
          </a:p>
        </p:txBody>
      </p:sp>
      <p:sp>
        <p:nvSpPr>
          <p:cNvPr id="53" name="Text 51"/>
          <p:cNvSpPr/>
          <p:nvPr/>
        </p:nvSpPr>
        <p:spPr>
          <a:xfrm>
            <a:off x="9372600" y="2734056"/>
            <a:ext cx="822960" cy="274320"/>
          </a:xfrm>
          <a:prstGeom prst="rect">
            <a:avLst/>
          </a:prstGeom>
          <a:solidFill>
            <a:srgbClr val="FEE2E2"/>
          </a:solidFill>
          <a:ln/>
        </p:spPr>
        <p:txBody>
          <a:bodyPr wrap="square" lIns="25400" tIns="25400" rIns="25400" bIns="25400" rtlCol="0" anchor="ctr"/>
          <a:lstStyle/>
          <a:p>
            <a:pPr algn="ctr" indent="0" marL="0">
              <a:buNone/>
            </a:pPr>
            <a:r>
              <a:rPr lang="en-US" sz="800" b="1" dirty="0">
                <a:solidFill>
                  <a:srgbClr val="991B1B"/>
                </a:solidFill>
                <a:latin typeface="Meiryo" pitchFamily="34" charset="0"/>
                <a:ea typeface="Meiryo" pitchFamily="34" charset="-122"/>
                <a:cs typeface="Meiryo" pitchFamily="34" charset="-120"/>
              </a:rPr>
              <a:t>大</a:t>
            </a:r>
            <a:endParaRPr lang="en-US" sz="800" dirty="0"/>
          </a:p>
        </p:txBody>
      </p:sp>
      <p:sp>
        <p:nvSpPr>
          <p:cNvPr id="54" name="Text 52"/>
          <p:cNvSpPr/>
          <p:nvPr/>
        </p:nvSpPr>
        <p:spPr>
          <a:xfrm>
            <a:off x="10287000" y="2633472"/>
            <a:ext cx="1645920" cy="502920"/>
          </a:xfrm>
          <a:prstGeom prst="rect">
            <a:avLst/>
          </a:prstGeom>
          <a:noFill/>
          <a:ln/>
        </p:spPr>
        <p:txBody>
          <a:bodyPr wrap="square" lIns="0" tIns="0" rIns="0" bIns="0" rtlCol="0" anchor="ctr"/>
          <a:lstStyle/>
          <a:p>
            <a:pPr indent="0" marL="0">
              <a:buNone/>
            </a:pPr>
            <a:r>
              <a:rPr lang="en-US" sz="850" dirty="0">
                <a:solidFill>
                  <a:srgbClr val="E53935"/>
                </a:solidFill>
                <a:latin typeface="Meiryo" pitchFamily="34" charset="0"/>
                <a:ea typeface="Meiryo" pitchFamily="34" charset="-122"/>
                <a:cs typeface="Meiryo" pitchFamily="34" charset="-120"/>
              </a:rPr>
              <a:t>GTFSインポート</a:t>
            </a:r>
            <a:endParaRPr lang="en-US" sz="850" dirty="0"/>
          </a:p>
          <a:p>
            <a:pPr indent="0" marL="0">
              <a:buNone/>
            </a:pPr>
            <a:r>
              <a:rPr lang="en-US" sz="850" dirty="0">
                <a:solidFill>
                  <a:srgbClr val="E53935"/>
                </a:solidFill>
                <a:latin typeface="Meiryo" pitchFamily="34" charset="0"/>
                <a:ea typeface="Meiryo" pitchFamily="34" charset="-122"/>
                <a:cs typeface="Meiryo" pitchFamily="34" charset="-120"/>
              </a:rPr>
              <a:t>Card標準対応確認</a:t>
            </a:r>
            <a:endParaRPr lang="en-US" sz="850" dirty="0"/>
          </a:p>
        </p:txBody>
      </p:sp>
      <p:sp>
        <p:nvSpPr>
          <p:cNvPr id="55" name="Shape 53"/>
          <p:cNvSpPr/>
          <p:nvPr/>
        </p:nvSpPr>
        <p:spPr>
          <a:xfrm>
            <a:off x="274320" y="3200400"/>
            <a:ext cx="731520" cy="566928"/>
          </a:xfrm>
          <a:prstGeom prst="rect">
            <a:avLst/>
          </a:prstGeom>
          <a:solidFill>
            <a:srgbClr val="FFFFFF"/>
          </a:solidFill>
          <a:ln w="6350">
            <a:solidFill>
              <a:srgbClr val="EEEEEE"/>
            </a:solidFill>
            <a:prstDash val="solid"/>
          </a:ln>
        </p:spPr>
      </p:sp>
      <p:sp>
        <p:nvSpPr>
          <p:cNvPr id="56" name="Shape 54"/>
          <p:cNvSpPr/>
          <p:nvPr/>
        </p:nvSpPr>
        <p:spPr>
          <a:xfrm>
            <a:off x="1005840" y="3200400"/>
            <a:ext cx="914400" cy="566928"/>
          </a:xfrm>
          <a:prstGeom prst="rect">
            <a:avLst/>
          </a:prstGeom>
          <a:solidFill>
            <a:srgbClr val="FFFFFF"/>
          </a:solidFill>
          <a:ln w="6350">
            <a:solidFill>
              <a:srgbClr val="EEEEEE"/>
            </a:solidFill>
            <a:prstDash val="solid"/>
          </a:ln>
        </p:spPr>
      </p:sp>
      <p:sp>
        <p:nvSpPr>
          <p:cNvPr id="57" name="Shape 55"/>
          <p:cNvSpPr/>
          <p:nvPr/>
        </p:nvSpPr>
        <p:spPr>
          <a:xfrm>
            <a:off x="1920240" y="3200400"/>
            <a:ext cx="2286000" cy="566928"/>
          </a:xfrm>
          <a:prstGeom prst="rect">
            <a:avLst/>
          </a:prstGeom>
          <a:solidFill>
            <a:srgbClr val="FFFFFF"/>
          </a:solidFill>
          <a:ln w="6350">
            <a:solidFill>
              <a:srgbClr val="EEEEEE"/>
            </a:solidFill>
            <a:prstDash val="solid"/>
          </a:ln>
        </p:spPr>
      </p:sp>
      <p:sp>
        <p:nvSpPr>
          <p:cNvPr id="58" name="Shape 56"/>
          <p:cNvSpPr/>
          <p:nvPr/>
        </p:nvSpPr>
        <p:spPr>
          <a:xfrm>
            <a:off x="4206240" y="3200400"/>
            <a:ext cx="5120640" cy="566928"/>
          </a:xfrm>
          <a:prstGeom prst="rect">
            <a:avLst/>
          </a:prstGeom>
          <a:solidFill>
            <a:srgbClr val="FFFFFF"/>
          </a:solidFill>
          <a:ln w="6350">
            <a:solidFill>
              <a:srgbClr val="EEEEEE"/>
            </a:solidFill>
            <a:prstDash val="solid"/>
          </a:ln>
        </p:spPr>
      </p:sp>
      <p:sp>
        <p:nvSpPr>
          <p:cNvPr id="59" name="Shape 57"/>
          <p:cNvSpPr/>
          <p:nvPr/>
        </p:nvSpPr>
        <p:spPr>
          <a:xfrm>
            <a:off x="9326880" y="3200400"/>
            <a:ext cx="914400" cy="566928"/>
          </a:xfrm>
          <a:prstGeom prst="rect">
            <a:avLst/>
          </a:prstGeom>
          <a:solidFill>
            <a:srgbClr val="FFFFFF"/>
          </a:solidFill>
          <a:ln w="6350">
            <a:solidFill>
              <a:srgbClr val="EEEEEE"/>
            </a:solidFill>
            <a:prstDash val="solid"/>
          </a:ln>
        </p:spPr>
      </p:sp>
      <p:sp>
        <p:nvSpPr>
          <p:cNvPr id="60" name="Shape 58"/>
          <p:cNvSpPr/>
          <p:nvPr/>
        </p:nvSpPr>
        <p:spPr>
          <a:xfrm>
            <a:off x="10241280" y="3200400"/>
            <a:ext cx="1764792" cy="566928"/>
          </a:xfrm>
          <a:prstGeom prst="rect">
            <a:avLst/>
          </a:prstGeom>
          <a:solidFill>
            <a:srgbClr val="FFFFFF"/>
          </a:solidFill>
          <a:ln w="6350">
            <a:solidFill>
              <a:srgbClr val="EEEEEE"/>
            </a:solidFill>
            <a:prstDash val="solid"/>
          </a:ln>
        </p:spPr>
      </p:sp>
      <p:sp>
        <p:nvSpPr>
          <p:cNvPr id="61" name="Text 59"/>
          <p:cNvSpPr/>
          <p:nvPr/>
        </p:nvSpPr>
        <p:spPr>
          <a:xfrm>
            <a:off x="320040" y="3255264"/>
            <a:ext cx="640080" cy="457200"/>
          </a:xfrm>
          <a:prstGeom prst="rect">
            <a:avLst/>
          </a:prstGeom>
          <a:solidFill>
            <a:srgbClr val="FEE2E2"/>
          </a:solidFill>
          <a:ln/>
        </p:spPr>
        <p:txBody>
          <a:bodyPr wrap="square" lIns="25400" tIns="25400" rIns="25400" bIns="25400" rtlCol="0" anchor="ctr"/>
          <a:lstStyle/>
          <a:p>
            <a:pPr algn="ctr" indent="0" marL="0">
              <a:buNone/>
            </a:pPr>
            <a:r>
              <a:rPr lang="en-US" sz="900" b="1" dirty="0">
                <a:solidFill>
                  <a:srgbClr val="991B1B"/>
                </a:solidFill>
                <a:latin typeface="Meiryo" pitchFamily="34" charset="0"/>
                <a:ea typeface="Meiryo" pitchFamily="34" charset="-122"/>
                <a:cs typeface="Meiryo" pitchFamily="34" charset="-120"/>
              </a:rPr>
              <a:t>B-02</a:t>
            </a:r>
            <a:endParaRPr lang="en-US" sz="900" dirty="0"/>
          </a:p>
        </p:txBody>
      </p:sp>
      <p:sp>
        <p:nvSpPr>
          <p:cNvPr id="62" name="Text 60"/>
          <p:cNvSpPr/>
          <p:nvPr/>
        </p:nvSpPr>
        <p:spPr>
          <a:xfrm>
            <a:off x="1051560" y="3337560"/>
            <a:ext cx="822960" cy="274320"/>
          </a:xfrm>
          <a:prstGeom prst="rect">
            <a:avLst/>
          </a:prstGeom>
          <a:solidFill>
            <a:srgbClr val="EDE9FE"/>
          </a:solidFill>
          <a:ln/>
        </p:spPr>
        <p:txBody>
          <a:bodyPr wrap="square" lIns="25400" tIns="25400" rIns="25400" bIns="25400" rtlCol="0" anchor="ctr"/>
          <a:lstStyle/>
          <a:p>
            <a:pPr algn="ctr" indent="0" marL="0">
              <a:buNone/>
            </a:pPr>
            <a:r>
              <a:rPr lang="en-US" sz="850" b="1" dirty="0">
                <a:solidFill>
                  <a:srgbClr val="7C3AED"/>
                </a:solidFill>
                <a:latin typeface="Meiryo" pitchFamily="34" charset="0"/>
                <a:ea typeface="Meiryo" pitchFamily="34" charset="-122"/>
                <a:cs typeface="Meiryo" pitchFamily="34" charset="-120"/>
              </a:rPr>
              <a:t>バック</a:t>
            </a:r>
            <a:endParaRPr lang="en-US" sz="850" dirty="0"/>
          </a:p>
        </p:txBody>
      </p:sp>
      <p:sp>
        <p:nvSpPr>
          <p:cNvPr id="63" name="Text 61"/>
          <p:cNvSpPr/>
          <p:nvPr/>
        </p:nvSpPr>
        <p:spPr>
          <a:xfrm>
            <a:off x="1965960" y="3255264"/>
            <a:ext cx="2194560" cy="457200"/>
          </a:xfrm>
          <a:prstGeom prst="rect">
            <a:avLst/>
          </a:prstGeom>
          <a:noFill/>
          <a:ln/>
        </p:spPr>
        <p:txBody>
          <a:bodyPr wrap="square" lIns="0" tIns="0" rIns="0" bIns="0" rtlCol="0" anchor="ctr"/>
          <a:lstStyle/>
          <a:p>
            <a:pPr indent="0" marL="0">
              <a:buNone/>
            </a:pPr>
            <a:r>
              <a:rPr lang="en-US" sz="900" b="1" dirty="0">
                <a:solidFill>
                  <a:srgbClr val="2D2D2D"/>
                </a:solidFill>
                <a:latin typeface="Meiryo" pitchFamily="34" charset="0"/>
                <a:ea typeface="Meiryo" pitchFamily="34" charset="-122"/>
                <a:cs typeface="Meiryo" pitchFamily="34" charset="-120"/>
              </a:rPr>
              <a:t>Receico→Card ポイント連携</a:t>
            </a:r>
            <a:endParaRPr lang="en-US" sz="900" dirty="0"/>
          </a:p>
        </p:txBody>
      </p:sp>
      <p:sp>
        <p:nvSpPr>
          <p:cNvPr id="64" name="Text 62"/>
          <p:cNvSpPr/>
          <p:nvPr/>
        </p:nvSpPr>
        <p:spPr>
          <a:xfrm>
            <a:off x="4251960" y="3236976"/>
            <a:ext cx="5029200" cy="50292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Receico承認Webhook → Card 1pt付与。未対応時は日次バッチで代替</a:t>
            </a:r>
            <a:endParaRPr lang="en-US" sz="900" dirty="0"/>
          </a:p>
        </p:txBody>
      </p:sp>
      <p:sp>
        <p:nvSpPr>
          <p:cNvPr id="65" name="Text 63"/>
          <p:cNvSpPr/>
          <p:nvPr/>
        </p:nvSpPr>
        <p:spPr>
          <a:xfrm>
            <a:off x="9372600" y="3337560"/>
            <a:ext cx="822960" cy="274320"/>
          </a:xfrm>
          <a:prstGeom prst="rect">
            <a:avLst/>
          </a:prstGeom>
          <a:solidFill>
            <a:srgbClr val="FEE2E2"/>
          </a:solidFill>
          <a:ln/>
        </p:spPr>
        <p:txBody>
          <a:bodyPr wrap="square" lIns="25400" tIns="25400" rIns="25400" bIns="25400" rtlCol="0" anchor="ctr"/>
          <a:lstStyle/>
          <a:p>
            <a:pPr algn="ctr" indent="0" marL="0">
              <a:buNone/>
            </a:pPr>
            <a:r>
              <a:rPr lang="en-US" sz="800" b="1" dirty="0">
                <a:solidFill>
                  <a:srgbClr val="991B1B"/>
                </a:solidFill>
                <a:latin typeface="Meiryo" pitchFamily="34" charset="0"/>
                <a:ea typeface="Meiryo" pitchFamily="34" charset="-122"/>
                <a:cs typeface="Meiryo" pitchFamily="34" charset="-120"/>
              </a:rPr>
              <a:t>中〜大</a:t>
            </a:r>
            <a:endParaRPr lang="en-US" sz="800" dirty="0"/>
          </a:p>
        </p:txBody>
      </p:sp>
      <p:sp>
        <p:nvSpPr>
          <p:cNvPr id="66" name="Text 64"/>
          <p:cNvSpPr/>
          <p:nvPr/>
        </p:nvSpPr>
        <p:spPr>
          <a:xfrm>
            <a:off x="10287000" y="3236976"/>
            <a:ext cx="1645920" cy="502920"/>
          </a:xfrm>
          <a:prstGeom prst="rect">
            <a:avLst/>
          </a:prstGeom>
          <a:noFill/>
          <a:ln/>
        </p:spPr>
        <p:txBody>
          <a:bodyPr wrap="square" lIns="0" tIns="0" rIns="0" bIns="0" rtlCol="0" anchor="ctr"/>
          <a:lstStyle/>
          <a:p>
            <a:pPr indent="0" marL="0">
              <a:buNone/>
            </a:pPr>
            <a:r>
              <a:rPr lang="en-US" sz="850" dirty="0">
                <a:solidFill>
                  <a:srgbClr val="E53935"/>
                </a:solidFill>
                <a:latin typeface="Meiryo" pitchFamily="34" charset="0"/>
                <a:ea typeface="Meiryo" pitchFamily="34" charset="-122"/>
                <a:cs typeface="Meiryo" pitchFamily="34" charset="-120"/>
              </a:rPr>
              <a:t>Webhook有無</a:t>
            </a:r>
            <a:endParaRPr lang="en-US" sz="850" dirty="0"/>
          </a:p>
          <a:p>
            <a:pPr indent="0" marL="0">
              <a:buNone/>
            </a:pPr>
            <a:r>
              <a:rPr lang="en-US" sz="850" dirty="0">
                <a:solidFill>
                  <a:srgbClr val="E53935"/>
                </a:solidFill>
                <a:latin typeface="Meiryo" pitchFamily="34" charset="0"/>
                <a:ea typeface="Meiryo" pitchFamily="34" charset="-122"/>
                <a:cs typeface="Meiryo" pitchFamily="34" charset="-120"/>
              </a:rPr>
              <a:t>確認必須</a:t>
            </a:r>
            <a:endParaRPr lang="en-US" sz="850" dirty="0"/>
          </a:p>
        </p:txBody>
      </p:sp>
      <p:sp>
        <p:nvSpPr>
          <p:cNvPr id="67" name="Shape 65"/>
          <p:cNvSpPr/>
          <p:nvPr/>
        </p:nvSpPr>
        <p:spPr>
          <a:xfrm>
            <a:off x="274320" y="3803904"/>
            <a:ext cx="731520" cy="566928"/>
          </a:xfrm>
          <a:prstGeom prst="rect">
            <a:avLst/>
          </a:prstGeom>
          <a:solidFill>
            <a:srgbClr val="FAFAFA"/>
          </a:solidFill>
          <a:ln w="6350">
            <a:solidFill>
              <a:srgbClr val="EEEEEE"/>
            </a:solidFill>
            <a:prstDash val="solid"/>
          </a:ln>
        </p:spPr>
      </p:sp>
      <p:sp>
        <p:nvSpPr>
          <p:cNvPr id="68" name="Shape 66"/>
          <p:cNvSpPr/>
          <p:nvPr/>
        </p:nvSpPr>
        <p:spPr>
          <a:xfrm>
            <a:off x="1005840" y="3803904"/>
            <a:ext cx="914400" cy="566928"/>
          </a:xfrm>
          <a:prstGeom prst="rect">
            <a:avLst/>
          </a:prstGeom>
          <a:solidFill>
            <a:srgbClr val="FAFAFA"/>
          </a:solidFill>
          <a:ln w="6350">
            <a:solidFill>
              <a:srgbClr val="EEEEEE"/>
            </a:solidFill>
            <a:prstDash val="solid"/>
          </a:ln>
        </p:spPr>
      </p:sp>
      <p:sp>
        <p:nvSpPr>
          <p:cNvPr id="69" name="Shape 67"/>
          <p:cNvSpPr/>
          <p:nvPr/>
        </p:nvSpPr>
        <p:spPr>
          <a:xfrm>
            <a:off x="1920240" y="3803904"/>
            <a:ext cx="2286000" cy="566928"/>
          </a:xfrm>
          <a:prstGeom prst="rect">
            <a:avLst/>
          </a:prstGeom>
          <a:solidFill>
            <a:srgbClr val="FAFAFA"/>
          </a:solidFill>
          <a:ln w="6350">
            <a:solidFill>
              <a:srgbClr val="EEEEEE"/>
            </a:solidFill>
            <a:prstDash val="solid"/>
          </a:ln>
        </p:spPr>
      </p:sp>
      <p:sp>
        <p:nvSpPr>
          <p:cNvPr id="70" name="Shape 68"/>
          <p:cNvSpPr/>
          <p:nvPr/>
        </p:nvSpPr>
        <p:spPr>
          <a:xfrm>
            <a:off x="4206240" y="3803904"/>
            <a:ext cx="5120640" cy="566928"/>
          </a:xfrm>
          <a:prstGeom prst="rect">
            <a:avLst/>
          </a:prstGeom>
          <a:solidFill>
            <a:srgbClr val="FAFAFA"/>
          </a:solidFill>
          <a:ln w="6350">
            <a:solidFill>
              <a:srgbClr val="EEEEEE"/>
            </a:solidFill>
            <a:prstDash val="solid"/>
          </a:ln>
        </p:spPr>
      </p:sp>
      <p:sp>
        <p:nvSpPr>
          <p:cNvPr id="71" name="Shape 69"/>
          <p:cNvSpPr/>
          <p:nvPr/>
        </p:nvSpPr>
        <p:spPr>
          <a:xfrm>
            <a:off x="9326880" y="3803904"/>
            <a:ext cx="914400" cy="566928"/>
          </a:xfrm>
          <a:prstGeom prst="rect">
            <a:avLst/>
          </a:prstGeom>
          <a:solidFill>
            <a:srgbClr val="FAFAFA"/>
          </a:solidFill>
          <a:ln w="6350">
            <a:solidFill>
              <a:srgbClr val="EEEEEE"/>
            </a:solidFill>
            <a:prstDash val="solid"/>
          </a:ln>
        </p:spPr>
      </p:sp>
      <p:sp>
        <p:nvSpPr>
          <p:cNvPr id="72" name="Shape 70"/>
          <p:cNvSpPr/>
          <p:nvPr/>
        </p:nvSpPr>
        <p:spPr>
          <a:xfrm>
            <a:off x="10241280" y="3803904"/>
            <a:ext cx="1764792" cy="566928"/>
          </a:xfrm>
          <a:prstGeom prst="rect">
            <a:avLst/>
          </a:prstGeom>
          <a:solidFill>
            <a:srgbClr val="FAFAFA"/>
          </a:solidFill>
          <a:ln w="6350">
            <a:solidFill>
              <a:srgbClr val="EEEEEE"/>
            </a:solidFill>
            <a:prstDash val="solid"/>
          </a:ln>
        </p:spPr>
      </p:sp>
      <p:sp>
        <p:nvSpPr>
          <p:cNvPr id="73" name="Text 71"/>
          <p:cNvSpPr/>
          <p:nvPr/>
        </p:nvSpPr>
        <p:spPr>
          <a:xfrm>
            <a:off x="320040" y="3858768"/>
            <a:ext cx="640080" cy="457200"/>
          </a:xfrm>
          <a:prstGeom prst="rect">
            <a:avLst/>
          </a:prstGeom>
          <a:solidFill>
            <a:srgbClr val="FEE2E2"/>
          </a:solidFill>
          <a:ln/>
        </p:spPr>
        <p:txBody>
          <a:bodyPr wrap="square" lIns="25400" tIns="25400" rIns="25400" bIns="25400" rtlCol="0" anchor="ctr"/>
          <a:lstStyle/>
          <a:p>
            <a:pPr algn="ctr" indent="0" marL="0">
              <a:buNone/>
            </a:pPr>
            <a:r>
              <a:rPr lang="en-US" sz="900" b="1" dirty="0">
                <a:solidFill>
                  <a:srgbClr val="991B1B"/>
                </a:solidFill>
                <a:latin typeface="Meiryo" pitchFamily="34" charset="0"/>
                <a:ea typeface="Meiryo" pitchFamily="34" charset="-122"/>
                <a:cs typeface="Meiryo" pitchFamily="34" charset="-120"/>
              </a:rPr>
              <a:t>F/B-03</a:t>
            </a:r>
            <a:endParaRPr lang="en-US" sz="900" dirty="0"/>
          </a:p>
        </p:txBody>
      </p:sp>
      <p:sp>
        <p:nvSpPr>
          <p:cNvPr id="74" name="Text 72"/>
          <p:cNvSpPr/>
          <p:nvPr/>
        </p:nvSpPr>
        <p:spPr>
          <a:xfrm>
            <a:off x="1051560" y="3941064"/>
            <a:ext cx="822960" cy="274320"/>
          </a:xfrm>
          <a:prstGeom prst="rect">
            <a:avLst/>
          </a:prstGeom>
          <a:solidFill>
            <a:srgbClr val="D1FAE5"/>
          </a:solidFill>
          <a:ln/>
        </p:spPr>
        <p:txBody>
          <a:bodyPr wrap="square" lIns="25400" tIns="25400" rIns="25400" bIns="25400" rtlCol="0" anchor="ctr"/>
          <a:lstStyle/>
          <a:p>
            <a:pPr algn="ctr" indent="0" marL="0">
              <a:buNone/>
            </a:pPr>
            <a:r>
              <a:rPr lang="en-US" sz="850" b="1" dirty="0">
                <a:solidFill>
                  <a:srgbClr val="065F46"/>
                </a:solidFill>
                <a:latin typeface="Meiryo" pitchFamily="34" charset="0"/>
                <a:ea typeface="Meiryo" pitchFamily="34" charset="-122"/>
                <a:cs typeface="Meiryo" pitchFamily="34" charset="-120"/>
              </a:rPr>
              <a:t>F+B</a:t>
            </a:r>
            <a:endParaRPr lang="en-US" sz="850" dirty="0"/>
          </a:p>
        </p:txBody>
      </p:sp>
      <p:sp>
        <p:nvSpPr>
          <p:cNvPr id="75" name="Text 73"/>
          <p:cNvSpPr/>
          <p:nvPr/>
        </p:nvSpPr>
        <p:spPr>
          <a:xfrm>
            <a:off x="1965960" y="3858768"/>
            <a:ext cx="2194560" cy="457200"/>
          </a:xfrm>
          <a:prstGeom prst="rect">
            <a:avLst/>
          </a:prstGeom>
          <a:noFill/>
          <a:ln/>
        </p:spPr>
        <p:txBody>
          <a:bodyPr wrap="square" lIns="0" tIns="0" rIns="0" bIns="0" rtlCol="0" anchor="ctr"/>
          <a:lstStyle/>
          <a:p>
            <a:pPr indent="0" marL="0">
              <a:buNone/>
            </a:pPr>
            <a:r>
              <a:rPr lang="en-US" sz="900" b="1" dirty="0">
                <a:solidFill>
                  <a:srgbClr val="2D2D2D"/>
                </a:solidFill>
                <a:latin typeface="Meiryo" pitchFamily="34" charset="0"/>
                <a:ea typeface="Meiryo" pitchFamily="34" charset="-122"/>
                <a:cs typeface="Meiryo" pitchFamily="34" charset="-120"/>
              </a:rPr>
              <a:t>Card→Receico SSO連携</a:t>
            </a:r>
            <a:endParaRPr lang="en-US" sz="900" dirty="0"/>
          </a:p>
        </p:txBody>
      </p:sp>
      <p:sp>
        <p:nvSpPr>
          <p:cNvPr id="76" name="Text 74"/>
          <p:cNvSpPr/>
          <p:nvPr/>
        </p:nvSpPr>
        <p:spPr>
          <a:xfrm>
            <a:off x="4251960" y="3840480"/>
            <a:ext cx="5029200" cy="50292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LINEトークン引き継ぎ。チャネル共通→トークン渡し、別→ワンタイム方式</a:t>
            </a:r>
            <a:endParaRPr lang="en-US" sz="900" dirty="0"/>
          </a:p>
        </p:txBody>
      </p:sp>
      <p:sp>
        <p:nvSpPr>
          <p:cNvPr id="77" name="Text 75"/>
          <p:cNvSpPr/>
          <p:nvPr/>
        </p:nvSpPr>
        <p:spPr>
          <a:xfrm>
            <a:off x="9372600" y="3941064"/>
            <a:ext cx="822960" cy="274320"/>
          </a:xfrm>
          <a:prstGeom prst="rect">
            <a:avLst/>
          </a:prstGeom>
          <a:solidFill>
            <a:srgbClr val="FEF3C7"/>
          </a:solidFill>
          <a:ln/>
        </p:spPr>
        <p:txBody>
          <a:bodyPr wrap="square" lIns="25400" tIns="25400" rIns="25400" bIns="25400" rtlCol="0" anchor="ctr"/>
          <a:lstStyle/>
          <a:p>
            <a:pPr algn="ctr" indent="0" marL="0">
              <a:buNone/>
            </a:pPr>
            <a:r>
              <a:rPr lang="en-US" sz="800" b="1" dirty="0">
                <a:solidFill>
                  <a:srgbClr val="92400E"/>
                </a:solidFill>
                <a:latin typeface="Meiryo" pitchFamily="34" charset="0"/>
                <a:ea typeface="Meiryo" pitchFamily="34" charset="-122"/>
                <a:cs typeface="Meiryo" pitchFamily="34" charset="-120"/>
              </a:rPr>
              <a:t>中</a:t>
            </a:r>
            <a:endParaRPr lang="en-US" sz="800" dirty="0"/>
          </a:p>
        </p:txBody>
      </p:sp>
      <p:sp>
        <p:nvSpPr>
          <p:cNvPr id="78" name="Text 76"/>
          <p:cNvSpPr/>
          <p:nvPr/>
        </p:nvSpPr>
        <p:spPr>
          <a:xfrm>
            <a:off x="10287000" y="3840480"/>
            <a:ext cx="1645920" cy="502920"/>
          </a:xfrm>
          <a:prstGeom prst="rect">
            <a:avLst/>
          </a:prstGeom>
          <a:noFill/>
          <a:ln/>
        </p:spPr>
        <p:txBody>
          <a:bodyPr wrap="square" lIns="0" tIns="0" rIns="0" bIns="0" rtlCol="0" anchor="ctr"/>
          <a:lstStyle/>
          <a:p>
            <a:pPr indent="0" marL="0">
              <a:buNone/>
            </a:pPr>
            <a:r>
              <a:rPr lang="en-US" sz="850" dirty="0">
                <a:solidFill>
                  <a:srgbClr val="E53935"/>
                </a:solidFill>
                <a:latin typeface="Meiryo" pitchFamily="34" charset="0"/>
                <a:ea typeface="Meiryo" pitchFamily="34" charset="-122"/>
                <a:cs typeface="Meiryo" pitchFamily="34" charset="-120"/>
              </a:rPr>
              <a:t>LINEチャネル</a:t>
            </a:r>
            <a:endParaRPr lang="en-US" sz="850" dirty="0"/>
          </a:p>
          <a:p>
            <a:pPr indent="0" marL="0">
              <a:buNone/>
            </a:pPr>
            <a:r>
              <a:rPr lang="en-US" sz="850" dirty="0">
                <a:solidFill>
                  <a:srgbClr val="E53935"/>
                </a:solidFill>
                <a:latin typeface="Meiryo" pitchFamily="34" charset="0"/>
                <a:ea typeface="Meiryo" pitchFamily="34" charset="-122"/>
                <a:cs typeface="Meiryo" pitchFamily="34" charset="-120"/>
              </a:rPr>
              <a:t>共通か確認</a:t>
            </a:r>
            <a:endParaRPr lang="en-US" sz="850" dirty="0"/>
          </a:p>
        </p:txBody>
      </p:sp>
      <p:sp>
        <p:nvSpPr>
          <p:cNvPr id="79" name="Shape 77"/>
          <p:cNvSpPr/>
          <p:nvPr/>
        </p:nvSpPr>
        <p:spPr>
          <a:xfrm>
            <a:off x="274320" y="4407408"/>
            <a:ext cx="731520" cy="566928"/>
          </a:xfrm>
          <a:prstGeom prst="rect">
            <a:avLst/>
          </a:prstGeom>
          <a:solidFill>
            <a:srgbClr val="FFFFFF"/>
          </a:solidFill>
          <a:ln w="6350">
            <a:solidFill>
              <a:srgbClr val="EEEEEE"/>
            </a:solidFill>
            <a:prstDash val="solid"/>
          </a:ln>
        </p:spPr>
      </p:sp>
      <p:sp>
        <p:nvSpPr>
          <p:cNvPr id="80" name="Shape 78"/>
          <p:cNvSpPr/>
          <p:nvPr/>
        </p:nvSpPr>
        <p:spPr>
          <a:xfrm>
            <a:off x="1005840" y="4407408"/>
            <a:ext cx="914400" cy="566928"/>
          </a:xfrm>
          <a:prstGeom prst="rect">
            <a:avLst/>
          </a:prstGeom>
          <a:solidFill>
            <a:srgbClr val="FFFFFF"/>
          </a:solidFill>
          <a:ln w="6350">
            <a:solidFill>
              <a:srgbClr val="EEEEEE"/>
            </a:solidFill>
            <a:prstDash val="solid"/>
          </a:ln>
        </p:spPr>
      </p:sp>
      <p:sp>
        <p:nvSpPr>
          <p:cNvPr id="81" name="Shape 79"/>
          <p:cNvSpPr/>
          <p:nvPr/>
        </p:nvSpPr>
        <p:spPr>
          <a:xfrm>
            <a:off x="1920240" y="4407408"/>
            <a:ext cx="2286000" cy="566928"/>
          </a:xfrm>
          <a:prstGeom prst="rect">
            <a:avLst/>
          </a:prstGeom>
          <a:solidFill>
            <a:srgbClr val="FFFFFF"/>
          </a:solidFill>
          <a:ln w="6350">
            <a:solidFill>
              <a:srgbClr val="EEEEEE"/>
            </a:solidFill>
            <a:prstDash val="solid"/>
          </a:ln>
        </p:spPr>
      </p:sp>
      <p:sp>
        <p:nvSpPr>
          <p:cNvPr id="82" name="Shape 80"/>
          <p:cNvSpPr/>
          <p:nvPr/>
        </p:nvSpPr>
        <p:spPr>
          <a:xfrm>
            <a:off x="4206240" y="4407408"/>
            <a:ext cx="5120640" cy="566928"/>
          </a:xfrm>
          <a:prstGeom prst="rect">
            <a:avLst/>
          </a:prstGeom>
          <a:solidFill>
            <a:srgbClr val="FFFFFF"/>
          </a:solidFill>
          <a:ln w="6350">
            <a:solidFill>
              <a:srgbClr val="EEEEEE"/>
            </a:solidFill>
            <a:prstDash val="solid"/>
          </a:ln>
        </p:spPr>
      </p:sp>
      <p:sp>
        <p:nvSpPr>
          <p:cNvPr id="83" name="Shape 81"/>
          <p:cNvSpPr/>
          <p:nvPr/>
        </p:nvSpPr>
        <p:spPr>
          <a:xfrm>
            <a:off x="9326880" y="4407408"/>
            <a:ext cx="914400" cy="566928"/>
          </a:xfrm>
          <a:prstGeom prst="rect">
            <a:avLst/>
          </a:prstGeom>
          <a:solidFill>
            <a:srgbClr val="FFFFFF"/>
          </a:solidFill>
          <a:ln w="6350">
            <a:solidFill>
              <a:srgbClr val="EEEEEE"/>
            </a:solidFill>
            <a:prstDash val="solid"/>
          </a:ln>
        </p:spPr>
      </p:sp>
      <p:sp>
        <p:nvSpPr>
          <p:cNvPr id="84" name="Shape 82"/>
          <p:cNvSpPr/>
          <p:nvPr/>
        </p:nvSpPr>
        <p:spPr>
          <a:xfrm>
            <a:off x="10241280" y="4407408"/>
            <a:ext cx="1764792" cy="566928"/>
          </a:xfrm>
          <a:prstGeom prst="rect">
            <a:avLst/>
          </a:prstGeom>
          <a:solidFill>
            <a:srgbClr val="FFFFFF"/>
          </a:solidFill>
          <a:ln w="6350">
            <a:solidFill>
              <a:srgbClr val="EEEEEE"/>
            </a:solidFill>
            <a:prstDash val="solid"/>
          </a:ln>
        </p:spPr>
      </p:sp>
      <p:sp>
        <p:nvSpPr>
          <p:cNvPr id="85" name="Text 83"/>
          <p:cNvSpPr/>
          <p:nvPr/>
        </p:nvSpPr>
        <p:spPr>
          <a:xfrm>
            <a:off x="320040" y="4462272"/>
            <a:ext cx="640080" cy="457200"/>
          </a:xfrm>
          <a:prstGeom prst="rect">
            <a:avLst/>
          </a:prstGeom>
          <a:solidFill>
            <a:srgbClr val="FEE2E2"/>
          </a:solidFill>
          <a:ln/>
        </p:spPr>
        <p:txBody>
          <a:bodyPr wrap="square" lIns="25400" tIns="25400" rIns="25400" bIns="25400" rtlCol="0" anchor="ctr"/>
          <a:lstStyle/>
          <a:p>
            <a:pPr algn="ctr" indent="0" marL="0">
              <a:buNone/>
            </a:pPr>
            <a:r>
              <a:rPr lang="en-US" sz="900" b="1" dirty="0">
                <a:solidFill>
                  <a:srgbClr val="991B1B"/>
                </a:solidFill>
                <a:latin typeface="Meiryo" pitchFamily="34" charset="0"/>
                <a:ea typeface="Meiryo" pitchFamily="34" charset="-122"/>
                <a:cs typeface="Meiryo" pitchFamily="34" charset="-120"/>
              </a:rPr>
              <a:t>F-04</a:t>
            </a:r>
            <a:endParaRPr lang="en-US" sz="900" dirty="0"/>
          </a:p>
        </p:txBody>
      </p:sp>
      <p:sp>
        <p:nvSpPr>
          <p:cNvPr id="86" name="Text 84"/>
          <p:cNvSpPr/>
          <p:nvPr/>
        </p:nvSpPr>
        <p:spPr>
          <a:xfrm>
            <a:off x="1051560" y="4544568"/>
            <a:ext cx="822960" cy="274320"/>
          </a:xfrm>
          <a:prstGeom prst="rect">
            <a:avLst/>
          </a:prstGeom>
          <a:solidFill>
            <a:srgbClr val="DBEAFE"/>
          </a:solidFill>
          <a:ln/>
        </p:spPr>
        <p:txBody>
          <a:bodyPr wrap="square" lIns="25400" tIns="25400" rIns="25400" bIns="25400" rtlCol="0" anchor="ctr"/>
          <a:lstStyle/>
          <a:p>
            <a:pPr algn="ctr" indent="0" marL="0">
              <a:buNone/>
            </a:pPr>
            <a:r>
              <a:rPr lang="en-US" sz="850" b="1" dirty="0">
                <a:solidFill>
                  <a:srgbClr val="1D4ED8"/>
                </a:solidFill>
                <a:latin typeface="Meiryo" pitchFamily="34" charset="0"/>
                <a:ea typeface="Meiryo" pitchFamily="34" charset="-122"/>
                <a:cs typeface="Meiryo" pitchFamily="34" charset="-120"/>
              </a:rPr>
              <a:t>フロント</a:t>
            </a:r>
            <a:endParaRPr lang="en-US" sz="850" dirty="0"/>
          </a:p>
        </p:txBody>
      </p:sp>
      <p:sp>
        <p:nvSpPr>
          <p:cNvPr id="87" name="Text 85"/>
          <p:cNvSpPr/>
          <p:nvPr/>
        </p:nvSpPr>
        <p:spPr>
          <a:xfrm>
            <a:off x="1965960" y="4462272"/>
            <a:ext cx="2194560" cy="457200"/>
          </a:xfrm>
          <a:prstGeom prst="rect">
            <a:avLst/>
          </a:prstGeom>
          <a:noFill/>
          <a:ln/>
        </p:spPr>
        <p:txBody>
          <a:bodyPr wrap="square" lIns="0" tIns="0" rIns="0" bIns="0" rtlCol="0" anchor="ctr"/>
          <a:lstStyle/>
          <a:p>
            <a:pPr indent="0" marL="0">
              <a:buNone/>
            </a:pPr>
            <a:r>
              <a:rPr lang="en-US" sz="900" b="1" dirty="0">
                <a:solidFill>
                  <a:srgbClr val="2D2D2D"/>
                </a:solidFill>
                <a:latin typeface="Meiryo" pitchFamily="34" charset="0"/>
                <a:ea typeface="Meiryo" pitchFamily="34" charset="-122"/>
                <a:cs typeface="Meiryo" pitchFamily="34" charset="-120"/>
              </a:rPr>
              <a:t>審査ステータス表示</a:t>
            </a:r>
            <a:endParaRPr lang="en-US" sz="900" dirty="0"/>
          </a:p>
        </p:txBody>
      </p:sp>
      <p:sp>
        <p:nvSpPr>
          <p:cNvPr id="88" name="Text 86"/>
          <p:cNvSpPr/>
          <p:nvPr/>
        </p:nvSpPr>
        <p:spPr>
          <a:xfrm>
            <a:off x="4251960" y="4443984"/>
            <a:ext cx="5029200" cy="50292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「審査中（オレンジ）」「承認済（グリーン）」バッジをマイページ履歴に表示</a:t>
            </a:r>
            <a:endParaRPr lang="en-US" sz="900" dirty="0"/>
          </a:p>
        </p:txBody>
      </p:sp>
      <p:sp>
        <p:nvSpPr>
          <p:cNvPr id="89" name="Text 87"/>
          <p:cNvSpPr/>
          <p:nvPr/>
        </p:nvSpPr>
        <p:spPr>
          <a:xfrm>
            <a:off x="9372600" y="4544568"/>
            <a:ext cx="822960" cy="274320"/>
          </a:xfrm>
          <a:prstGeom prst="rect">
            <a:avLst/>
          </a:prstGeom>
          <a:solidFill>
            <a:srgbClr val="FEF3C7"/>
          </a:solidFill>
          <a:ln/>
        </p:spPr>
        <p:txBody>
          <a:bodyPr wrap="square" lIns="25400" tIns="25400" rIns="25400" bIns="25400" rtlCol="0" anchor="ctr"/>
          <a:lstStyle/>
          <a:p>
            <a:pPr algn="ctr" indent="0" marL="0">
              <a:buNone/>
            </a:pPr>
            <a:r>
              <a:rPr lang="en-US" sz="800" b="1" dirty="0">
                <a:solidFill>
                  <a:srgbClr val="92400E"/>
                </a:solidFill>
                <a:latin typeface="Meiryo" pitchFamily="34" charset="0"/>
                <a:ea typeface="Meiryo" pitchFamily="34" charset="-122"/>
                <a:cs typeface="Meiryo" pitchFamily="34" charset="-120"/>
              </a:rPr>
              <a:t>小〜中</a:t>
            </a:r>
            <a:endParaRPr lang="en-US" sz="800" dirty="0"/>
          </a:p>
        </p:txBody>
      </p:sp>
      <p:sp>
        <p:nvSpPr>
          <p:cNvPr id="90" name="Text 88"/>
          <p:cNvSpPr/>
          <p:nvPr/>
        </p:nvSpPr>
        <p:spPr>
          <a:xfrm>
            <a:off x="10287000" y="4443984"/>
            <a:ext cx="1645920" cy="502920"/>
          </a:xfrm>
          <a:prstGeom prst="rect">
            <a:avLst/>
          </a:prstGeom>
          <a:noFill/>
          <a:ln/>
        </p:spPr>
        <p:txBody>
          <a:bodyPr wrap="square" lIns="0" tIns="0" rIns="0" bIns="0" rtlCol="0" anchor="ctr"/>
          <a:lstStyle/>
          <a:p>
            <a:pPr indent="0" marL="0">
              <a:buNone/>
            </a:pPr>
            <a:r>
              <a:rPr lang="en-US" sz="850" dirty="0">
                <a:solidFill>
                  <a:srgbClr val="E53935"/>
                </a:solidFill>
                <a:latin typeface="Meiryo" pitchFamily="34" charset="0"/>
                <a:ea typeface="Meiryo" pitchFamily="34" charset="-122"/>
                <a:cs typeface="Meiryo" pitchFamily="34" charset="-120"/>
              </a:rPr>
              <a:t>—</a:t>
            </a:r>
            <a:endParaRPr lang="en-US" sz="850" dirty="0"/>
          </a:p>
        </p:txBody>
      </p:sp>
      <p:sp>
        <p:nvSpPr>
          <p:cNvPr id="91" name="Shape 89"/>
          <p:cNvSpPr/>
          <p:nvPr/>
        </p:nvSpPr>
        <p:spPr>
          <a:xfrm>
            <a:off x="274320" y="5010912"/>
            <a:ext cx="731520" cy="566928"/>
          </a:xfrm>
          <a:prstGeom prst="rect">
            <a:avLst/>
          </a:prstGeom>
          <a:solidFill>
            <a:srgbClr val="FAFAFA"/>
          </a:solidFill>
          <a:ln w="6350">
            <a:solidFill>
              <a:srgbClr val="EEEEEE"/>
            </a:solidFill>
            <a:prstDash val="solid"/>
          </a:ln>
        </p:spPr>
      </p:sp>
      <p:sp>
        <p:nvSpPr>
          <p:cNvPr id="92" name="Shape 90"/>
          <p:cNvSpPr/>
          <p:nvPr/>
        </p:nvSpPr>
        <p:spPr>
          <a:xfrm>
            <a:off x="1005840" y="5010912"/>
            <a:ext cx="914400" cy="566928"/>
          </a:xfrm>
          <a:prstGeom prst="rect">
            <a:avLst/>
          </a:prstGeom>
          <a:solidFill>
            <a:srgbClr val="FAFAFA"/>
          </a:solidFill>
          <a:ln w="6350">
            <a:solidFill>
              <a:srgbClr val="EEEEEE"/>
            </a:solidFill>
            <a:prstDash val="solid"/>
          </a:ln>
        </p:spPr>
      </p:sp>
      <p:sp>
        <p:nvSpPr>
          <p:cNvPr id="93" name="Shape 91"/>
          <p:cNvSpPr/>
          <p:nvPr/>
        </p:nvSpPr>
        <p:spPr>
          <a:xfrm>
            <a:off x="1920240" y="5010912"/>
            <a:ext cx="2286000" cy="566928"/>
          </a:xfrm>
          <a:prstGeom prst="rect">
            <a:avLst/>
          </a:prstGeom>
          <a:solidFill>
            <a:srgbClr val="FAFAFA"/>
          </a:solidFill>
          <a:ln w="6350">
            <a:solidFill>
              <a:srgbClr val="EEEEEE"/>
            </a:solidFill>
            <a:prstDash val="solid"/>
          </a:ln>
        </p:spPr>
      </p:sp>
      <p:sp>
        <p:nvSpPr>
          <p:cNvPr id="94" name="Shape 92"/>
          <p:cNvSpPr/>
          <p:nvPr/>
        </p:nvSpPr>
        <p:spPr>
          <a:xfrm>
            <a:off x="4206240" y="5010912"/>
            <a:ext cx="5120640" cy="566928"/>
          </a:xfrm>
          <a:prstGeom prst="rect">
            <a:avLst/>
          </a:prstGeom>
          <a:solidFill>
            <a:srgbClr val="FAFAFA"/>
          </a:solidFill>
          <a:ln w="6350">
            <a:solidFill>
              <a:srgbClr val="EEEEEE"/>
            </a:solidFill>
            <a:prstDash val="solid"/>
          </a:ln>
        </p:spPr>
      </p:sp>
      <p:sp>
        <p:nvSpPr>
          <p:cNvPr id="95" name="Shape 93"/>
          <p:cNvSpPr/>
          <p:nvPr/>
        </p:nvSpPr>
        <p:spPr>
          <a:xfrm>
            <a:off x="9326880" y="5010912"/>
            <a:ext cx="914400" cy="566928"/>
          </a:xfrm>
          <a:prstGeom prst="rect">
            <a:avLst/>
          </a:prstGeom>
          <a:solidFill>
            <a:srgbClr val="FAFAFA"/>
          </a:solidFill>
          <a:ln w="6350">
            <a:solidFill>
              <a:srgbClr val="EEEEEE"/>
            </a:solidFill>
            <a:prstDash val="solid"/>
          </a:ln>
        </p:spPr>
      </p:sp>
      <p:sp>
        <p:nvSpPr>
          <p:cNvPr id="96" name="Shape 94"/>
          <p:cNvSpPr/>
          <p:nvPr/>
        </p:nvSpPr>
        <p:spPr>
          <a:xfrm>
            <a:off x="10241280" y="5010912"/>
            <a:ext cx="1764792" cy="566928"/>
          </a:xfrm>
          <a:prstGeom prst="rect">
            <a:avLst/>
          </a:prstGeom>
          <a:solidFill>
            <a:srgbClr val="FAFAFA"/>
          </a:solidFill>
          <a:ln w="6350">
            <a:solidFill>
              <a:srgbClr val="EEEEEE"/>
            </a:solidFill>
            <a:prstDash val="solid"/>
          </a:ln>
        </p:spPr>
      </p:sp>
      <p:sp>
        <p:nvSpPr>
          <p:cNvPr id="97" name="Text 95"/>
          <p:cNvSpPr/>
          <p:nvPr/>
        </p:nvSpPr>
        <p:spPr>
          <a:xfrm>
            <a:off x="320040" y="5065776"/>
            <a:ext cx="640080" cy="457200"/>
          </a:xfrm>
          <a:prstGeom prst="rect">
            <a:avLst/>
          </a:prstGeom>
          <a:solidFill>
            <a:srgbClr val="FEE2E2"/>
          </a:solidFill>
          <a:ln/>
        </p:spPr>
        <p:txBody>
          <a:bodyPr wrap="square" lIns="25400" tIns="25400" rIns="25400" bIns="25400" rtlCol="0" anchor="ctr"/>
          <a:lstStyle/>
          <a:p>
            <a:pPr algn="ctr" indent="0" marL="0">
              <a:buNone/>
            </a:pPr>
            <a:r>
              <a:rPr lang="en-US" sz="900" b="1" dirty="0">
                <a:solidFill>
                  <a:srgbClr val="991B1B"/>
                </a:solidFill>
                <a:latin typeface="Meiryo" pitchFamily="34" charset="0"/>
                <a:ea typeface="Meiryo" pitchFamily="34" charset="-122"/>
                <a:cs typeface="Meiryo" pitchFamily="34" charset="-120"/>
              </a:rPr>
              <a:t>F-05</a:t>
            </a:r>
            <a:endParaRPr lang="en-US" sz="900" dirty="0"/>
          </a:p>
        </p:txBody>
      </p:sp>
      <p:sp>
        <p:nvSpPr>
          <p:cNvPr id="98" name="Text 96"/>
          <p:cNvSpPr/>
          <p:nvPr/>
        </p:nvSpPr>
        <p:spPr>
          <a:xfrm>
            <a:off x="1051560" y="5148072"/>
            <a:ext cx="822960" cy="274320"/>
          </a:xfrm>
          <a:prstGeom prst="rect">
            <a:avLst/>
          </a:prstGeom>
          <a:solidFill>
            <a:srgbClr val="DBEAFE"/>
          </a:solidFill>
          <a:ln/>
        </p:spPr>
        <p:txBody>
          <a:bodyPr wrap="square" lIns="25400" tIns="25400" rIns="25400" bIns="25400" rtlCol="0" anchor="ctr"/>
          <a:lstStyle/>
          <a:p>
            <a:pPr algn="ctr" indent="0" marL="0">
              <a:buNone/>
            </a:pPr>
            <a:r>
              <a:rPr lang="en-US" sz="850" b="1" dirty="0">
                <a:solidFill>
                  <a:srgbClr val="1D4ED8"/>
                </a:solidFill>
                <a:latin typeface="Meiryo" pitchFamily="34" charset="0"/>
                <a:ea typeface="Meiryo" pitchFamily="34" charset="-122"/>
                <a:cs typeface="Meiryo" pitchFamily="34" charset="-120"/>
              </a:rPr>
              <a:t>フロント</a:t>
            </a:r>
            <a:endParaRPr lang="en-US" sz="850" dirty="0"/>
          </a:p>
        </p:txBody>
      </p:sp>
      <p:sp>
        <p:nvSpPr>
          <p:cNvPr id="99" name="Text 97"/>
          <p:cNvSpPr/>
          <p:nvPr/>
        </p:nvSpPr>
        <p:spPr>
          <a:xfrm>
            <a:off x="1965960" y="5065776"/>
            <a:ext cx="2194560" cy="457200"/>
          </a:xfrm>
          <a:prstGeom prst="rect">
            <a:avLst/>
          </a:prstGeom>
          <a:noFill/>
          <a:ln/>
        </p:spPr>
        <p:txBody>
          <a:bodyPr wrap="square" lIns="0" tIns="0" rIns="0" bIns="0" rtlCol="0" anchor="ctr"/>
          <a:lstStyle/>
          <a:p>
            <a:pPr indent="0" marL="0">
              <a:buNone/>
            </a:pPr>
            <a:r>
              <a:rPr lang="en-US" sz="900" b="1" dirty="0">
                <a:solidFill>
                  <a:srgbClr val="2D2D2D"/>
                </a:solidFill>
                <a:latin typeface="Meiryo" pitchFamily="34" charset="0"/>
                <a:ea typeface="Meiryo" pitchFamily="34" charset="-122"/>
                <a:cs typeface="Meiryo" pitchFamily="34" charset="-120"/>
              </a:rPr>
              <a:t>応募モーダル ポイント内訳表示</a:t>
            </a:r>
            <a:endParaRPr lang="en-US" sz="900" dirty="0"/>
          </a:p>
        </p:txBody>
      </p:sp>
      <p:sp>
        <p:nvSpPr>
          <p:cNvPr id="100" name="Text 98"/>
          <p:cNvSpPr/>
          <p:nvPr/>
        </p:nvSpPr>
        <p:spPr>
          <a:xfrm>
            <a:off x="4251960" y="5047488"/>
            <a:ext cx="5029200" cy="50292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GPS分・タクシー承認済・審査中の内訳を応募モーダルに表示</a:t>
            </a:r>
            <a:endParaRPr lang="en-US" sz="900" dirty="0"/>
          </a:p>
        </p:txBody>
      </p:sp>
      <p:sp>
        <p:nvSpPr>
          <p:cNvPr id="101" name="Text 99"/>
          <p:cNvSpPr/>
          <p:nvPr/>
        </p:nvSpPr>
        <p:spPr>
          <a:xfrm>
            <a:off x="9372600" y="5148072"/>
            <a:ext cx="822960" cy="274320"/>
          </a:xfrm>
          <a:prstGeom prst="rect">
            <a:avLst/>
          </a:prstGeom>
          <a:solidFill>
            <a:srgbClr val="DCFCE7"/>
          </a:solidFill>
          <a:ln/>
        </p:spPr>
        <p:txBody>
          <a:bodyPr wrap="square" lIns="25400" tIns="25400" rIns="25400" bIns="25400" rtlCol="0" anchor="ctr"/>
          <a:lstStyle/>
          <a:p>
            <a:pPr algn="ctr" indent="0" marL="0">
              <a:buNone/>
            </a:pPr>
            <a:r>
              <a:rPr lang="en-US" sz="800" b="1" dirty="0">
                <a:solidFill>
                  <a:srgbClr val="166534"/>
                </a:solidFill>
                <a:latin typeface="Meiryo" pitchFamily="34" charset="0"/>
                <a:ea typeface="Meiryo" pitchFamily="34" charset="-122"/>
                <a:cs typeface="Meiryo" pitchFamily="34" charset="-120"/>
              </a:rPr>
              <a:t>小</a:t>
            </a:r>
            <a:endParaRPr lang="en-US" sz="800" dirty="0"/>
          </a:p>
        </p:txBody>
      </p:sp>
      <p:sp>
        <p:nvSpPr>
          <p:cNvPr id="102" name="Text 100"/>
          <p:cNvSpPr/>
          <p:nvPr/>
        </p:nvSpPr>
        <p:spPr>
          <a:xfrm>
            <a:off x="10287000" y="5047488"/>
            <a:ext cx="1645920" cy="502920"/>
          </a:xfrm>
          <a:prstGeom prst="rect">
            <a:avLst/>
          </a:prstGeom>
          <a:noFill/>
          <a:ln/>
        </p:spPr>
        <p:txBody>
          <a:bodyPr wrap="square" lIns="0" tIns="0" rIns="0" bIns="0" rtlCol="0" anchor="ctr"/>
          <a:lstStyle/>
          <a:p>
            <a:pPr indent="0" marL="0">
              <a:buNone/>
            </a:pPr>
            <a:r>
              <a:rPr lang="en-US" sz="850" dirty="0">
                <a:solidFill>
                  <a:srgbClr val="E53935"/>
                </a:solidFill>
                <a:latin typeface="Meiryo" pitchFamily="34" charset="0"/>
                <a:ea typeface="Meiryo" pitchFamily="34" charset="-122"/>
                <a:cs typeface="Meiryo" pitchFamily="34" charset="-120"/>
              </a:rPr>
              <a:t>—</a:t>
            </a:r>
            <a:endParaRPr lang="en-US" sz="850" dirty="0"/>
          </a:p>
        </p:txBody>
      </p:sp>
      <p:sp>
        <p:nvSpPr>
          <p:cNvPr id="103" name="Shape 101"/>
          <p:cNvSpPr/>
          <p:nvPr/>
        </p:nvSpPr>
        <p:spPr>
          <a:xfrm>
            <a:off x="274320" y="5614416"/>
            <a:ext cx="731520" cy="566928"/>
          </a:xfrm>
          <a:prstGeom prst="rect">
            <a:avLst/>
          </a:prstGeom>
          <a:solidFill>
            <a:srgbClr val="FFFFFF"/>
          </a:solidFill>
          <a:ln w="6350">
            <a:solidFill>
              <a:srgbClr val="EEEEEE"/>
            </a:solidFill>
            <a:prstDash val="solid"/>
          </a:ln>
        </p:spPr>
      </p:sp>
      <p:sp>
        <p:nvSpPr>
          <p:cNvPr id="104" name="Shape 102"/>
          <p:cNvSpPr/>
          <p:nvPr/>
        </p:nvSpPr>
        <p:spPr>
          <a:xfrm>
            <a:off x="1005840" y="5614416"/>
            <a:ext cx="914400" cy="566928"/>
          </a:xfrm>
          <a:prstGeom prst="rect">
            <a:avLst/>
          </a:prstGeom>
          <a:solidFill>
            <a:srgbClr val="FFFFFF"/>
          </a:solidFill>
          <a:ln w="6350">
            <a:solidFill>
              <a:srgbClr val="EEEEEE"/>
            </a:solidFill>
            <a:prstDash val="solid"/>
          </a:ln>
        </p:spPr>
      </p:sp>
      <p:sp>
        <p:nvSpPr>
          <p:cNvPr id="105" name="Shape 103"/>
          <p:cNvSpPr/>
          <p:nvPr/>
        </p:nvSpPr>
        <p:spPr>
          <a:xfrm>
            <a:off x="1920240" y="5614416"/>
            <a:ext cx="2286000" cy="566928"/>
          </a:xfrm>
          <a:prstGeom prst="rect">
            <a:avLst/>
          </a:prstGeom>
          <a:solidFill>
            <a:srgbClr val="FFFFFF"/>
          </a:solidFill>
          <a:ln w="6350">
            <a:solidFill>
              <a:srgbClr val="EEEEEE"/>
            </a:solidFill>
            <a:prstDash val="solid"/>
          </a:ln>
        </p:spPr>
      </p:sp>
      <p:sp>
        <p:nvSpPr>
          <p:cNvPr id="106" name="Shape 104"/>
          <p:cNvSpPr/>
          <p:nvPr/>
        </p:nvSpPr>
        <p:spPr>
          <a:xfrm>
            <a:off x="4206240" y="5614416"/>
            <a:ext cx="5120640" cy="566928"/>
          </a:xfrm>
          <a:prstGeom prst="rect">
            <a:avLst/>
          </a:prstGeom>
          <a:solidFill>
            <a:srgbClr val="FFFFFF"/>
          </a:solidFill>
          <a:ln w="6350">
            <a:solidFill>
              <a:srgbClr val="EEEEEE"/>
            </a:solidFill>
            <a:prstDash val="solid"/>
          </a:ln>
        </p:spPr>
      </p:sp>
      <p:sp>
        <p:nvSpPr>
          <p:cNvPr id="107" name="Shape 105"/>
          <p:cNvSpPr/>
          <p:nvPr/>
        </p:nvSpPr>
        <p:spPr>
          <a:xfrm>
            <a:off x="9326880" y="5614416"/>
            <a:ext cx="914400" cy="566928"/>
          </a:xfrm>
          <a:prstGeom prst="rect">
            <a:avLst/>
          </a:prstGeom>
          <a:solidFill>
            <a:srgbClr val="FFFFFF"/>
          </a:solidFill>
          <a:ln w="6350">
            <a:solidFill>
              <a:srgbClr val="EEEEEE"/>
            </a:solidFill>
            <a:prstDash val="solid"/>
          </a:ln>
        </p:spPr>
      </p:sp>
      <p:sp>
        <p:nvSpPr>
          <p:cNvPr id="108" name="Shape 106"/>
          <p:cNvSpPr/>
          <p:nvPr/>
        </p:nvSpPr>
        <p:spPr>
          <a:xfrm>
            <a:off x="10241280" y="5614416"/>
            <a:ext cx="1764792" cy="566928"/>
          </a:xfrm>
          <a:prstGeom prst="rect">
            <a:avLst/>
          </a:prstGeom>
          <a:solidFill>
            <a:srgbClr val="FFFFFF"/>
          </a:solidFill>
          <a:ln w="6350">
            <a:solidFill>
              <a:srgbClr val="EEEEEE"/>
            </a:solidFill>
            <a:prstDash val="solid"/>
          </a:ln>
        </p:spPr>
      </p:sp>
      <p:sp>
        <p:nvSpPr>
          <p:cNvPr id="109" name="Text 107"/>
          <p:cNvSpPr/>
          <p:nvPr/>
        </p:nvSpPr>
        <p:spPr>
          <a:xfrm>
            <a:off x="320040" y="5669280"/>
            <a:ext cx="640080" cy="457200"/>
          </a:xfrm>
          <a:prstGeom prst="rect">
            <a:avLst/>
          </a:prstGeom>
          <a:solidFill>
            <a:srgbClr val="FEF3C7"/>
          </a:solidFill>
          <a:ln/>
        </p:spPr>
        <p:txBody>
          <a:bodyPr wrap="square" lIns="25400" tIns="25400" rIns="25400" bIns="25400" rtlCol="0" anchor="ctr"/>
          <a:lstStyle/>
          <a:p>
            <a:pPr algn="ctr" indent="0" marL="0">
              <a:buNone/>
            </a:pPr>
            <a:r>
              <a:rPr lang="en-US" sz="900" b="1" dirty="0">
                <a:solidFill>
                  <a:srgbClr val="92400E"/>
                </a:solidFill>
                <a:latin typeface="Meiryo" pitchFamily="34" charset="0"/>
                <a:ea typeface="Meiryo" pitchFamily="34" charset="-122"/>
                <a:cs typeface="Meiryo" pitchFamily="34" charset="-120"/>
              </a:rPr>
              <a:t>B-04</a:t>
            </a:r>
            <a:endParaRPr lang="en-US" sz="900" dirty="0"/>
          </a:p>
        </p:txBody>
      </p:sp>
      <p:sp>
        <p:nvSpPr>
          <p:cNvPr id="110" name="Text 108"/>
          <p:cNvSpPr/>
          <p:nvPr/>
        </p:nvSpPr>
        <p:spPr>
          <a:xfrm>
            <a:off x="1051560" y="5751576"/>
            <a:ext cx="822960" cy="274320"/>
          </a:xfrm>
          <a:prstGeom prst="rect">
            <a:avLst/>
          </a:prstGeom>
          <a:solidFill>
            <a:srgbClr val="FEF3C7"/>
          </a:solidFill>
          <a:ln/>
        </p:spPr>
        <p:txBody>
          <a:bodyPr wrap="square" lIns="25400" tIns="25400" rIns="25400" bIns="25400" rtlCol="0" anchor="ctr"/>
          <a:lstStyle/>
          <a:p>
            <a:pPr algn="ctr" indent="0" marL="0">
              <a:buNone/>
            </a:pPr>
            <a:r>
              <a:rPr lang="en-US" sz="850" b="1" dirty="0">
                <a:solidFill>
                  <a:srgbClr val="92400E"/>
                </a:solidFill>
                <a:latin typeface="Meiryo" pitchFamily="34" charset="0"/>
                <a:ea typeface="Meiryo" pitchFamily="34" charset="-122"/>
                <a:cs typeface="Meiryo" pitchFamily="34" charset="-120"/>
              </a:rPr>
              <a:t>設定</a:t>
            </a:r>
            <a:endParaRPr lang="en-US" sz="850" dirty="0"/>
          </a:p>
        </p:txBody>
      </p:sp>
      <p:sp>
        <p:nvSpPr>
          <p:cNvPr id="111" name="Text 109"/>
          <p:cNvSpPr/>
          <p:nvPr/>
        </p:nvSpPr>
        <p:spPr>
          <a:xfrm>
            <a:off x="1965960" y="5669280"/>
            <a:ext cx="2194560" cy="457200"/>
          </a:xfrm>
          <a:prstGeom prst="rect">
            <a:avLst/>
          </a:prstGeom>
          <a:noFill/>
          <a:ln/>
        </p:spPr>
        <p:txBody>
          <a:bodyPr wrap="square" lIns="0" tIns="0" rIns="0" bIns="0" rtlCol="0" anchor="ctr"/>
          <a:lstStyle/>
          <a:p>
            <a:pPr indent="0" marL="0">
              <a:buNone/>
            </a:pPr>
            <a:r>
              <a:rPr lang="en-US" sz="900" b="1" dirty="0">
                <a:solidFill>
                  <a:srgbClr val="2D2D2D"/>
                </a:solidFill>
                <a:latin typeface="Meiryo" pitchFamily="34" charset="0"/>
                <a:ea typeface="Meiryo" pitchFamily="34" charset="-122"/>
                <a:cs typeface="Meiryo" pitchFamily="34" charset="-120"/>
              </a:rPr>
              <a:t>OCRタグ審査 条件設定</a:t>
            </a:r>
            <a:endParaRPr lang="en-US" sz="900" dirty="0"/>
          </a:p>
        </p:txBody>
      </p:sp>
      <p:sp>
        <p:nvSpPr>
          <p:cNvPr id="112" name="Text 110"/>
          <p:cNvSpPr/>
          <p:nvPr/>
        </p:nvSpPr>
        <p:spPr>
          <a:xfrm>
            <a:off x="4251960" y="5650992"/>
            <a:ext cx="5029200" cy="50292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Receico管理画面でタクシー会社リスト・期間・重複チェックを設定。コーディング不要</a:t>
            </a:r>
            <a:endParaRPr lang="en-US" sz="900" dirty="0"/>
          </a:p>
        </p:txBody>
      </p:sp>
      <p:sp>
        <p:nvSpPr>
          <p:cNvPr id="113" name="Text 111"/>
          <p:cNvSpPr/>
          <p:nvPr/>
        </p:nvSpPr>
        <p:spPr>
          <a:xfrm>
            <a:off x="9372600" y="5751576"/>
            <a:ext cx="822960" cy="274320"/>
          </a:xfrm>
          <a:prstGeom prst="rect">
            <a:avLst/>
          </a:prstGeom>
          <a:solidFill>
            <a:srgbClr val="F0F0F0"/>
          </a:solidFill>
          <a:ln/>
        </p:spPr>
        <p:txBody>
          <a:bodyPr wrap="square" lIns="25400" tIns="25400" rIns="25400" bIns="25400" rtlCol="0" anchor="ctr"/>
          <a:lstStyle/>
          <a:p>
            <a:pPr algn="ctr" indent="0" marL="0">
              <a:buNone/>
            </a:pPr>
            <a:r>
              <a:rPr lang="en-US" sz="800" b="1" dirty="0">
                <a:solidFill>
                  <a:srgbClr val="555555"/>
                </a:solidFill>
                <a:latin typeface="Meiryo" pitchFamily="34" charset="0"/>
                <a:ea typeface="Meiryo" pitchFamily="34" charset="-122"/>
                <a:cs typeface="Meiryo" pitchFamily="34" charset="-120"/>
              </a:rPr>
              <a:t>設定のみ</a:t>
            </a:r>
            <a:endParaRPr lang="en-US" sz="800" dirty="0"/>
          </a:p>
        </p:txBody>
      </p:sp>
      <p:sp>
        <p:nvSpPr>
          <p:cNvPr id="114" name="Text 112"/>
          <p:cNvSpPr/>
          <p:nvPr/>
        </p:nvSpPr>
        <p:spPr>
          <a:xfrm>
            <a:off x="10287000" y="5650992"/>
            <a:ext cx="1645920" cy="502920"/>
          </a:xfrm>
          <a:prstGeom prst="rect">
            <a:avLst/>
          </a:prstGeom>
          <a:noFill/>
          <a:ln/>
        </p:spPr>
        <p:txBody>
          <a:bodyPr wrap="square" lIns="0" tIns="0" rIns="0" bIns="0" rtlCol="0" anchor="ctr"/>
          <a:lstStyle/>
          <a:p>
            <a:pPr indent="0" marL="0">
              <a:buNone/>
            </a:pPr>
            <a:r>
              <a:rPr lang="en-US" sz="850" dirty="0">
                <a:solidFill>
                  <a:srgbClr val="E53935"/>
                </a:solidFill>
                <a:latin typeface="Meiryo" pitchFamily="34" charset="0"/>
                <a:ea typeface="Meiryo" pitchFamily="34" charset="-122"/>
                <a:cs typeface="Meiryo" pitchFamily="34" charset="-120"/>
              </a:rPr>
              <a:t>対象タクシー</a:t>
            </a:r>
            <a:endParaRPr lang="en-US" sz="850" dirty="0"/>
          </a:p>
          <a:p>
            <a:pPr indent="0" marL="0">
              <a:buNone/>
            </a:pPr>
            <a:r>
              <a:rPr lang="en-US" sz="850" dirty="0">
                <a:solidFill>
                  <a:srgbClr val="E53935"/>
                </a:solidFill>
                <a:latin typeface="Meiryo" pitchFamily="34" charset="0"/>
                <a:ea typeface="Meiryo" pitchFamily="34" charset="-122"/>
                <a:cs typeface="Meiryo" pitchFamily="34" charset="-120"/>
              </a:rPr>
              <a:t>リスト入手要</a:t>
            </a:r>
            <a:endParaRPr lang="en-US" sz="850" dirty="0"/>
          </a:p>
        </p:txBody>
      </p:sp>
      <p:sp>
        <p:nvSpPr>
          <p:cNvPr id="115" name="Text 113"/>
          <p:cNvSpPr/>
          <p:nvPr/>
        </p:nvSpPr>
        <p:spPr>
          <a:xfrm>
            <a:off x="11365992" y="6565392"/>
            <a:ext cx="731520" cy="256032"/>
          </a:xfrm>
          <a:prstGeom prst="rect">
            <a:avLst/>
          </a:prstGeom>
          <a:noFill/>
          <a:ln/>
        </p:spPr>
        <p:txBody>
          <a:bodyPr wrap="square" lIns="0" tIns="0" rIns="0" bIns="0" rtlCol="0" anchor="ctr"/>
          <a:lstStyle/>
          <a:p>
            <a:pPr algn="r" indent="0" marL="0">
              <a:buNone/>
            </a:pPr>
            <a:r>
              <a:rPr lang="en-US" sz="900" dirty="0">
                <a:solidFill>
                  <a:srgbClr val="AAAAAA"/>
                </a:solidFill>
                <a:latin typeface="Meiryo" pitchFamily="34" charset="0"/>
                <a:ea typeface="Meiryo" pitchFamily="34" charset="-122"/>
                <a:cs typeface="Meiryo" pitchFamily="34" charset="-120"/>
              </a:rPr>
              <a:t>5 / 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2D2D2D"/>
          </a:solidFill>
          <a:ln/>
        </p:spPr>
      </p:sp>
      <p:sp>
        <p:nvSpPr>
          <p:cNvPr id="3" name="Shape 1"/>
          <p:cNvSpPr/>
          <p:nvPr/>
        </p:nvSpPr>
        <p:spPr>
          <a:xfrm>
            <a:off x="0" y="0"/>
            <a:ext cx="164592" cy="914400"/>
          </a:xfrm>
          <a:prstGeom prst="rect">
            <a:avLst/>
          </a:prstGeom>
          <a:solidFill>
            <a:srgbClr val="E87722"/>
          </a:solidFill>
          <a:ln/>
        </p:spPr>
      </p:sp>
      <p:sp>
        <p:nvSpPr>
          <p:cNvPr id="4" name="Text 2"/>
          <p:cNvSpPr/>
          <p:nvPr/>
        </p:nvSpPr>
        <p:spPr>
          <a:xfrm>
            <a:off x="347472" y="91440"/>
            <a:ext cx="10058400" cy="50292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ユーザーフロー</a:t>
            </a:r>
            <a:endParaRPr lang="en-US" sz="2200" dirty="0"/>
          </a:p>
        </p:txBody>
      </p:sp>
      <p:sp>
        <p:nvSpPr>
          <p:cNvPr id="5" name="Text 3"/>
          <p:cNvSpPr/>
          <p:nvPr/>
        </p:nvSpPr>
        <p:spPr>
          <a:xfrm>
            <a:off x="347472" y="576072"/>
            <a:ext cx="10058400" cy="274320"/>
          </a:xfrm>
          <a:prstGeom prst="rect">
            <a:avLst/>
          </a:prstGeom>
          <a:noFill/>
          <a:ln/>
        </p:spPr>
        <p:txBody>
          <a:bodyPr wrap="square" lIns="0" tIns="0" rIns="0" bIns="0" rtlCol="0" anchor="ctr"/>
          <a:lstStyle/>
          <a:p>
            <a:pPr indent="0" marL="0">
              <a:buNone/>
            </a:pPr>
            <a:r>
              <a:rPr lang="en-US" sz="1000" dirty="0">
                <a:solidFill>
                  <a:srgbClr val="BBBBBB"/>
                </a:solidFill>
                <a:latin typeface="Meiryo" pitchFamily="34" charset="0"/>
                <a:ea typeface="Meiryo" pitchFamily="34" charset="-122"/>
                <a:cs typeface="Meiryo" pitchFamily="34" charset="-120"/>
              </a:rPr>
              <a:t>GPS乗降2点判定 ＋ タクシーレシートOCR判定の2系統</a:t>
            </a:r>
            <a:endParaRPr lang="en-US" sz="1000" dirty="0"/>
          </a:p>
        </p:txBody>
      </p:sp>
      <p:sp>
        <p:nvSpPr>
          <p:cNvPr id="6" name="Text 4"/>
          <p:cNvSpPr/>
          <p:nvPr/>
        </p:nvSpPr>
        <p:spPr>
          <a:xfrm>
            <a:off x="10177272" y="109728"/>
            <a:ext cx="192024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Meiryo" pitchFamily="34" charset="0"/>
                <a:ea typeface="Meiryo" pitchFamily="34" charset="-122"/>
                <a:cs typeface="Meiryo" pitchFamily="34" charset="-120"/>
              </a:rPr>
              <a:t>P6 ユーザーフロー</a:t>
            </a:r>
            <a:endParaRPr lang="en-US" sz="900" dirty="0"/>
          </a:p>
        </p:txBody>
      </p:sp>
      <p:sp>
        <p:nvSpPr>
          <p:cNvPr id="7" name="Text 5"/>
          <p:cNvSpPr/>
          <p:nvPr/>
        </p:nvSpPr>
        <p:spPr>
          <a:xfrm>
            <a:off x="274320" y="1078992"/>
            <a:ext cx="10972800" cy="256032"/>
          </a:xfrm>
          <a:prstGeom prst="rect">
            <a:avLst/>
          </a:prstGeom>
          <a:noFill/>
          <a:ln/>
        </p:spPr>
        <p:txBody>
          <a:bodyPr wrap="square" lIns="0" tIns="0" rIns="0" bIns="0" rtlCol="0" anchor="ctr"/>
          <a:lstStyle/>
          <a:p>
            <a:pPr indent="0" marL="0">
              <a:buNone/>
            </a:pPr>
            <a:r>
              <a:rPr lang="en-US" sz="1000" b="1" dirty="0">
                <a:solidFill>
                  <a:srgbClr val="444444"/>
                </a:solidFill>
                <a:latin typeface="Meiryo" pitchFamily="34" charset="0"/>
                <a:ea typeface="Meiryo" pitchFamily="34" charset="-122"/>
                <a:cs typeface="Meiryo" pitchFamily="34" charset="-120"/>
              </a:rPr>
              <a:t>[ GPS乗降判定フロー（バス・電車・路面電車・フェリー） ]</a:t>
            </a:r>
            <a:endParaRPr lang="en-US" sz="1000" dirty="0"/>
          </a:p>
        </p:txBody>
      </p:sp>
      <p:sp>
        <p:nvSpPr>
          <p:cNvPr id="8" name="Shape 6"/>
          <p:cNvSpPr/>
          <p:nvPr/>
        </p:nvSpPr>
        <p:spPr>
          <a:xfrm>
            <a:off x="274320" y="1389888"/>
            <a:ext cx="1389888" cy="914400"/>
          </a:xfrm>
          <a:prstGeom prst="roundRect">
            <a:avLst>
              <a:gd name="adj" fmla="val 8000"/>
            </a:avLst>
          </a:prstGeom>
          <a:solidFill>
            <a:srgbClr val="2C5F2D"/>
          </a:solidFill>
          <a:ln w="12700">
            <a:solidFill>
              <a:srgbClr val="2C5F2D"/>
            </a:solidFill>
            <a:prstDash val="solid"/>
          </a:ln>
        </p:spPr>
      </p:sp>
      <p:sp>
        <p:nvSpPr>
          <p:cNvPr id="9" name="Text 7"/>
          <p:cNvSpPr/>
          <p:nvPr/>
        </p:nvSpPr>
        <p:spPr>
          <a:xfrm>
            <a:off x="274320" y="1481328"/>
            <a:ext cx="1389888"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LINEログイン</a:t>
            </a:r>
            <a:endParaRPr lang="en-US" sz="1000" dirty="0"/>
          </a:p>
        </p:txBody>
      </p:sp>
      <p:sp>
        <p:nvSpPr>
          <p:cNvPr id="10" name="Text 8"/>
          <p:cNvSpPr/>
          <p:nvPr/>
        </p:nvSpPr>
        <p:spPr>
          <a:xfrm>
            <a:off x="274320" y="2011680"/>
            <a:ext cx="1389888" cy="256032"/>
          </a:xfrm>
          <a:prstGeom prst="rect">
            <a:avLst/>
          </a:prstGeom>
          <a:noFill/>
          <a:ln/>
        </p:spPr>
        <p:txBody>
          <a:bodyPr wrap="square" lIns="0" tIns="0" rIns="0" bIns="0" rtlCol="0" anchor="ctr"/>
          <a:lstStyle/>
          <a:p>
            <a:pPr algn="ctr" indent="0" marL="0">
              <a:buNone/>
            </a:pPr>
            <a:r>
              <a:rPr lang="en-US" sz="800" dirty="0">
                <a:solidFill>
                  <a:srgbClr val="FFFFFF"/>
                </a:solidFill>
                <a:latin typeface="Meiryo" pitchFamily="34" charset="0"/>
                <a:ea typeface="Meiryo" pitchFamily="34" charset="-122"/>
                <a:cs typeface="Meiryo" pitchFamily="34" charset="-120"/>
              </a:rPr>
              <a:t>（標準OP）</a:t>
            </a:r>
            <a:endParaRPr lang="en-US" sz="800" dirty="0"/>
          </a:p>
        </p:txBody>
      </p:sp>
      <p:sp>
        <p:nvSpPr>
          <p:cNvPr id="11" name="Shape 9"/>
          <p:cNvSpPr/>
          <p:nvPr/>
        </p:nvSpPr>
        <p:spPr>
          <a:xfrm>
            <a:off x="1691640" y="1847088"/>
            <a:ext cx="14630" cy="0"/>
          </a:xfrm>
          <a:prstGeom prst="line">
            <a:avLst/>
          </a:prstGeom>
          <a:noFill/>
          <a:ln w="15240">
            <a:solidFill>
              <a:srgbClr val="AAAAAA"/>
            </a:solidFill>
            <a:prstDash val="solid"/>
            <a:tailEnd type="open"/>
          </a:ln>
        </p:spPr>
      </p:sp>
      <p:sp>
        <p:nvSpPr>
          <p:cNvPr id="12" name="Shape 10"/>
          <p:cNvSpPr/>
          <p:nvPr/>
        </p:nvSpPr>
        <p:spPr>
          <a:xfrm>
            <a:off x="1733702" y="1389888"/>
            <a:ext cx="1389888" cy="914400"/>
          </a:xfrm>
          <a:prstGeom prst="roundRect">
            <a:avLst>
              <a:gd name="adj" fmla="val 8000"/>
            </a:avLst>
          </a:prstGeom>
          <a:solidFill>
            <a:srgbClr val="FEE2E2"/>
          </a:solidFill>
          <a:ln w="19050">
            <a:solidFill>
              <a:srgbClr val="991B1B"/>
            </a:solidFill>
            <a:prstDash val="solid"/>
          </a:ln>
        </p:spPr>
      </p:sp>
      <p:sp>
        <p:nvSpPr>
          <p:cNvPr id="13" name="Text 11"/>
          <p:cNvSpPr/>
          <p:nvPr/>
        </p:nvSpPr>
        <p:spPr>
          <a:xfrm>
            <a:off x="1733702" y="1481328"/>
            <a:ext cx="1389888" cy="502920"/>
          </a:xfrm>
          <a:prstGeom prst="rect">
            <a:avLst/>
          </a:prstGeom>
          <a:noFill/>
          <a:ln/>
        </p:spPr>
        <p:txBody>
          <a:bodyPr wrap="square" lIns="0" tIns="0" rIns="0" bIns="0" rtlCol="0" anchor="ctr"/>
          <a:lstStyle/>
          <a:p>
            <a:pPr algn="ctr" indent="0" marL="0">
              <a:buNone/>
            </a:pPr>
            <a:r>
              <a:rPr lang="en-US" sz="1000" b="1" dirty="0">
                <a:solidFill>
                  <a:srgbClr val="991B1B"/>
                </a:solidFill>
                <a:latin typeface="Meiryo" pitchFamily="34" charset="0"/>
                <a:ea typeface="Meiryo" pitchFamily="34" charset="-122"/>
                <a:cs typeface="Meiryo" pitchFamily="34" charset="-120"/>
              </a:rPr>
              <a:t>マイページ</a:t>
            </a:r>
            <a:endParaRPr lang="en-US" sz="1000" dirty="0"/>
          </a:p>
        </p:txBody>
      </p:sp>
      <p:sp>
        <p:nvSpPr>
          <p:cNvPr id="14" name="Text 12"/>
          <p:cNvSpPr/>
          <p:nvPr/>
        </p:nvSpPr>
        <p:spPr>
          <a:xfrm>
            <a:off x="1733702" y="2011680"/>
            <a:ext cx="1389888" cy="256032"/>
          </a:xfrm>
          <a:prstGeom prst="rect">
            <a:avLst/>
          </a:prstGeom>
          <a:noFill/>
          <a:ln/>
        </p:spPr>
        <p:txBody>
          <a:bodyPr wrap="square" lIns="0" tIns="0" rIns="0" bIns="0" rtlCol="0" anchor="ctr"/>
          <a:lstStyle/>
          <a:p>
            <a:pPr algn="ctr" indent="0" marL="0">
              <a:buNone/>
            </a:pPr>
            <a:r>
              <a:rPr lang="en-US" sz="800" dirty="0">
                <a:solidFill>
                  <a:srgbClr val="991B1B"/>
                </a:solidFill>
                <a:latin typeface="Meiryo" pitchFamily="34" charset="0"/>
                <a:ea typeface="Meiryo" pitchFamily="34" charset="-122"/>
                <a:cs typeface="Meiryo" pitchFamily="34" charset="-120"/>
              </a:rPr>
              <a:t>F-01 拡張</a:t>
            </a:r>
            <a:endParaRPr lang="en-US" sz="800" dirty="0"/>
          </a:p>
        </p:txBody>
      </p:sp>
      <p:sp>
        <p:nvSpPr>
          <p:cNvPr id="15" name="Shape 13"/>
          <p:cNvSpPr/>
          <p:nvPr/>
        </p:nvSpPr>
        <p:spPr>
          <a:xfrm>
            <a:off x="3151022" y="1847088"/>
            <a:ext cx="14630" cy="0"/>
          </a:xfrm>
          <a:prstGeom prst="line">
            <a:avLst/>
          </a:prstGeom>
          <a:noFill/>
          <a:ln w="15240">
            <a:solidFill>
              <a:srgbClr val="AAAAAA"/>
            </a:solidFill>
            <a:prstDash val="solid"/>
            <a:tailEnd type="open"/>
          </a:ln>
        </p:spPr>
      </p:sp>
      <p:sp>
        <p:nvSpPr>
          <p:cNvPr id="16" name="Shape 14"/>
          <p:cNvSpPr/>
          <p:nvPr/>
        </p:nvSpPr>
        <p:spPr>
          <a:xfrm>
            <a:off x="3193085" y="1389888"/>
            <a:ext cx="1389888" cy="914400"/>
          </a:xfrm>
          <a:prstGeom prst="roundRect">
            <a:avLst>
              <a:gd name="adj" fmla="val 8000"/>
            </a:avLst>
          </a:prstGeom>
          <a:solidFill>
            <a:srgbClr val="FEE2E2"/>
          </a:solidFill>
          <a:ln w="19050">
            <a:solidFill>
              <a:srgbClr val="991B1B"/>
            </a:solidFill>
            <a:prstDash val="solid"/>
          </a:ln>
        </p:spPr>
      </p:sp>
      <p:sp>
        <p:nvSpPr>
          <p:cNvPr id="17" name="Text 15"/>
          <p:cNvSpPr/>
          <p:nvPr/>
        </p:nvSpPr>
        <p:spPr>
          <a:xfrm>
            <a:off x="3193085" y="1481328"/>
            <a:ext cx="1389888" cy="502920"/>
          </a:xfrm>
          <a:prstGeom prst="rect">
            <a:avLst/>
          </a:prstGeom>
          <a:noFill/>
          <a:ln/>
        </p:spPr>
        <p:txBody>
          <a:bodyPr wrap="square" lIns="0" tIns="0" rIns="0" bIns="0" rtlCol="0" anchor="ctr"/>
          <a:lstStyle/>
          <a:p>
            <a:pPr algn="ctr" indent="0" marL="0">
              <a:buNone/>
            </a:pPr>
            <a:r>
              <a:rPr lang="en-US" sz="1000" b="1" dirty="0">
                <a:solidFill>
                  <a:srgbClr val="991B1B"/>
                </a:solidFill>
                <a:latin typeface="Meiryo" pitchFamily="34" charset="0"/>
                <a:ea typeface="Meiryo" pitchFamily="34" charset="-122"/>
                <a:cs typeface="Meiryo" pitchFamily="34" charset="-120"/>
              </a:rPr>
              <a:t>種別・路線 選択</a:t>
            </a:r>
            <a:endParaRPr lang="en-US" sz="1000" dirty="0"/>
          </a:p>
        </p:txBody>
      </p:sp>
      <p:sp>
        <p:nvSpPr>
          <p:cNvPr id="18" name="Text 16"/>
          <p:cNvSpPr/>
          <p:nvPr/>
        </p:nvSpPr>
        <p:spPr>
          <a:xfrm>
            <a:off x="3193085" y="2011680"/>
            <a:ext cx="1389888" cy="256032"/>
          </a:xfrm>
          <a:prstGeom prst="rect">
            <a:avLst/>
          </a:prstGeom>
          <a:noFill/>
          <a:ln/>
        </p:spPr>
        <p:txBody>
          <a:bodyPr wrap="square" lIns="0" tIns="0" rIns="0" bIns="0" rtlCol="0" anchor="ctr"/>
          <a:lstStyle/>
          <a:p>
            <a:pPr algn="ctr" indent="0" marL="0">
              <a:buNone/>
            </a:pPr>
            <a:r>
              <a:rPr lang="en-US" sz="800" dirty="0">
                <a:solidFill>
                  <a:srgbClr val="991B1B"/>
                </a:solidFill>
                <a:latin typeface="Meiryo" pitchFamily="34" charset="0"/>
                <a:ea typeface="Meiryo" pitchFamily="34" charset="-122"/>
                <a:cs typeface="Meiryo" pitchFamily="34" charset="-120"/>
              </a:rPr>
              <a:t>F-02</a:t>
            </a:r>
            <a:endParaRPr lang="en-US" sz="800" dirty="0"/>
          </a:p>
        </p:txBody>
      </p:sp>
      <p:sp>
        <p:nvSpPr>
          <p:cNvPr id="19" name="Shape 17"/>
          <p:cNvSpPr/>
          <p:nvPr/>
        </p:nvSpPr>
        <p:spPr>
          <a:xfrm>
            <a:off x="4610405" y="1847088"/>
            <a:ext cx="14630" cy="0"/>
          </a:xfrm>
          <a:prstGeom prst="line">
            <a:avLst/>
          </a:prstGeom>
          <a:noFill/>
          <a:ln w="15240">
            <a:solidFill>
              <a:srgbClr val="AAAAAA"/>
            </a:solidFill>
            <a:prstDash val="solid"/>
            <a:tailEnd type="open"/>
          </a:ln>
        </p:spPr>
      </p:sp>
      <p:sp>
        <p:nvSpPr>
          <p:cNvPr id="20" name="Shape 18"/>
          <p:cNvSpPr/>
          <p:nvPr/>
        </p:nvSpPr>
        <p:spPr>
          <a:xfrm>
            <a:off x="4652467" y="1389888"/>
            <a:ext cx="1389888" cy="914400"/>
          </a:xfrm>
          <a:prstGeom prst="roundRect">
            <a:avLst>
              <a:gd name="adj" fmla="val 8000"/>
            </a:avLst>
          </a:prstGeom>
          <a:solidFill>
            <a:srgbClr val="FEE2E2"/>
          </a:solidFill>
          <a:ln w="19050">
            <a:solidFill>
              <a:srgbClr val="991B1B"/>
            </a:solidFill>
            <a:prstDash val="solid"/>
          </a:ln>
        </p:spPr>
      </p:sp>
      <p:sp>
        <p:nvSpPr>
          <p:cNvPr id="21" name="Text 19"/>
          <p:cNvSpPr/>
          <p:nvPr/>
        </p:nvSpPr>
        <p:spPr>
          <a:xfrm>
            <a:off x="4652467" y="1481328"/>
            <a:ext cx="1389888" cy="502920"/>
          </a:xfrm>
          <a:prstGeom prst="rect">
            <a:avLst/>
          </a:prstGeom>
          <a:noFill/>
          <a:ln/>
        </p:spPr>
        <p:txBody>
          <a:bodyPr wrap="square" lIns="0" tIns="0" rIns="0" bIns="0" rtlCol="0" anchor="ctr"/>
          <a:lstStyle/>
          <a:p>
            <a:pPr algn="ctr" indent="0" marL="0">
              <a:buNone/>
            </a:pPr>
            <a:r>
              <a:rPr lang="en-US" sz="1000" b="1" dirty="0">
                <a:solidFill>
                  <a:srgbClr val="991B1B"/>
                </a:solidFill>
                <a:latin typeface="Meiryo" pitchFamily="34" charset="0"/>
                <a:ea typeface="Meiryo" pitchFamily="34" charset="-122"/>
                <a:cs typeface="Meiryo" pitchFamily="34" charset="-120"/>
              </a:rPr>
              <a:t>GPS 乗車地</a:t>
            </a:r>
            <a:endParaRPr lang="en-US" sz="1000" dirty="0"/>
          </a:p>
        </p:txBody>
      </p:sp>
      <p:sp>
        <p:nvSpPr>
          <p:cNvPr id="22" name="Text 20"/>
          <p:cNvSpPr/>
          <p:nvPr/>
        </p:nvSpPr>
        <p:spPr>
          <a:xfrm>
            <a:off x="4652467" y="2011680"/>
            <a:ext cx="1389888" cy="256032"/>
          </a:xfrm>
          <a:prstGeom prst="rect">
            <a:avLst/>
          </a:prstGeom>
          <a:noFill/>
          <a:ln/>
        </p:spPr>
        <p:txBody>
          <a:bodyPr wrap="square" lIns="0" tIns="0" rIns="0" bIns="0" rtlCol="0" anchor="ctr"/>
          <a:lstStyle/>
          <a:p>
            <a:pPr algn="ctr" indent="0" marL="0">
              <a:buNone/>
            </a:pPr>
            <a:r>
              <a:rPr lang="en-US" sz="800" dirty="0">
                <a:solidFill>
                  <a:srgbClr val="991B1B"/>
                </a:solidFill>
                <a:latin typeface="Meiryo" pitchFamily="34" charset="0"/>
                <a:ea typeface="Meiryo" pitchFamily="34" charset="-122"/>
                <a:cs typeface="Meiryo" pitchFamily="34" charset="-120"/>
              </a:rPr>
              <a:t>B-01</a:t>
            </a:r>
            <a:endParaRPr lang="en-US" sz="800" dirty="0"/>
          </a:p>
        </p:txBody>
      </p:sp>
      <p:sp>
        <p:nvSpPr>
          <p:cNvPr id="23" name="Shape 21"/>
          <p:cNvSpPr/>
          <p:nvPr/>
        </p:nvSpPr>
        <p:spPr>
          <a:xfrm>
            <a:off x="6069787" y="1847088"/>
            <a:ext cx="14630" cy="0"/>
          </a:xfrm>
          <a:prstGeom prst="line">
            <a:avLst/>
          </a:prstGeom>
          <a:noFill/>
          <a:ln w="15240">
            <a:solidFill>
              <a:srgbClr val="AAAAAA"/>
            </a:solidFill>
            <a:prstDash val="solid"/>
            <a:tailEnd type="open"/>
          </a:ln>
        </p:spPr>
      </p:sp>
      <p:sp>
        <p:nvSpPr>
          <p:cNvPr id="24" name="Shape 22"/>
          <p:cNvSpPr/>
          <p:nvPr/>
        </p:nvSpPr>
        <p:spPr>
          <a:xfrm>
            <a:off x="6111850" y="1389888"/>
            <a:ext cx="1389888" cy="914400"/>
          </a:xfrm>
          <a:prstGeom prst="roundRect">
            <a:avLst>
              <a:gd name="adj" fmla="val 8000"/>
            </a:avLst>
          </a:prstGeom>
          <a:solidFill>
            <a:srgbClr val="FEE2E2"/>
          </a:solidFill>
          <a:ln w="19050">
            <a:solidFill>
              <a:srgbClr val="991B1B"/>
            </a:solidFill>
            <a:prstDash val="solid"/>
          </a:ln>
        </p:spPr>
      </p:sp>
      <p:sp>
        <p:nvSpPr>
          <p:cNvPr id="25" name="Text 23"/>
          <p:cNvSpPr/>
          <p:nvPr/>
        </p:nvSpPr>
        <p:spPr>
          <a:xfrm>
            <a:off x="6111850" y="1481328"/>
            <a:ext cx="1389888" cy="502920"/>
          </a:xfrm>
          <a:prstGeom prst="rect">
            <a:avLst/>
          </a:prstGeom>
          <a:noFill/>
          <a:ln/>
        </p:spPr>
        <p:txBody>
          <a:bodyPr wrap="square" lIns="0" tIns="0" rIns="0" bIns="0" rtlCol="0" anchor="ctr"/>
          <a:lstStyle/>
          <a:p>
            <a:pPr algn="ctr" indent="0" marL="0">
              <a:buNone/>
            </a:pPr>
            <a:r>
              <a:rPr lang="en-US" sz="1000" b="1" dirty="0">
                <a:solidFill>
                  <a:srgbClr val="991B1B"/>
                </a:solidFill>
                <a:latin typeface="Meiryo" pitchFamily="34" charset="0"/>
                <a:ea typeface="Meiryo" pitchFamily="34" charset="-122"/>
                <a:cs typeface="Meiryo" pitchFamily="34" charset="-120"/>
              </a:rPr>
              <a:t>GPS 降車地</a:t>
            </a:r>
            <a:endParaRPr lang="en-US" sz="1000" dirty="0"/>
          </a:p>
        </p:txBody>
      </p:sp>
      <p:sp>
        <p:nvSpPr>
          <p:cNvPr id="26" name="Text 24"/>
          <p:cNvSpPr/>
          <p:nvPr/>
        </p:nvSpPr>
        <p:spPr>
          <a:xfrm>
            <a:off x="6111850" y="2011680"/>
            <a:ext cx="1389888" cy="256032"/>
          </a:xfrm>
          <a:prstGeom prst="rect">
            <a:avLst/>
          </a:prstGeom>
          <a:noFill/>
          <a:ln/>
        </p:spPr>
        <p:txBody>
          <a:bodyPr wrap="square" lIns="0" tIns="0" rIns="0" bIns="0" rtlCol="0" anchor="ctr"/>
          <a:lstStyle/>
          <a:p>
            <a:pPr algn="ctr" indent="0" marL="0">
              <a:buNone/>
            </a:pPr>
            <a:r>
              <a:rPr lang="en-US" sz="800" dirty="0">
                <a:solidFill>
                  <a:srgbClr val="991B1B"/>
                </a:solidFill>
                <a:latin typeface="Meiryo" pitchFamily="34" charset="0"/>
                <a:ea typeface="Meiryo" pitchFamily="34" charset="-122"/>
                <a:cs typeface="Meiryo" pitchFamily="34" charset="-120"/>
              </a:rPr>
              <a:t>B-01 ペア成立</a:t>
            </a:r>
            <a:endParaRPr lang="en-US" sz="800" dirty="0"/>
          </a:p>
        </p:txBody>
      </p:sp>
      <p:sp>
        <p:nvSpPr>
          <p:cNvPr id="27" name="Shape 25"/>
          <p:cNvSpPr/>
          <p:nvPr/>
        </p:nvSpPr>
        <p:spPr>
          <a:xfrm>
            <a:off x="7529170" y="1847088"/>
            <a:ext cx="14630" cy="0"/>
          </a:xfrm>
          <a:prstGeom prst="line">
            <a:avLst/>
          </a:prstGeom>
          <a:noFill/>
          <a:ln w="15240">
            <a:solidFill>
              <a:srgbClr val="AAAAAA"/>
            </a:solidFill>
            <a:prstDash val="solid"/>
            <a:tailEnd type="open"/>
          </a:ln>
        </p:spPr>
      </p:sp>
      <p:sp>
        <p:nvSpPr>
          <p:cNvPr id="28" name="Shape 26"/>
          <p:cNvSpPr/>
          <p:nvPr/>
        </p:nvSpPr>
        <p:spPr>
          <a:xfrm>
            <a:off x="7571232" y="1389888"/>
            <a:ext cx="1389888" cy="914400"/>
          </a:xfrm>
          <a:prstGeom prst="roundRect">
            <a:avLst>
              <a:gd name="adj" fmla="val 8000"/>
            </a:avLst>
          </a:prstGeom>
          <a:solidFill>
            <a:srgbClr val="4CAF50"/>
          </a:solidFill>
          <a:ln w="12700">
            <a:solidFill>
              <a:srgbClr val="4CAF50"/>
            </a:solidFill>
            <a:prstDash val="solid"/>
          </a:ln>
        </p:spPr>
      </p:sp>
      <p:sp>
        <p:nvSpPr>
          <p:cNvPr id="29" name="Text 27"/>
          <p:cNvSpPr/>
          <p:nvPr/>
        </p:nvSpPr>
        <p:spPr>
          <a:xfrm>
            <a:off x="7571232" y="1481328"/>
            <a:ext cx="1389888"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1pt付与</a:t>
            </a:r>
            <a:endParaRPr lang="en-US" sz="1000" dirty="0"/>
          </a:p>
        </p:txBody>
      </p:sp>
      <p:sp>
        <p:nvSpPr>
          <p:cNvPr id="30" name="Text 28"/>
          <p:cNvSpPr/>
          <p:nvPr/>
        </p:nvSpPr>
        <p:spPr>
          <a:xfrm>
            <a:off x="7571232" y="2011680"/>
            <a:ext cx="1389888" cy="256032"/>
          </a:xfrm>
          <a:prstGeom prst="rect">
            <a:avLst/>
          </a:prstGeom>
          <a:noFill/>
          <a:ln/>
        </p:spPr>
        <p:txBody>
          <a:bodyPr wrap="square" lIns="0" tIns="0" rIns="0" bIns="0" rtlCol="0" anchor="ctr"/>
          <a:lstStyle/>
          <a:p>
            <a:pPr algn="ctr" indent="0" marL="0">
              <a:buNone/>
            </a:pPr>
            <a:r>
              <a:rPr lang="en-US" sz="800" dirty="0">
                <a:solidFill>
                  <a:srgbClr val="FFFFFF"/>
                </a:solidFill>
                <a:latin typeface="Meiryo" pitchFamily="34" charset="0"/>
                <a:ea typeface="Meiryo" pitchFamily="34" charset="-122"/>
                <a:cs typeface="Meiryo" pitchFamily="34" charset="-120"/>
              </a:rPr>
              <a:t>即時</a:t>
            </a:r>
            <a:endParaRPr lang="en-US" sz="800" dirty="0"/>
          </a:p>
        </p:txBody>
      </p:sp>
      <p:sp>
        <p:nvSpPr>
          <p:cNvPr id="31" name="Text 29"/>
          <p:cNvSpPr/>
          <p:nvPr/>
        </p:nvSpPr>
        <p:spPr>
          <a:xfrm>
            <a:off x="274320" y="2834640"/>
            <a:ext cx="10972800" cy="256032"/>
          </a:xfrm>
          <a:prstGeom prst="rect">
            <a:avLst/>
          </a:prstGeom>
          <a:noFill/>
          <a:ln/>
        </p:spPr>
        <p:txBody>
          <a:bodyPr wrap="square" lIns="0" tIns="0" rIns="0" bIns="0" rtlCol="0" anchor="ctr"/>
          <a:lstStyle/>
          <a:p>
            <a:pPr indent="0" marL="0">
              <a:buNone/>
            </a:pPr>
            <a:r>
              <a:rPr lang="en-US" sz="1000" b="1" dirty="0">
                <a:solidFill>
                  <a:srgbClr val="444444"/>
                </a:solidFill>
                <a:latin typeface="Meiryo" pitchFamily="34" charset="0"/>
                <a:ea typeface="Meiryo" pitchFamily="34" charset="-122"/>
                <a:cs typeface="Meiryo" pitchFamily="34" charset="-120"/>
              </a:rPr>
              <a:t>[ タクシー領収書フロー ]</a:t>
            </a:r>
            <a:endParaRPr lang="en-US" sz="1000" dirty="0"/>
          </a:p>
        </p:txBody>
      </p:sp>
      <p:sp>
        <p:nvSpPr>
          <p:cNvPr id="32" name="Shape 30"/>
          <p:cNvSpPr/>
          <p:nvPr/>
        </p:nvSpPr>
        <p:spPr>
          <a:xfrm>
            <a:off x="274320" y="3127248"/>
            <a:ext cx="1389888" cy="914400"/>
          </a:xfrm>
          <a:prstGeom prst="roundRect">
            <a:avLst>
              <a:gd name="adj" fmla="val 8000"/>
            </a:avLst>
          </a:prstGeom>
          <a:solidFill>
            <a:srgbClr val="4B5563"/>
          </a:solidFill>
          <a:ln w="12700">
            <a:solidFill>
              <a:srgbClr val="888888"/>
            </a:solidFill>
            <a:prstDash val="solid"/>
          </a:ln>
        </p:spPr>
      </p:sp>
      <p:sp>
        <p:nvSpPr>
          <p:cNvPr id="33" name="Text 31"/>
          <p:cNvSpPr/>
          <p:nvPr/>
        </p:nvSpPr>
        <p:spPr>
          <a:xfrm>
            <a:off x="274320" y="3218688"/>
            <a:ext cx="1389888"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タクシー乗車</a:t>
            </a:r>
            <a:endParaRPr lang="en-US" sz="1000" dirty="0"/>
          </a:p>
        </p:txBody>
      </p:sp>
      <p:sp>
        <p:nvSpPr>
          <p:cNvPr id="34" name="Text 32"/>
          <p:cNvSpPr/>
          <p:nvPr/>
        </p:nvSpPr>
        <p:spPr>
          <a:xfrm>
            <a:off x="274320" y="3749040"/>
            <a:ext cx="1389888" cy="256032"/>
          </a:xfrm>
          <a:prstGeom prst="rect">
            <a:avLst/>
          </a:prstGeom>
          <a:noFill/>
          <a:ln/>
        </p:spPr>
        <p:txBody>
          <a:bodyPr wrap="square" lIns="0" tIns="0" rIns="0" bIns="0" rtlCol="0" anchor="ctr"/>
          <a:lstStyle/>
          <a:p>
            <a:pPr algn="ctr" indent="0" marL="0">
              <a:buNone/>
            </a:pPr>
            <a:r>
              <a:rPr lang="en-US" sz="750" dirty="0">
                <a:solidFill>
                  <a:srgbClr val="FFFFFF"/>
                </a:solidFill>
                <a:latin typeface="Meiryo" pitchFamily="34" charset="0"/>
                <a:ea typeface="Meiryo" pitchFamily="34" charset="-122"/>
                <a:cs typeface="Meiryo" pitchFamily="34" charset="-120"/>
              </a:rPr>
              <a:t>タクシー</a:t>
            </a:r>
            <a:endParaRPr lang="en-US" sz="750" dirty="0"/>
          </a:p>
        </p:txBody>
      </p:sp>
      <p:sp>
        <p:nvSpPr>
          <p:cNvPr id="35" name="Shape 33"/>
          <p:cNvSpPr/>
          <p:nvPr/>
        </p:nvSpPr>
        <p:spPr>
          <a:xfrm>
            <a:off x="1691640" y="3584448"/>
            <a:ext cx="379476" cy="0"/>
          </a:xfrm>
          <a:prstGeom prst="line">
            <a:avLst/>
          </a:prstGeom>
          <a:noFill/>
          <a:ln w="15240">
            <a:solidFill>
              <a:srgbClr val="AAAAAA"/>
            </a:solidFill>
            <a:prstDash val="solid"/>
            <a:tailEnd type="open"/>
          </a:ln>
        </p:spPr>
      </p:sp>
      <p:sp>
        <p:nvSpPr>
          <p:cNvPr id="36" name="Shape 34"/>
          <p:cNvSpPr/>
          <p:nvPr/>
        </p:nvSpPr>
        <p:spPr>
          <a:xfrm>
            <a:off x="2098548" y="3127248"/>
            <a:ext cx="1389888" cy="914400"/>
          </a:xfrm>
          <a:prstGeom prst="roundRect">
            <a:avLst>
              <a:gd name="adj" fmla="val 8000"/>
            </a:avLst>
          </a:prstGeom>
          <a:solidFill>
            <a:srgbClr val="DBEAFE"/>
          </a:solidFill>
          <a:ln w="12700">
            <a:solidFill>
              <a:srgbClr val="888888"/>
            </a:solidFill>
            <a:prstDash val="solid"/>
          </a:ln>
        </p:spPr>
      </p:sp>
      <p:sp>
        <p:nvSpPr>
          <p:cNvPr id="37" name="Text 35"/>
          <p:cNvSpPr/>
          <p:nvPr/>
        </p:nvSpPr>
        <p:spPr>
          <a:xfrm>
            <a:off x="2098548" y="3218688"/>
            <a:ext cx="1389888" cy="502920"/>
          </a:xfrm>
          <a:prstGeom prst="rect">
            <a:avLst/>
          </a:prstGeom>
          <a:noFill/>
          <a:ln/>
        </p:spPr>
        <p:txBody>
          <a:bodyPr wrap="square" lIns="0" tIns="0" rIns="0" bIns="0" rtlCol="0" anchor="ctr"/>
          <a:lstStyle/>
          <a:p>
            <a:pPr algn="ctr" indent="0" marL="0">
              <a:buNone/>
            </a:pPr>
            <a:r>
              <a:rPr lang="en-US" sz="1000" b="1" dirty="0">
                <a:solidFill>
                  <a:srgbClr val="1E40AF"/>
                </a:solidFill>
                <a:latin typeface="Meiryo" pitchFamily="34" charset="0"/>
                <a:ea typeface="Meiryo" pitchFamily="34" charset="-122"/>
                <a:cs typeface="Meiryo" pitchFamily="34" charset="-120"/>
              </a:rPr>
              <a:t>レシート登録</a:t>
            </a:r>
            <a:endParaRPr lang="en-US" sz="1000" dirty="0"/>
          </a:p>
        </p:txBody>
      </p:sp>
      <p:sp>
        <p:nvSpPr>
          <p:cNvPr id="38" name="Text 36"/>
          <p:cNvSpPr/>
          <p:nvPr/>
        </p:nvSpPr>
        <p:spPr>
          <a:xfrm>
            <a:off x="2098548" y="3749040"/>
            <a:ext cx="1389888" cy="256032"/>
          </a:xfrm>
          <a:prstGeom prst="rect">
            <a:avLst/>
          </a:prstGeom>
          <a:noFill/>
          <a:ln/>
        </p:spPr>
        <p:txBody>
          <a:bodyPr wrap="square" lIns="0" tIns="0" rIns="0" bIns="0" rtlCol="0" anchor="ctr"/>
          <a:lstStyle/>
          <a:p>
            <a:pPr algn="ctr" indent="0" marL="0">
              <a:buNone/>
            </a:pPr>
            <a:r>
              <a:rPr lang="en-US" sz="750" dirty="0">
                <a:solidFill>
                  <a:srgbClr val="1E40AF"/>
                </a:solidFill>
                <a:latin typeface="Meiryo" pitchFamily="34" charset="0"/>
                <a:ea typeface="Meiryo" pitchFamily="34" charset="-122"/>
                <a:cs typeface="Meiryo" pitchFamily="34" charset="-120"/>
              </a:rPr>
              <a:t>Receico SSO F/B-03</a:t>
            </a:r>
            <a:endParaRPr lang="en-US" sz="750" dirty="0"/>
          </a:p>
        </p:txBody>
      </p:sp>
      <p:sp>
        <p:nvSpPr>
          <p:cNvPr id="39" name="Shape 37"/>
          <p:cNvSpPr/>
          <p:nvPr/>
        </p:nvSpPr>
        <p:spPr>
          <a:xfrm>
            <a:off x="3515868" y="3584448"/>
            <a:ext cx="379476" cy="0"/>
          </a:xfrm>
          <a:prstGeom prst="line">
            <a:avLst/>
          </a:prstGeom>
          <a:noFill/>
          <a:ln w="15240">
            <a:solidFill>
              <a:srgbClr val="AAAAAA"/>
            </a:solidFill>
            <a:prstDash val="solid"/>
            <a:tailEnd type="open"/>
          </a:ln>
        </p:spPr>
      </p:sp>
      <p:sp>
        <p:nvSpPr>
          <p:cNvPr id="40" name="Shape 38"/>
          <p:cNvSpPr/>
          <p:nvPr/>
        </p:nvSpPr>
        <p:spPr>
          <a:xfrm>
            <a:off x="3922776" y="3127248"/>
            <a:ext cx="1389888" cy="914400"/>
          </a:xfrm>
          <a:prstGeom prst="roundRect">
            <a:avLst>
              <a:gd name="adj" fmla="val 8000"/>
            </a:avLst>
          </a:prstGeom>
          <a:solidFill>
            <a:srgbClr val="FEF3C7"/>
          </a:solidFill>
          <a:ln w="12700">
            <a:solidFill>
              <a:srgbClr val="888888"/>
            </a:solidFill>
            <a:prstDash val="solid"/>
          </a:ln>
        </p:spPr>
      </p:sp>
      <p:sp>
        <p:nvSpPr>
          <p:cNvPr id="41" name="Text 39"/>
          <p:cNvSpPr/>
          <p:nvPr/>
        </p:nvSpPr>
        <p:spPr>
          <a:xfrm>
            <a:off x="3922776" y="3218688"/>
            <a:ext cx="1389888" cy="502920"/>
          </a:xfrm>
          <a:prstGeom prst="rect">
            <a:avLst/>
          </a:prstGeom>
          <a:noFill/>
          <a:ln/>
        </p:spPr>
        <p:txBody>
          <a:bodyPr wrap="square" lIns="0" tIns="0" rIns="0" bIns="0" rtlCol="0" anchor="ctr"/>
          <a:lstStyle/>
          <a:p>
            <a:pPr algn="ctr" indent="0" marL="0">
              <a:buNone/>
            </a:pPr>
            <a:r>
              <a:rPr lang="en-US" sz="1000" b="1" dirty="0">
                <a:solidFill>
                  <a:srgbClr val="92400E"/>
                </a:solidFill>
                <a:latin typeface="Meiryo" pitchFamily="34" charset="0"/>
                <a:ea typeface="Meiryo" pitchFamily="34" charset="-122"/>
                <a:cs typeface="Meiryo" pitchFamily="34" charset="-120"/>
              </a:rPr>
              <a:t>事務局審査</a:t>
            </a:r>
            <a:endParaRPr lang="en-US" sz="1000" dirty="0"/>
          </a:p>
        </p:txBody>
      </p:sp>
      <p:sp>
        <p:nvSpPr>
          <p:cNvPr id="42" name="Text 40"/>
          <p:cNvSpPr/>
          <p:nvPr/>
        </p:nvSpPr>
        <p:spPr>
          <a:xfrm>
            <a:off x="3922776" y="3749040"/>
            <a:ext cx="1389888" cy="256032"/>
          </a:xfrm>
          <a:prstGeom prst="rect">
            <a:avLst/>
          </a:prstGeom>
          <a:noFill/>
          <a:ln/>
        </p:spPr>
        <p:txBody>
          <a:bodyPr wrap="square" lIns="0" tIns="0" rIns="0" bIns="0" rtlCol="0" anchor="ctr"/>
          <a:lstStyle/>
          <a:p>
            <a:pPr algn="ctr" indent="0" marL="0">
              <a:buNone/>
            </a:pPr>
            <a:r>
              <a:rPr lang="en-US" sz="750" dirty="0">
                <a:solidFill>
                  <a:srgbClr val="92400E"/>
                </a:solidFill>
                <a:latin typeface="Meiryo" pitchFamily="34" charset="0"/>
                <a:ea typeface="Meiryo" pitchFamily="34" charset="-122"/>
                <a:cs typeface="Meiryo" pitchFamily="34" charset="-120"/>
              </a:rPr>
              <a:t>B-04 設定のみ</a:t>
            </a:r>
            <a:endParaRPr lang="en-US" sz="750" dirty="0"/>
          </a:p>
        </p:txBody>
      </p:sp>
      <p:sp>
        <p:nvSpPr>
          <p:cNvPr id="43" name="Shape 41"/>
          <p:cNvSpPr/>
          <p:nvPr/>
        </p:nvSpPr>
        <p:spPr>
          <a:xfrm>
            <a:off x="5340096" y="3584448"/>
            <a:ext cx="379476" cy="0"/>
          </a:xfrm>
          <a:prstGeom prst="line">
            <a:avLst/>
          </a:prstGeom>
          <a:noFill/>
          <a:ln w="15240">
            <a:solidFill>
              <a:srgbClr val="AAAAAA"/>
            </a:solidFill>
            <a:prstDash val="solid"/>
            <a:tailEnd type="open"/>
          </a:ln>
        </p:spPr>
      </p:sp>
      <p:sp>
        <p:nvSpPr>
          <p:cNvPr id="44" name="Shape 42"/>
          <p:cNvSpPr/>
          <p:nvPr/>
        </p:nvSpPr>
        <p:spPr>
          <a:xfrm>
            <a:off x="5747004" y="3127248"/>
            <a:ext cx="1389888" cy="914400"/>
          </a:xfrm>
          <a:prstGeom prst="roundRect">
            <a:avLst>
              <a:gd name="adj" fmla="val 8000"/>
            </a:avLst>
          </a:prstGeom>
          <a:solidFill>
            <a:srgbClr val="FEE2E2"/>
          </a:solidFill>
          <a:ln w="12700">
            <a:solidFill>
              <a:srgbClr val="888888"/>
            </a:solidFill>
            <a:prstDash val="solid"/>
          </a:ln>
        </p:spPr>
      </p:sp>
      <p:sp>
        <p:nvSpPr>
          <p:cNvPr id="45" name="Text 43"/>
          <p:cNvSpPr/>
          <p:nvPr/>
        </p:nvSpPr>
        <p:spPr>
          <a:xfrm>
            <a:off x="5747004" y="3218688"/>
            <a:ext cx="1389888" cy="502920"/>
          </a:xfrm>
          <a:prstGeom prst="rect">
            <a:avLst/>
          </a:prstGeom>
          <a:noFill/>
          <a:ln/>
        </p:spPr>
        <p:txBody>
          <a:bodyPr wrap="square" lIns="0" tIns="0" rIns="0" bIns="0" rtlCol="0" anchor="ctr"/>
          <a:lstStyle/>
          <a:p>
            <a:pPr algn="ctr" indent="0" marL="0">
              <a:buNone/>
            </a:pPr>
            <a:r>
              <a:rPr lang="en-US" sz="1000" b="1" dirty="0">
                <a:solidFill>
                  <a:srgbClr val="991B1B"/>
                </a:solidFill>
                <a:latin typeface="Meiryo" pitchFamily="34" charset="0"/>
                <a:ea typeface="Meiryo" pitchFamily="34" charset="-122"/>
                <a:cs typeface="Meiryo" pitchFamily="34" charset="-120"/>
              </a:rPr>
              <a:t>承認→ Card連携</a:t>
            </a:r>
            <a:endParaRPr lang="en-US" sz="1000" dirty="0"/>
          </a:p>
        </p:txBody>
      </p:sp>
      <p:sp>
        <p:nvSpPr>
          <p:cNvPr id="46" name="Text 44"/>
          <p:cNvSpPr/>
          <p:nvPr/>
        </p:nvSpPr>
        <p:spPr>
          <a:xfrm>
            <a:off x="5747004" y="3749040"/>
            <a:ext cx="1389888" cy="256032"/>
          </a:xfrm>
          <a:prstGeom prst="rect">
            <a:avLst/>
          </a:prstGeom>
          <a:noFill/>
          <a:ln/>
        </p:spPr>
        <p:txBody>
          <a:bodyPr wrap="square" lIns="0" tIns="0" rIns="0" bIns="0" rtlCol="0" anchor="ctr"/>
          <a:lstStyle/>
          <a:p>
            <a:pPr algn="ctr" indent="0" marL="0">
              <a:buNone/>
            </a:pPr>
            <a:r>
              <a:rPr lang="en-US" sz="750" dirty="0">
                <a:solidFill>
                  <a:srgbClr val="991B1B"/>
                </a:solidFill>
                <a:latin typeface="Meiryo" pitchFamily="34" charset="0"/>
                <a:ea typeface="Meiryo" pitchFamily="34" charset="-122"/>
                <a:cs typeface="Meiryo" pitchFamily="34" charset="-120"/>
              </a:rPr>
              <a:t>B-02 Webhook</a:t>
            </a:r>
            <a:endParaRPr lang="en-US" sz="750" dirty="0"/>
          </a:p>
        </p:txBody>
      </p:sp>
      <p:sp>
        <p:nvSpPr>
          <p:cNvPr id="47" name="Shape 45"/>
          <p:cNvSpPr/>
          <p:nvPr/>
        </p:nvSpPr>
        <p:spPr>
          <a:xfrm>
            <a:off x="7164324" y="3584448"/>
            <a:ext cx="379476" cy="0"/>
          </a:xfrm>
          <a:prstGeom prst="line">
            <a:avLst/>
          </a:prstGeom>
          <a:noFill/>
          <a:ln w="15240">
            <a:solidFill>
              <a:srgbClr val="AAAAAA"/>
            </a:solidFill>
            <a:prstDash val="solid"/>
            <a:tailEnd type="open"/>
          </a:ln>
        </p:spPr>
      </p:sp>
      <p:sp>
        <p:nvSpPr>
          <p:cNvPr id="48" name="Shape 46"/>
          <p:cNvSpPr/>
          <p:nvPr/>
        </p:nvSpPr>
        <p:spPr>
          <a:xfrm>
            <a:off x="7571232" y="3127248"/>
            <a:ext cx="1389888" cy="914400"/>
          </a:xfrm>
          <a:prstGeom prst="roundRect">
            <a:avLst>
              <a:gd name="adj" fmla="val 8000"/>
            </a:avLst>
          </a:prstGeom>
          <a:solidFill>
            <a:srgbClr val="4CAF50"/>
          </a:solidFill>
          <a:ln w="12700">
            <a:solidFill>
              <a:srgbClr val="888888"/>
            </a:solidFill>
            <a:prstDash val="solid"/>
          </a:ln>
        </p:spPr>
      </p:sp>
      <p:sp>
        <p:nvSpPr>
          <p:cNvPr id="49" name="Text 47"/>
          <p:cNvSpPr/>
          <p:nvPr/>
        </p:nvSpPr>
        <p:spPr>
          <a:xfrm>
            <a:off x="7571232" y="3218688"/>
            <a:ext cx="1389888"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1pt付与</a:t>
            </a:r>
            <a:endParaRPr lang="en-US" sz="1000" dirty="0"/>
          </a:p>
        </p:txBody>
      </p:sp>
      <p:sp>
        <p:nvSpPr>
          <p:cNvPr id="50" name="Text 48"/>
          <p:cNvSpPr/>
          <p:nvPr/>
        </p:nvSpPr>
        <p:spPr>
          <a:xfrm>
            <a:off x="7571232" y="3749040"/>
            <a:ext cx="1389888" cy="256032"/>
          </a:xfrm>
          <a:prstGeom prst="rect">
            <a:avLst/>
          </a:prstGeom>
          <a:noFill/>
          <a:ln/>
        </p:spPr>
        <p:txBody>
          <a:bodyPr wrap="square" lIns="0" tIns="0" rIns="0" bIns="0" rtlCol="0" anchor="ctr"/>
          <a:lstStyle/>
          <a:p>
            <a:pPr algn="ctr" indent="0" marL="0">
              <a:buNone/>
            </a:pPr>
            <a:r>
              <a:rPr lang="en-US" sz="750" dirty="0">
                <a:solidFill>
                  <a:srgbClr val="FFFFFF"/>
                </a:solidFill>
                <a:latin typeface="Meiryo" pitchFamily="34" charset="0"/>
                <a:ea typeface="Meiryo" pitchFamily="34" charset="-122"/>
                <a:cs typeface="Meiryo" pitchFamily="34" charset="-120"/>
              </a:rPr>
              <a:t>2〜3営業日</a:t>
            </a:r>
            <a:endParaRPr lang="en-US" sz="750" dirty="0"/>
          </a:p>
        </p:txBody>
      </p:sp>
      <p:sp>
        <p:nvSpPr>
          <p:cNvPr id="51" name="Shape 49"/>
          <p:cNvSpPr/>
          <p:nvPr/>
        </p:nvSpPr>
        <p:spPr>
          <a:xfrm>
            <a:off x="9052560" y="2834640"/>
            <a:ext cx="2743200" cy="1371600"/>
          </a:xfrm>
          <a:prstGeom prst="rect">
            <a:avLst/>
          </a:prstGeom>
          <a:solidFill>
            <a:srgbClr val="F0FFF4"/>
          </a:solidFill>
          <a:ln w="19050">
            <a:solidFill>
              <a:srgbClr val="4CAF50"/>
            </a:solidFill>
            <a:prstDash val="solid"/>
          </a:ln>
        </p:spPr>
      </p:sp>
      <p:sp>
        <p:nvSpPr>
          <p:cNvPr id="52" name="Text 50"/>
          <p:cNvSpPr/>
          <p:nvPr/>
        </p:nvSpPr>
        <p:spPr>
          <a:xfrm>
            <a:off x="9052560" y="2907792"/>
            <a:ext cx="2743200" cy="347472"/>
          </a:xfrm>
          <a:prstGeom prst="rect">
            <a:avLst/>
          </a:prstGeom>
          <a:noFill/>
          <a:ln/>
        </p:spPr>
        <p:txBody>
          <a:bodyPr wrap="square" lIns="0" tIns="0" rIns="0" bIns="0" rtlCol="0" anchor="ctr"/>
          <a:lstStyle/>
          <a:p>
            <a:pPr algn="ctr" indent="0" marL="0">
              <a:buNone/>
            </a:pPr>
            <a:r>
              <a:rPr lang="en-US" sz="1000" b="1" dirty="0">
                <a:solidFill>
                  <a:srgbClr val="2E7D32"/>
                </a:solidFill>
                <a:latin typeface="Meiryo" pitchFamily="34" charset="0"/>
                <a:ea typeface="Meiryo" pitchFamily="34" charset="-122"/>
                <a:cs typeface="Meiryo" pitchFamily="34" charset="-120"/>
              </a:rPr>
              <a:t>マイページ ポイント統合</a:t>
            </a:r>
            <a:endParaRPr lang="en-US" sz="1000" dirty="0"/>
          </a:p>
        </p:txBody>
      </p:sp>
      <p:sp>
        <p:nvSpPr>
          <p:cNvPr id="53" name="Text 51"/>
          <p:cNvSpPr/>
          <p:nvPr/>
        </p:nvSpPr>
        <p:spPr>
          <a:xfrm>
            <a:off x="9189720" y="3310128"/>
            <a:ext cx="2468880" cy="256032"/>
          </a:xfrm>
          <a:prstGeom prst="rect">
            <a:avLst/>
          </a:prstGeom>
          <a:noFill/>
          <a:ln/>
        </p:spPr>
        <p:txBody>
          <a:bodyPr wrap="square" lIns="0" tIns="0" rIns="0" bIns="0" rtlCol="0" anchor="ctr"/>
          <a:lstStyle/>
          <a:p>
            <a:pPr indent="0" marL="0">
              <a:buNone/>
            </a:pPr>
            <a:r>
              <a:rPr lang="en-US" sz="950" dirty="0">
                <a:solidFill>
                  <a:srgbClr val="444444"/>
                </a:solidFill>
                <a:latin typeface="Meiryo" pitchFamily="34" charset="0"/>
                <a:ea typeface="Meiryo" pitchFamily="34" charset="-122"/>
                <a:cs typeface="Meiryo" pitchFamily="34" charset="-120"/>
              </a:rPr>
              <a:t>• GPS乗車分：即時</a:t>
            </a:r>
            <a:endParaRPr lang="en-US" sz="950" dirty="0"/>
          </a:p>
        </p:txBody>
      </p:sp>
      <p:sp>
        <p:nvSpPr>
          <p:cNvPr id="54" name="Text 52"/>
          <p:cNvSpPr/>
          <p:nvPr/>
        </p:nvSpPr>
        <p:spPr>
          <a:xfrm>
            <a:off x="9189720" y="3584448"/>
            <a:ext cx="2468880" cy="256032"/>
          </a:xfrm>
          <a:prstGeom prst="rect">
            <a:avLst/>
          </a:prstGeom>
          <a:noFill/>
          <a:ln/>
        </p:spPr>
        <p:txBody>
          <a:bodyPr wrap="square" lIns="0" tIns="0" rIns="0" bIns="0" rtlCol="0" anchor="ctr"/>
          <a:lstStyle/>
          <a:p>
            <a:pPr indent="0" marL="0">
              <a:buNone/>
            </a:pPr>
            <a:r>
              <a:rPr lang="en-US" sz="950" dirty="0">
                <a:solidFill>
                  <a:srgbClr val="444444"/>
                </a:solidFill>
                <a:latin typeface="Meiryo" pitchFamily="34" charset="0"/>
                <a:ea typeface="Meiryo" pitchFamily="34" charset="-122"/>
                <a:cs typeface="Meiryo" pitchFamily="34" charset="-120"/>
              </a:rPr>
              <a:t>• タクシー承認済：+1pt</a:t>
            </a:r>
            <a:endParaRPr lang="en-US" sz="950" dirty="0"/>
          </a:p>
        </p:txBody>
      </p:sp>
      <p:sp>
        <p:nvSpPr>
          <p:cNvPr id="55" name="Text 53"/>
          <p:cNvSpPr/>
          <p:nvPr/>
        </p:nvSpPr>
        <p:spPr>
          <a:xfrm>
            <a:off x="9189720" y="3858768"/>
            <a:ext cx="2468880" cy="256032"/>
          </a:xfrm>
          <a:prstGeom prst="rect">
            <a:avLst/>
          </a:prstGeom>
          <a:noFill/>
          <a:ln/>
        </p:spPr>
        <p:txBody>
          <a:bodyPr wrap="square" lIns="0" tIns="0" rIns="0" bIns="0" rtlCol="0" anchor="ctr"/>
          <a:lstStyle/>
          <a:p>
            <a:pPr indent="0" marL="0">
              <a:buNone/>
            </a:pPr>
            <a:r>
              <a:rPr lang="en-US" sz="950" dirty="0">
                <a:solidFill>
                  <a:srgbClr val="444444"/>
                </a:solidFill>
                <a:latin typeface="Meiryo" pitchFamily="34" charset="0"/>
                <a:ea typeface="Meiryo" pitchFamily="34" charset="-122"/>
                <a:cs typeface="Meiryo" pitchFamily="34" charset="-120"/>
              </a:rPr>
              <a:t>• 審査中：+Npt予定</a:t>
            </a:r>
            <a:endParaRPr lang="en-US" sz="950" dirty="0"/>
          </a:p>
        </p:txBody>
      </p:sp>
      <p:sp>
        <p:nvSpPr>
          <p:cNvPr id="56" name="Text 54"/>
          <p:cNvSpPr/>
          <p:nvPr/>
        </p:nvSpPr>
        <p:spPr>
          <a:xfrm>
            <a:off x="274320" y="4572000"/>
            <a:ext cx="914400" cy="256032"/>
          </a:xfrm>
          <a:prstGeom prst="rect">
            <a:avLst/>
          </a:prstGeom>
          <a:noFill/>
          <a:ln/>
        </p:spPr>
        <p:txBody>
          <a:bodyPr wrap="square" lIns="0" tIns="0" rIns="0" bIns="0" rtlCol="0" anchor="ctr"/>
          <a:lstStyle/>
          <a:p>
            <a:pPr indent="0" marL="0">
              <a:buNone/>
            </a:pPr>
            <a:r>
              <a:rPr lang="en-US" sz="900" b="1" dirty="0">
                <a:solidFill>
                  <a:srgbClr val="888888"/>
                </a:solidFill>
                <a:latin typeface="Meiryo" pitchFamily="34" charset="0"/>
                <a:ea typeface="Meiryo" pitchFamily="34" charset="-122"/>
                <a:cs typeface="Meiryo" pitchFamily="34" charset="-120"/>
              </a:rPr>
              <a:t>凡例</a:t>
            </a:r>
            <a:endParaRPr lang="en-US" sz="900" dirty="0"/>
          </a:p>
        </p:txBody>
      </p:sp>
      <p:sp>
        <p:nvSpPr>
          <p:cNvPr id="57" name="Shape 55"/>
          <p:cNvSpPr/>
          <p:nvPr/>
        </p:nvSpPr>
        <p:spPr>
          <a:xfrm>
            <a:off x="274320" y="4846320"/>
            <a:ext cx="164592" cy="164592"/>
          </a:xfrm>
          <a:prstGeom prst="rect">
            <a:avLst/>
          </a:prstGeom>
          <a:solidFill>
            <a:srgbClr val="DCFCE7"/>
          </a:solidFill>
          <a:ln w="6350">
            <a:solidFill>
              <a:srgbClr val="166534"/>
            </a:solidFill>
            <a:prstDash val="solid"/>
          </a:ln>
        </p:spPr>
      </p:sp>
      <p:sp>
        <p:nvSpPr>
          <p:cNvPr id="58" name="Text 56"/>
          <p:cNvSpPr/>
          <p:nvPr/>
        </p:nvSpPr>
        <p:spPr>
          <a:xfrm>
            <a:off x="493776" y="4828032"/>
            <a:ext cx="1645920" cy="201168"/>
          </a:xfrm>
          <a:prstGeom prst="rect">
            <a:avLst/>
          </a:prstGeom>
          <a:noFill/>
          <a:ln/>
        </p:spPr>
        <p:txBody>
          <a:bodyPr wrap="square" lIns="0" tIns="0" rIns="0" bIns="0" rtlCol="0" anchor="ctr"/>
          <a:lstStyle/>
          <a:p>
            <a:pPr indent="0" marL="0">
              <a:buNone/>
            </a:pPr>
            <a:r>
              <a:rPr lang="en-US" sz="900" dirty="0">
                <a:solidFill>
                  <a:srgbClr val="666666"/>
                </a:solidFill>
                <a:latin typeface="Meiryo" pitchFamily="34" charset="0"/>
                <a:ea typeface="Meiryo" pitchFamily="34" charset="-122"/>
                <a:cs typeface="Meiryo" pitchFamily="34" charset="-120"/>
              </a:rPr>
              <a:t>標準機能</a:t>
            </a:r>
            <a:endParaRPr lang="en-US" sz="900" dirty="0"/>
          </a:p>
        </p:txBody>
      </p:sp>
      <p:sp>
        <p:nvSpPr>
          <p:cNvPr id="59" name="Shape 57"/>
          <p:cNvSpPr/>
          <p:nvPr/>
        </p:nvSpPr>
        <p:spPr>
          <a:xfrm>
            <a:off x="2286000" y="4846320"/>
            <a:ext cx="164592" cy="164592"/>
          </a:xfrm>
          <a:prstGeom prst="rect">
            <a:avLst/>
          </a:prstGeom>
          <a:solidFill>
            <a:srgbClr val="FEE2E2"/>
          </a:solidFill>
          <a:ln w="6350">
            <a:solidFill>
              <a:srgbClr val="991B1B"/>
            </a:solidFill>
            <a:prstDash val="solid"/>
          </a:ln>
        </p:spPr>
      </p:sp>
      <p:sp>
        <p:nvSpPr>
          <p:cNvPr id="60" name="Text 58"/>
          <p:cNvSpPr/>
          <p:nvPr/>
        </p:nvSpPr>
        <p:spPr>
          <a:xfrm>
            <a:off x="2505456" y="4828032"/>
            <a:ext cx="1645920" cy="201168"/>
          </a:xfrm>
          <a:prstGeom prst="rect">
            <a:avLst/>
          </a:prstGeom>
          <a:noFill/>
          <a:ln/>
        </p:spPr>
        <p:txBody>
          <a:bodyPr wrap="square" lIns="0" tIns="0" rIns="0" bIns="0" rtlCol="0" anchor="ctr"/>
          <a:lstStyle/>
          <a:p>
            <a:pPr indent="0" marL="0">
              <a:buNone/>
            </a:pPr>
            <a:r>
              <a:rPr lang="en-US" sz="900" dirty="0">
                <a:solidFill>
                  <a:srgbClr val="666666"/>
                </a:solidFill>
                <a:latin typeface="Meiryo" pitchFamily="34" charset="0"/>
                <a:ea typeface="Meiryo" pitchFamily="34" charset="-122"/>
                <a:cs typeface="Meiryo" pitchFamily="34" charset="-120"/>
              </a:rPr>
              <a:t>カスタム拡張</a:t>
            </a:r>
            <a:endParaRPr lang="en-US" sz="900" dirty="0"/>
          </a:p>
        </p:txBody>
      </p:sp>
      <p:sp>
        <p:nvSpPr>
          <p:cNvPr id="61" name="Shape 59"/>
          <p:cNvSpPr/>
          <p:nvPr/>
        </p:nvSpPr>
        <p:spPr>
          <a:xfrm>
            <a:off x="4297680" y="4846320"/>
            <a:ext cx="164592" cy="164592"/>
          </a:xfrm>
          <a:prstGeom prst="rect">
            <a:avLst/>
          </a:prstGeom>
          <a:solidFill>
            <a:srgbClr val="DBEAFE"/>
          </a:solidFill>
          <a:ln w="6350">
            <a:solidFill>
              <a:srgbClr val="1E40AF"/>
            </a:solidFill>
            <a:prstDash val="solid"/>
          </a:ln>
        </p:spPr>
      </p:sp>
      <p:sp>
        <p:nvSpPr>
          <p:cNvPr id="62" name="Text 60"/>
          <p:cNvSpPr/>
          <p:nvPr/>
        </p:nvSpPr>
        <p:spPr>
          <a:xfrm>
            <a:off x="4517136" y="4828032"/>
            <a:ext cx="1645920" cy="201168"/>
          </a:xfrm>
          <a:prstGeom prst="rect">
            <a:avLst/>
          </a:prstGeom>
          <a:noFill/>
          <a:ln/>
        </p:spPr>
        <p:txBody>
          <a:bodyPr wrap="square" lIns="0" tIns="0" rIns="0" bIns="0" rtlCol="0" anchor="ctr"/>
          <a:lstStyle/>
          <a:p>
            <a:pPr indent="0" marL="0">
              <a:buNone/>
            </a:pPr>
            <a:r>
              <a:rPr lang="en-US" sz="900" dirty="0">
                <a:solidFill>
                  <a:srgbClr val="666666"/>
                </a:solidFill>
                <a:latin typeface="Meiryo" pitchFamily="34" charset="0"/>
                <a:ea typeface="Meiryo" pitchFamily="34" charset="-122"/>
                <a:cs typeface="Meiryo" pitchFamily="34" charset="-120"/>
              </a:rPr>
              <a:t>SmartRecieco</a:t>
            </a:r>
            <a:endParaRPr lang="en-US" sz="900" dirty="0"/>
          </a:p>
        </p:txBody>
      </p:sp>
      <p:sp>
        <p:nvSpPr>
          <p:cNvPr id="63" name="Shape 61"/>
          <p:cNvSpPr/>
          <p:nvPr/>
        </p:nvSpPr>
        <p:spPr>
          <a:xfrm>
            <a:off x="6309360" y="4846320"/>
            <a:ext cx="164592" cy="164592"/>
          </a:xfrm>
          <a:prstGeom prst="rect">
            <a:avLst/>
          </a:prstGeom>
          <a:solidFill>
            <a:srgbClr val="FEF3C7"/>
          </a:solidFill>
          <a:ln w="6350">
            <a:solidFill>
              <a:srgbClr val="92400E"/>
            </a:solidFill>
            <a:prstDash val="solid"/>
          </a:ln>
        </p:spPr>
      </p:sp>
      <p:sp>
        <p:nvSpPr>
          <p:cNvPr id="64" name="Text 62"/>
          <p:cNvSpPr/>
          <p:nvPr/>
        </p:nvSpPr>
        <p:spPr>
          <a:xfrm>
            <a:off x="6528816" y="4828032"/>
            <a:ext cx="1645920" cy="201168"/>
          </a:xfrm>
          <a:prstGeom prst="rect">
            <a:avLst/>
          </a:prstGeom>
          <a:noFill/>
          <a:ln/>
        </p:spPr>
        <p:txBody>
          <a:bodyPr wrap="square" lIns="0" tIns="0" rIns="0" bIns="0" rtlCol="0" anchor="ctr"/>
          <a:lstStyle/>
          <a:p>
            <a:pPr indent="0" marL="0">
              <a:buNone/>
            </a:pPr>
            <a:r>
              <a:rPr lang="en-US" sz="900" dirty="0">
                <a:solidFill>
                  <a:srgbClr val="666666"/>
                </a:solidFill>
                <a:latin typeface="Meiryo" pitchFamily="34" charset="0"/>
                <a:ea typeface="Meiryo" pitchFamily="34" charset="-122"/>
                <a:cs typeface="Meiryo" pitchFamily="34" charset="-120"/>
              </a:rPr>
              <a:t>設定のみ</a:t>
            </a:r>
            <a:endParaRPr lang="en-US" sz="900" dirty="0"/>
          </a:p>
        </p:txBody>
      </p:sp>
      <p:sp>
        <p:nvSpPr>
          <p:cNvPr id="65" name="Text 63"/>
          <p:cNvSpPr/>
          <p:nvPr/>
        </p:nvSpPr>
        <p:spPr>
          <a:xfrm>
            <a:off x="11365992" y="6565392"/>
            <a:ext cx="731520" cy="256032"/>
          </a:xfrm>
          <a:prstGeom prst="rect">
            <a:avLst/>
          </a:prstGeom>
          <a:noFill/>
          <a:ln/>
        </p:spPr>
        <p:txBody>
          <a:bodyPr wrap="square" lIns="0" tIns="0" rIns="0" bIns="0" rtlCol="0" anchor="ctr"/>
          <a:lstStyle/>
          <a:p>
            <a:pPr algn="r" indent="0" marL="0">
              <a:buNone/>
            </a:pPr>
            <a:r>
              <a:rPr lang="en-US" sz="900" dirty="0">
                <a:solidFill>
                  <a:srgbClr val="AAAAAA"/>
                </a:solidFill>
                <a:latin typeface="Meiryo" pitchFamily="34" charset="0"/>
                <a:ea typeface="Meiryo" pitchFamily="34" charset="-122"/>
                <a:cs typeface="Meiryo" pitchFamily="34" charset="-120"/>
              </a:rPr>
              <a:t>6 / 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2D2D2D"/>
          </a:solidFill>
          <a:ln/>
        </p:spPr>
      </p:sp>
      <p:sp>
        <p:nvSpPr>
          <p:cNvPr id="3" name="Shape 1"/>
          <p:cNvSpPr/>
          <p:nvPr/>
        </p:nvSpPr>
        <p:spPr>
          <a:xfrm>
            <a:off x="0" y="0"/>
            <a:ext cx="164592" cy="914400"/>
          </a:xfrm>
          <a:prstGeom prst="rect">
            <a:avLst/>
          </a:prstGeom>
          <a:solidFill>
            <a:srgbClr val="E87722"/>
          </a:solidFill>
          <a:ln/>
        </p:spPr>
      </p:sp>
      <p:sp>
        <p:nvSpPr>
          <p:cNvPr id="4" name="Text 2"/>
          <p:cNvSpPr/>
          <p:nvPr/>
        </p:nvSpPr>
        <p:spPr>
          <a:xfrm>
            <a:off x="347472" y="91440"/>
            <a:ext cx="10058400" cy="50292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画面フロー ①</a:t>
            </a:r>
            <a:endParaRPr lang="en-US" sz="2200" dirty="0"/>
          </a:p>
        </p:txBody>
      </p:sp>
      <p:sp>
        <p:nvSpPr>
          <p:cNvPr id="5" name="Text 3"/>
          <p:cNvSpPr/>
          <p:nvPr/>
        </p:nvSpPr>
        <p:spPr>
          <a:xfrm>
            <a:off x="347472" y="576072"/>
            <a:ext cx="10058400" cy="274320"/>
          </a:xfrm>
          <a:prstGeom prst="rect">
            <a:avLst/>
          </a:prstGeom>
          <a:noFill/>
          <a:ln/>
        </p:spPr>
        <p:txBody>
          <a:bodyPr wrap="square" lIns="0" tIns="0" rIns="0" bIns="0" rtlCol="0" anchor="ctr"/>
          <a:lstStyle/>
          <a:p>
            <a:pPr indent="0" marL="0">
              <a:buNone/>
            </a:pPr>
            <a:r>
              <a:rPr lang="en-US" sz="1000" dirty="0">
                <a:solidFill>
                  <a:srgbClr val="BBBBBB"/>
                </a:solidFill>
                <a:latin typeface="Meiryo" pitchFamily="34" charset="0"/>
                <a:ea typeface="Meiryo" pitchFamily="34" charset="-122"/>
                <a:cs typeface="Meiryo" pitchFamily="34" charset="-120"/>
              </a:rPr>
              <a:t>LINEログイン〜GPS乗車・降車</a:t>
            </a:r>
            <a:endParaRPr lang="en-US" sz="1000" dirty="0"/>
          </a:p>
        </p:txBody>
      </p:sp>
      <p:sp>
        <p:nvSpPr>
          <p:cNvPr id="6" name="Text 4"/>
          <p:cNvSpPr/>
          <p:nvPr/>
        </p:nvSpPr>
        <p:spPr>
          <a:xfrm>
            <a:off x="10177272" y="109728"/>
            <a:ext cx="192024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Meiryo" pitchFamily="34" charset="0"/>
                <a:ea typeface="Meiryo" pitchFamily="34" charset="-122"/>
                <a:cs typeface="Meiryo" pitchFamily="34" charset="-120"/>
              </a:rPr>
              <a:t>P7 画面フロー</a:t>
            </a:r>
            <a:endParaRPr lang="en-US" sz="900" dirty="0"/>
          </a:p>
        </p:txBody>
      </p:sp>
      <p:sp>
        <p:nvSpPr>
          <p:cNvPr id="7" name="Text 5"/>
          <p:cNvSpPr/>
          <p:nvPr/>
        </p:nvSpPr>
        <p:spPr>
          <a:xfrm>
            <a:off x="182880" y="1005840"/>
            <a:ext cx="1812798" cy="320040"/>
          </a:xfrm>
          <a:prstGeom prst="rect">
            <a:avLst/>
          </a:prstGeom>
          <a:noFill/>
          <a:ln/>
        </p:spPr>
        <p:txBody>
          <a:bodyPr wrap="square" lIns="0" tIns="0" rIns="0" bIns="0" rtlCol="0" anchor="ctr"/>
          <a:lstStyle/>
          <a:p>
            <a:pPr indent="0" marL="0">
              <a:buNone/>
            </a:pPr>
            <a:r>
              <a:rPr lang="en-US" sz="950" b="1" dirty="0">
                <a:solidFill>
                  <a:srgbClr val="2D2D2D"/>
                </a:solidFill>
                <a:latin typeface="Meiryo" pitchFamily="34" charset="0"/>
                <a:ea typeface="Meiryo" pitchFamily="34" charset="-122"/>
                <a:cs typeface="Meiryo" pitchFamily="34" charset="-120"/>
              </a:rPr>
              <a:t>① LINEログイン</a:t>
            </a:r>
            <a:endParaRPr lang="en-US" sz="950" dirty="0"/>
          </a:p>
        </p:txBody>
      </p:sp>
      <p:sp>
        <p:nvSpPr>
          <p:cNvPr id="8" name="Text 6"/>
          <p:cNvSpPr/>
          <p:nvPr/>
        </p:nvSpPr>
        <p:spPr>
          <a:xfrm>
            <a:off x="2041398" y="1042416"/>
            <a:ext cx="868680" cy="201168"/>
          </a:xfrm>
          <a:prstGeom prst="rect">
            <a:avLst/>
          </a:prstGeom>
          <a:solidFill>
            <a:srgbClr val="DCFCE7"/>
          </a:solidFill>
          <a:ln w="6350">
            <a:solidFill>
              <a:srgbClr val="166534"/>
            </a:solidFill>
          </a:ln>
        </p:spPr>
        <p:txBody>
          <a:bodyPr wrap="square" lIns="12700" tIns="12700" rIns="12700" bIns="12700" rtlCol="0" anchor="ctr"/>
          <a:lstStyle/>
          <a:p>
            <a:pPr algn="ctr" indent="0" marL="0">
              <a:buNone/>
            </a:pPr>
            <a:r>
              <a:rPr lang="en-US" sz="700" b="1" dirty="0">
                <a:solidFill>
                  <a:srgbClr val="166534"/>
                </a:solidFill>
                <a:latin typeface="Meiryo" pitchFamily="34" charset="0"/>
                <a:ea typeface="Meiryo" pitchFamily="34" charset="-122"/>
                <a:cs typeface="Meiryo" pitchFamily="34" charset="-120"/>
              </a:rPr>
              <a:t>標準(OP)</a:t>
            </a:r>
            <a:endParaRPr lang="en-US" sz="700" dirty="0"/>
          </a:p>
        </p:txBody>
      </p:sp>
      <p:pic>
        <p:nvPicPr>
          <p:cNvPr id="9" name="Image 0" descr="/home/claude/screens3/01_login_tall.png">    </p:cNvPr>
          <p:cNvPicPr>
            <a:picLocks noChangeAspect="1"/>
          </p:cNvPicPr>
          <p:nvPr/>
        </p:nvPicPr>
        <p:blipFill>
          <a:blip r:embed="rId1"/>
          <a:stretch>
            <a:fillRect/>
          </a:stretch>
        </p:blipFill>
        <p:spPr>
          <a:xfrm>
            <a:off x="529495" y="1389888"/>
            <a:ext cx="2079689" cy="3886200"/>
          </a:xfrm>
          <a:prstGeom prst="rect">
            <a:avLst/>
          </a:prstGeom>
        </p:spPr>
      </p:pic>
      <p:sp>
        <p:nvSpPr>
          <p:cNvPr id="10" name="Text 7"/>
          <p:cNvSpPr/>
          <p:nvPr/>
        </p:nvSpPr>
        <p:spPr>
          <a:xfrm>
            <a:off x="182880" y="5367528"/>
            <a:ext cx="2772918" cy="548640"/>
          </a:xfrm>
          <a:prstGeom prst="rect">
            <a:avLst/>
          </a:prstGeom>
          <a:noFill/>
          <a:ln/>
        </p:spPr>
        <p:txBody>
          <a:bodyPr wrap="square" lIns="0" tIns="0" rIns="0" bIns="0" rtlCol="0" anchor="ctr"/>
          <a:lstStyle/>
          <a:p>
            <a:pPr indent="0" marL="0">
              <a:buNone/>
            </a:pPr>
            <a:r>
              <a:rPr lang="en-US" sz="850" dirty="0">
                <a:solidFill>
                  <a:srgbClr val="555555"/>
                </a:solidFill>
                <a:latin typeface="Meiryo" pitchFamily="34" charset="0"/>
                <a:ea typeface="Meiryo" pitchFamily="34" charset="-122"/>
                <a:cs typeface="Meiryo" pitchFamily="34" charset="-120"/>
              </a:rPr>
              <a:t>▶ 標準UI / LINEログインオプション</a:t>
            </a:r>
            <a:endParaRPr lang="en-US" sz="850" dirty="0"/>
          </a:p>
        </p:txBody>
      </p:sp>
      <p:sp>
        <p:nvSpPr>
          <p:cNvPr id="11" name="Text 8"/>
          <p:cNvSpPr/>
          <p:nvPr/>
        </p:nvSpPr>
        <p:spPr>
          <a:xfrm>
            <a:off x="3138678" y="1005840"/>
            <a:ext cx="1812798" cy="320040"/>
          </a:xfrm>
          <a:prstGeom prst="rect">
            <a:avLst/>
          </a:prstGeom>
          <a:noFill/>
          <a:ln/>
        </p:spPr>
        <p:txBody>
          <a:bodyPr wrap="square" lIns="0" tIns="0" rIns="0" bIns="0" rtlCol="0" anchor="ctr"/>
          <a:lstStyle/>
          <a:p>
            <a:pPr indent="0" marL="0">
              <a:buNone/>
            </a:pPr>
            <a:r>
              <a:rPr lang="en-US" sz="950" b="1" dirty="0">
                <a:solidFill>
                  <a:srgbClr val="2D2D2D"/>
                </a:solidFill>
                <a:latin typeface="Meiryo" pitchFamily="34" charset="0"/>
                <a:ea typeface="Meiryo" pitchFamily="34" charset="-122"/>
                <a:cs typeface="Meiryo" pitchFamily="34" charset="-120"/>
              </a:rPr>
              <a:t>② マイページ TOP</a:t>
            </a:r>
            <a:endParaRPr lang="en-US" sz="950" dirty="0"/>
          </a:p>
        </p:txBody>
      </p:sp>
      <p:sp>
        <p:nvSpPr>
          <p:cNvPr id="12" name="Text 9"/>
          <p:cNvSpPr/>
          <p:nvPr/>
        </p:nvSpPr>
        <p:spPr>
          <a:xfrm>
            <a:off x="4997196" y="1042416"/>
            <a:ext cx="868680" cy="201168"/>
          </a:xfrm>
          <a:prstGeom prst="rect">
            <a:avLst/>
          </a:prstGeom>
          <a:solidFill>
            <a:srgbClr val="FEE2E2"/>
          </a:solidFill>
          <a:ln w="6350">
            <a:solidFill>
              <a:srgbClr val="991B1B"/>
            </a:solidFill>
          </a:ln>
        </p:spPr>
        <p:txBody>
          <a:bodyPr wrap="square" lIns="12700" tIns="12700" rIns="12700" bIns="12700" rtlCol="0" anchor="ctr"/>
          <a:lstStyle/>
          <a:p>
            <a:pPr algn="ctr" indent="0" marL="0">
              <a:buNone/>
            </a:pPr>
            <a:r>
              <a:rPr lang="en-US" sz="700" b="1" dirty="0">
                <a:solidFill>
                  <a:srgbClr val="991B1B"/>
                </a:solidFill>
                <a:latin typeface="Meiryo" pitchFamily="34" charset="0"/>
                <a:ea typeface="Meiryo" pitchFamily="34" charset="-122"/>
                <a:cs typeface="Meiryo" pitchFamily="34" charset="-120"/>
              </a:rPr>
              <a:t>F-01</a:t>
            </a:r>
            <a:endParaRPr lang="en-US" sz="700" dirty="0"/>
          </a:p>
        </p:txBody>
      </p:sp>
      <p:pic>
        <p:nvPicPr>
          <p:cNvPr id="13" name="Image 1" descr="/home/claude/screens3/02_mypage_tall.png">    </p:cNvPr>
          <p:cNvPicPr>
            <a:picLocks noChangeAspect="1"/>
          </p:cNvPicPr>
          <p:nvPr/>
        </p:nvPicPr>
        <p:blipFill>
          <a:blip r:embed="rId2"/>
          <a:stretch>
            <a:fillRect/>
          </a:stretch>
        </p:blipFill>
        <p:spPr>
          <a:xfrm>
            <a:off x="3485293" y="1389888"/>
            <a:ext cx="2079689" cy="3886200"/>
          </a:xfrm>
          <a:prstGeom prst="rect">
            <a:avLst/>
          </a:prstGeom>
        </p:spPr>
      </p:pic>
      <p:sp>
        <p:nvSpPr>
          <p:cNvPr id="14" name="Text 10"/>
          <p:cNvSpPr/>
          <p:nvPr/>
        </p:nvSpPr>
        <p:spPr>
          <a:xfrm>
            <a:off x="3138678" y="5367528"/>
            <a:ext cx="2772918" cy="548640"/>
          </a:xfrm>
          <a:prstGeom prst="rect">
            <a:avLst/>
          </a:prstGeom>
          <a:noFill/>
          <a:ln/>
        </p:spPr>
        <p:txBody>
          <a:bodyPr wrap="square" lIns="0" tIns="0" rIns="0" bIns="0" rtlCol="0" anchor="ctr"/>
          <a:lstStyle/>
          <a:p>
            <a:pPr indent="0" marL="0">
              <a:buNone/>
            </a:pPr>
            <a:r>
              <a:rPr lang="en-US" sz="850" dirty="0">
                <a:solidFill>
                  <a:srgbClr val="555555"/>
                </a:solidFill>
                <a:latin typeface="Meiryo" pitchFamily="34" charset="0"/>
                <a:ea typeface="Meiryo" pitchFamily="34" charset="-122"/>
                <a:cs typeface="Meiryo" pitchFamily="34" charset="-120"/>
              </a:rPr>
              <a:t>▶ 「乗車スタンプ」「タクシーレシート」2ボタンを追加</a:t>
            </a:r>
            <a:endParaRPr lang="en-US" sz="850" dirty="0"/>
          </a:p>
        </p:txBody>
      </p:sp>
      <p:sp>
        <p:nvSpPr>
          <p:cNvPr id="15" name="Text 11"/>
          <p:cNvSpPr/>
          <p:nvPr/>
        </p:nvSpPr>
        <p:spPr>
          <a:xfrm>
            <a:off x="6094476" y="1005840"/>
            <a:ext cx="1812798" cy="320040"/>
          </a:xfrm>
          <a:prstGeom prst="rect">
            <a:avLst/>
          </a:prstGeom>
          <a:noFill/>
          <a:ln/>
        </p:spPr>
        <p:txBody>
          <a:bodyPr wrap="square" lIns="0" tIns="0" rIns="0" bIns="0" rtlCol="0" anchor="ctr"/>
          <a:lstStyle/>
          <a:p>
            <a:pPr indent="0" marL="0">
              <a:buNone/>
            </a:pPr>
            <a:r>
              <a:rPr lang="en-US" sz="950" b="1" dirty="0">
                <a:solidFill>
                  <a:srgbClr val="2D2D2D"/>
                </a:solidFill>
                <a:latin typeface="Meiryo" pitchFamily="34" charset="0"/>
                <a:ea typeface="Meiryo" pitchFamily="34" charset="-122"/>
                <a:cs typeface="Meiryo" pitchFamily="34" charset="-120"/>
              </a:rPr>
              <a:t>③ GPS（乗車地）</a:t>
            </a:r>
            <a:endParaRPr lang="en-US" sz="950" dirty="0"/>
          </a:p>
        </p:txBody>
      </p:sp>
      <p:sp>
        <p:nvSpPr>
          <p:cNvPr id="16" name="Text 12"/>
          <p:cNvSpPr/>
          <p:nvPr/>
        </p:nvSpPr>
        <p:spPr>
          <a:xfrm>
            <a:off x="7952994" y="1042416"/>
            <a:ext cx="868680" cy="201168"/>
          </a:xfrm>
          <a:prstGeom prst="rect">
            <a:avLst/>
          </a:prstGeom>
          <a:solidFill>
            <a:srgbClr val="FEE2E2"/>
          </a:solidFill>
          <a:ln w="6350">
            <a:solidFill>
              <a:srgbClr val="991B1B"/>
            </a:solidFill>
          </a:ln>
        </p:spPr>
        <p:txBody>
          <a:bodyPr wrap="square" lIns="12700" tIns="12700" rIns="12700" bIns="12700" rtlCol="0" anchor="ctr"/>
          <a:lstStyle/>
          <a:p>
            <a:pPr algn="ctr" indent="0" marL="0">
              <a:buNone/>
            </a:pPr>
            <a:r>
              <a:rPr lang="en-US" sz="700" b="1" dirty="0">
                <a:solidFill>
                  <a:srgbClr val="991B1B"/>
                </a:solidFill>
                <a:latin typeface="Meiryo" pitchFamily="34" charset="0"/>
                <a:ea typeface="Meiryo" pitchFamily="34" charset="-122"/>
                <a:cs typeface="Meiryo" pitchFamily="34" charset="-120"/>
              </a:rPr>
              <a:t>F-02/B-01</a:t>
            </a:r>
            <a:endParaRPr lang="en-US" sz="700" dirty="0"/>
          </a:p>
        </p:txBody>
      </p:sp>
      <p:pic>
        <p:nvPicPr>
          <p:cNvPr id="17" name="Image 2" descr="/home/claude/screens3/03_gps_board_tall.png">    </p:cNvPr>
          <p:cNvPicPr>
            <a:picLocks noChangeAspect="1"/>
          </p:cNvPicPr>
          <p:nvPr/>
        </p:nvPicPr>
        <p:blipFill>
          <a:blip r:embed="rId3"/>
          <a:stretch>
            <a:fillRect/>
          </a:stretch>
        </p:blipFill>
        <p:spPr>
          <a:xfrm>
            <a:off x="6441091" y="1389888"/>
            <a:ext cx="2079689" cy="3886200"/>
          </a:xfrm>
          <a:prstGeom prst="rect">
            <a:avLst/>
          </a:prstGeom>
        </p:spPr>
      </p:pic>
      <p:sp>
        <p:nvSpPr>
          <p:cNvPr id="18" name="Text 13"/>
          <p:cNvSpPr/>
          <p:nvPr/>
        </p:nvSpPr>
        <p:spPr>
          <a:xfrm>
            <a:off x="6094476" y="5367528"/>
            <a:ext cx="2772918" cy="548640"/>
          </a:xfrm>
          <a:prstGeom prst="rect">
            <a:avLst/>
          </a:prstGeom>
          <a:noFill/>
          <a:ln/>
        </p:spPr>
        <p:txBody>
          <a:bodyPr wrap="square" lIns="0" tIns="0" rIns="0" bIns="0" rtlCol="0" anchor="ctr"/>
          <a:lstStyle/>
          <a:p>
            <a:pPr indent="0" marL="0">
              <a:buNone/>
            </a:pPr>
            <a:r>
              <a:rPr lang="en-US" sz="850" dirty="0">
                <a:solidFill>
                  <a:srgbClr val="555555"/>
                </a:solidFill>
                <a:latin typeface="Meiryo" pitchFamily="34" charset="0"/>
                <a:ea typeface="Meiryo" pitchFamily="34" charset="-122"/>
                <a:cs typeface="Meiryo" pitchFamily="34" charset="-120"/>
              </a:rPr>
              <a:t>▶ 種別→会社→路線→GPS→停留所選択（乗車地検索フロー）</a:t>
            </a:r>
            <a:endParaRPr lang="en-US" sz="850" dirty="0"/>
          </a:p>
        </p:txBody>
      </p:sp>
      <p:sp>
        <p:nvSpPr>
          <p:cNvPr id="19" name="Text 14"/>
          <p:cNvSpPr/>
          <p:nvPr/>
        </p:nvSpPr>
        <p:spPr>
          <a:xfrm>
            <a:off x="9050274" y="1005840"/>
            <a:ext cx="1812798" cy="320040"/>
          </a:xfrm>
          <a:prstGeom prst="rect">
            <a:avLst/>
          </a:prstGeom>
          <a:noFill/>
          <a:ln/>
        </p:spPr>
        <p:txBody>
          <a:bodyPr wrap="square" lIns="0" tIns="0" rIns="0" bIns="0" rtlCol="0" anchor="ctr"/>
          <a:lstStyle/>
          <a:p>
            <a:pPr indent="0" marL="0">
              <a:buNone/>
            </a:pPr>
            <a:r>
              <a:rPr lang="en-US" sz="950" b="1" dirty="0">
                <a:solidFill>
                  <a:srgbClr val="2D2D2D"/>
                </a:solidFill>
                <a:latin typeface="Meiryo" pitchFamily="34" charset="0"/>
                <a:ea typeface="Meiryo" pitchFamily="34" charset="-122"/>
                <a:cs typeface="Meiryo" pitchFamily="34" charset="-120"/>
              </a:rPr>
              <a:t>④ GPS（降車地）</a:t>
            </a:r>
            <a:endParaRPr lang="en-US" sz="950" dirty="0"/>
          </a:p>
        </p:txBody>
      </p:sp>
      <p:sp>
        <p:nvSpPr>
          <p:cNvPr id="20" name="Text 15"/>
          <p:cNvSpPr/>
          <p:nvPr/>
        </p:nvSpPr>
        <p:spPr>
          <a:xfrm>
            <a:off x="10908792" y="1042416"/>
            <a:ext cx="868680" cy="201168"/>
          </a:xfrm>
          <a:prstGeom prst="rect">
            <a:avLst/>
          </a:prstGeom>
          <a:solidFill>
            <a:srgbClr val="FEE2E2"/>
          </a:solidFill>
          <a:ln w="6350">
            <a:solidFill>
              <a:srgbClr val="991B1B"/>
            </a:solidFill>
          </a:ln>
        </p:spPr>
        <p:txBody>
          <a:bodyPr wrap="square" lIns="12700" tIns="12700" rIns="12700" bIns="12700" rtlCol="0" anchor="ctr"/>
          <a:lstStyle/>
          <a:p>
            <a:pPr algn="ctr" indent="0" marL="0">
              <a:buNone/>
            </a:pPr>
            <a:r>
              <a:rPr lang="en-US" sz="700" b="1" dirty="0">
                <a:solidFill>
                  <a:srgbClr val="991B1B"/>
                </a:solidFill>
                <a:latin typeface="Meiryo" pitchFamily="34" charset="0"/>
                <a:ea typeface="Meiryo" pitchFamily="34" charset="-122"/>
                <a:cs typeface="Meiryo" pitchFamily="34" charset="-120"/>
              </a:rPr>
              <a:t>F-02/B-01</a:t>
            </a:r>
            <a:endParaRPr lang="en-US" sz="700" dirty="0"/>
          </a:p>
        </p:txBody>
      </p:sp>
      <p:pic>
        <p:nvPicPr>
          <p:cNvPr id="21" name="Image 3" descr="/home/claude/screens3/04_gps_alight_tall.png">    </p:cNvPr>
          <p:cNvPicPr>
            <a:picLocks noChangeAspect="1"/>
          </p:cNvPicPr>
          <p:nvPr/>
        </p:nvPicPr>
        <p:blipFill>
          <a:blip r:embed="rId4"/>
          <a:stretch>
            <a:fillRect/>
          </a:stretch>
        </p:blipFill>
        <p:spPr>
          <a:xfrm>
            <a:off x="9396889" y="1389888"/>
            <a:ext cx="2079689" cy="3886200"/>
          </a:xfrm>
          <a:prstGeom prst="rect">
            <a:avLst/>
          </a:prstGeom>
        </p:spPr>
      </p:pic>
      <p:sp>
        <p:nvSpPr>
          <p:cNvPr id="22" name="Text 16"/>
          <p:cNvSpPr/>
          <p:nvPr/>
        </p:nvSpPr>
        <p:spPr>
          <a:xfrm>
            <a:off x="9050274" y="5367528"/>
            <a:ext cx="2772918" cy="548640"/>
          </a:xfrm>
          <a:prstGeom prst="rect">
            <a:avLst/>
          </a:prstGeom>
          <a:noFill/>
          <a:ln/>
        </p:spPr>
        <p:txBody>
          <a:bodyPr wrap="square" lIns="0" tIns="0" rIns="0" bIns="0" rtlCol="0" anchor="ctr"/>
          <a:lstStyle/>
          <a:p>
            <a:pPr indent="0" marL="0">
              <a:buNone/>
            </a:pPr>
            <a:r>
              <a:rPr lang="en-US" sz="850" dirty="0">
                <a:solidFill>
                  <a:srgbClr val="555555"/>
                </a:solidFill>
                <a:latin typeface="Meiryo" pitchFamily="34" charset="0"/>
                <a:ea typeface="Meiryo" pitchFamily="34" charset="-122"/>
                <a:cs typeface="Meiryo" pitchFamily="34" charset="-120"/>
              </a:rPr>
              <a:t>▶ 乗車地取得済みを表示 / 降車地選択でペア成立 → 1pt付与</a:t>
            </a:r>
            <a:endParaRPr lang="en-US" sz="850" dirty="0"/>
          </a:p>
        </p:txBody>
      </p:sp>
      <p:sp>
        <p:nvSpPr>
          <p:cNvPr id="23" name="Text 17"/>
          <p:cNvSpPr/>
          <p:nvPr/>
        </p:nvSpPr>
        <p:spPr>
          <a:xfrm>
            <a:off x="11365992" y="6565392"/>
            <a:ext cx="731520" cy="256032"/>
          </a:xfrm>
          <a:prstGeom prst="rect">
            <a:avLst/>
          </a:prstGeom>
          <a:noFill/>
          <a:ln/>
        </p:spPr>
        <p:txBody>
          <a:bodyPr wrap="square" lIns="0" tIns="0" rIns="0" bIns="0" rtlCol="0" anchor="ctr"/>
          <a:lstStyle/>
          <a:p>
            <a:pPr algn="r" indent="0" marL="0">
              <a:buNone/>
            </a:pPr>
            <a:r>
              <a:rPr lang="en-US" sz="900" dirty="0">
                <a:solidFill>
                  <a:srgbClr val="AAAAAA"/>
                </a:solidFill>
                <a:latin typeface="Meiryo" pitchFamily="34" charset="0"/>
                <a:ea typeface="Meiryo" pitchFamily="34" charset="-122"/>
                <a:cs typeface="Meiryo" pitchFamily="34" charset="-120"/>
              </a:rPr>
              <a:t>7 / 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2D2D2D"/>
          </a:solidFill>
          <a:ln/>
        </p:spPr>
      </p:sp>
      <p:sp>
        <p:nvSpPr>
          <p:cNvPr id="3" name="Shape 1"/>
          <p:cNvSpPr/>
          <p:nvPr/>
        </p:nvSpPr>
        <p:spPr>
          <a:xfrm>
            <a:off x="0" y="0"/>
            <a:ext cx="164592" cy="914400"/>
          </a:xfrm>
          <a:prstGeom prst="rect">
            <a:avLst/>
          </a:prstGeom>
          <a:solidFill>
            <a:srgbClr val="E87722"/>
          </a:solidFill>
          <a:ln/>
        </p:spPr>
      </p:sp>
      <p:sp>
        <p:nvSpPr>
          <p:cNvPr id="4" name="Text 2"/>
          <p:cNvSpPr/>
          <p:nvPr/>
        </p:nvSpPr>
        <p:spPr>
          <a:xfrm>
            <a:off x="347472" y="91440"/>
            <a:ext cx="10058400" cy="50292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画面フロー ②</a:t>
            </a:r>
            <a:endParaRPr lang="en-US" sz="2200" dirty="0"/>
          </a:p>
        </p:txBody>
      </p:sp>
      <p:sp>
        <p:nvSpPr>
          <p:cNvPr id="5" name="Text 3"/>
          <p:cNvSpPr/>
          <p:nvPr/>
        </p:nvSpPr>
        <p:spPr>
          <a:xfrm>
            <a:off x="347472" y="576072"/>
            <a:ext cx="10058400" cy="274320"/>
          </a:xfrm>
          <a:prstGeom prst="rect">
            <a:avLst/>
          </a:prstGeom>
          <a:noFill/>
          <a:ln/>
        </p:spPr>
        <p:txBody>
          <a:bodyPr wrap="square" lIns="0" tIns="0" rIns="0" bIns="0" rtlCol="0" anchor="ctr"/>
          <a:lstStyle/>
          <a:p>
            <a:pPr indent="0" marL="0">
              <a:buNone/>
            </a:pPr>
            <a:r>
              <a:rPr lang="en-US" sz="1000" dirty="0">
                <a:solidFill>
                  <a:srgbClr val="BBBBBB"/>
                </a:solidFill>
                <a:latin typeface="Meiryo" pitchFamily="34" charset="0"/>
                <a:ea typeface="Meiryo" pitchFamily="34" charset="-122"/>
                <a:cs typeface="Meiryo" pitchFamily="34" charset="-120"/>
              </a:rPr>
              <a:t>タクシーレシート登録〜審査状況</a:t>
            </a:r>
            <a:endParaRPr lang="en-US" sz="1000" dirty="0"/>
          </a:p>
        </p:txBody>
      </p:sp>
      <p:sp>
        <p:nvSpPr>
          <p:cNvPr id="6" name="Text 4"/>
          <p:cNvSpPr/>
          <p:nvPr/>
        </p:nvSpPr>
        <p:spPr>
          <a:xfrm>
            <a:off x="10177272" y="109728"/>
            <a:ext cx="192024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Meiryo" pitchFamily="34" charset="0"/>
                <a:ea typeface="Meiryo" pitchFamily="34" charset="-122"/>
                <a:cs typeface="Meiryo" pitchFamily="34" charset="-120"/>
              </a:rPr>
              <a:t>P8 画面フロー</a:t>
            </a:r>
            <a:endParaRPr lang="en-US" sz="900" dirty="0"/>
          </a:p>
        </p:txBody>
      </p:sp>
      <p:sp>
        <p:nvSpPr>
          <p:cNvPr id="7" name="Text 5"/>
          <p:cNvSpPr/>
          <p:nvPr/>
        </p:nvSpPr>
        <p:spPr>
          <a:xfrm>
            <a:off x="182880" y="1005840"/>
            <a:ext cx="1812798" cy="320040"/>
          </a:xfrm>
          <a:prstGeom prst="rect">
            <a:avLst/>
          </a:prstGeom>
          <a:noFill/>
          <a:ln/>
        </p:spPr>
        <p:txBody>
          <a:bodyPr wrap="square" lIns="0" tIns="0" rIns="0" bIns="0" rtlCol="0" anchor="ctr"/>
          <a:lstStyle/>
          <a:p>
            <a:pPr indent="0" marL="0">
              <a:buNone/>
            </a:pPr>
            <a:r>
              <a:rPr lang="en-US" sz="950" b="1" dirty="0">
                <a:solidFill>
                  <a:srgbClr val="2D2D2D"/>
                </a:solidFill>
                <a:latin typeface="Meiryo" pitchFamily="34" charset="0"/>
                <a:ea typeface="Meiryo" pitchFamily="34" charset="-122"/>
                <a:cs typeface="Meiryo" pitchFamily="34" charset="-120"/>
              </a:rPr>
              <a:t>⑤ レシート登録</a:t>
            </a:r>
            <a:endParaRPr lang="en-US" sz="950" dirty="0"/>
          </a:p>
        </p:txBody>
      </p:sp>
      <p:sp>
        <p:nvSpPr>
          <p:cNvPr id="8" name="Text 6"/>
          <p:cNvSpPr/>
          <p:nvPr/>
        </p:nvSpPr>
        <p:spPr>
          <a:xfrm>
            <a:off x="2041398" y="1042416"/>
            <a:ext cx="868680" cy="201168"/>
          </a:xfrm>
          <a:prstGeom prst="rect">
            <a:avLst/>
          </a:prstGeom>
          <a:solidFill>
            <a:srgbClr val="DBEAFE"/>
          </a:solidFill>
          <a:ln w="6350">
            <a:solidFill>
              <a:srgbClr val="1E40AF"/>
            </a:solidFill>
          </a:ln>
        </p:spPr>
        <p:txBody>
          <a:bodyPr wrap="square" lIns="12700" tIns="12700" rIns="12700" bIns="12700" rtlCol="0" anchor="ctr"/>
          <a:lstStyle/>
          <a:p>
            <a:pPr algn="ctr" indent="0" marL="0">
              <a:buNone/>
            </a:pPr>
            <a:r>
              <a:rPr lang="en-US" sz="700" b="1" dirty="0">
                <a:solidFill>
                  <a:srgbClr val="1E40AF"/>
                </a:solidFill>
                <a:latin typeface="Meiryo" pitchFamily="34" charset="0"/>
                <a:ea typeface="Meiryo" pitchFamily="34" charset="-122"/>
                <a:cs typeface="Meiryo" pitchFamily="34" charset="-120"/>
              </a:rPr>
              <a:t>Receico</a:t>
            </a:r>
            <a:endParaRPr lang="en-US" sz="700" dirty="0"/>
          </a:p>
        </p:txBody>
      </p:sp>
      <p:pic>
        <p:nvPicPr>
          <p:cNvPr id="9" name="Image 0" descr="/home/claude/screens3/05_receipt_reg_tall.png">    </p:cNvPr>
          <p:cNvPicPr>
            <a:picLocks noChangeAspect="1"/>
          </p:cNvPicPr>
          <p:nvPr/>
        </p:nvPicPr>
        <p:blipFill>
          <a:blip r:embed="rId1"/>
          <a:stretch>
            <a:fillRect/>
          </a:stretch>
        </p:blipFill>
        <p:spPr>
          <a:xfrm>
            <a:off x="529495" y="1389888"/>
            <a:ext cx="2079689" cy="3886200"/>
          </a:xfrm>
          <a:prstGeom prst="rect">
            <a:avLst/>
          </a:prstGeom>
        </p:spPr>
      </p:pic>
      <p:sp>
        <p:nvSpPr>
          <p:cNvPr id="10" name="Text 7"/>
          <p:cNvSpPr/>
          <p:nvPr/>
        </p:nvSpPr>
        <p:spPr>
          <a:xfrm>
            <a:off x="182880" y="5367528"/>
            <a:ext cx="2772918" cy="548640"/>
          </a:xfrm>
          <a:prstGeom prst="rect">
            <a:avLst/>
          </a:prstGeom>
          <a:noFill/>
          <a:ln/>
        </p:spPr>
        <p:txBody>
          <a:bodyPr wrap="square" lIns="0" tIns="0" rIns="0" bIns="0" rtlCol="0" anchor="ctr"/>
          <a:lstStyle/>
          <a:p>
            <a:pPr indent="0" marL="0">
              <a:buNone/>
            </a:pPr>
            <a:r>
              <a:rPr lang="en-US" sz="850" dirty="0">
                <a:solidFill>
                  <a:srgbClr val="555555"/>
                </a:solidFill>
                <a:latin typeface="Meiryo" pitchFamily="34" charset="0"/>
                <a:ea typeface="Meiryo" pitchFamily="34" charset="-122"/>
                <a:cs typeface="Meiryo" pitchFamily="34" charset="-120"/>
              </a:rPr>
              <a:t>▶ SmartRecieco（SSO遷移） タイトル・フォームラベルをカスタム変更</a:t>
            </a:r>
            <a:endParaRPr lang="en-US" sz="850" dirty="0"/>
          </a:p>
        </p:txBody>
      </p:sp>
      <p:sp>
        <p:nvSpPr>
          <p:cNvPr id="11" name="Text 8"/>
          <p:cNvSpPr/>
          <p:nvPr/>
        </p:nvSpPr>
        <p:spPr>
          <a:xfrm>
            <a:off x="3138678" y="1005840"/>
            <a:ext cx="1812798" cy="320040"/>
          </a:xfrm>
          <a:prstGeom prst="rect">
            <a:avLst/>
          </a:prstGeom>
          <a:noFill/>
          <a:ln/>
        </p:spPr>
        <p:txBody>
          <a:bodyPr wrap="square" lIns="0" tIns="0" rIns="0" bIns="0" rtlCol="0" anchor="ctr"/>
          <a:lstStyle/>
          <a:p>
            <a:pPr indent="0" marL="0">
              <a:buNone/>
            </a:pPr>
            <a:r>
              <a:rPr lang="en-US" sz="950" b="1" dirty="0">
                <a:solidFill>
                  <a:srgbClr val="2D2D2D"/>
                </a:solidFill>
                <a:latin typeface="Meiryo" pitchFamily="34" charset="0"/>
                <a:ea typeface="Meiryo" pitchFamily="34" charset="-122"/>
                <a:cs typeface="Meiryo" pitchFamily="34" charset="-120"/>
              </a:rPr>
              <a:t>⑤' 登録完了</a:t>
            </a:r>
            <a:endParaRPr lang="en-US" sz="950" dirty="0"/>
          </a:p>
        </p:txBody>
      </p:sp>
      <p:sp>
        <p:nvSpPr>
          <p:cNvPr id="12" name="Text 9"/>
          <p:cNvSpPr/>
          <p:nvPr/>
        </p:nvSpPr>
        <p:spPr>
          <a:xfrm>
            <a:off x="4997196" y="1042416"/>
            <a:ext cx="868680" cy="201168"/>
          </a:xfrm>
          <a:prstGeom prst="rect">
            <a:avLst/>
          </a:prstGeom>
          <a:solidFill>
            <a:srgbClr val="FEE2E2"/>
          </a:solidFill>
          <a:ln w="6350">
            <a:solidFill>
              <a:srgbClr val="991B1B"/>
            </a:solidFill>
          </a:ln>
        </p:spPr>
        <p:txBody>
          <a:bodyPr wrap="square" lIns="12700" tIns="12700" rIns="12700" bIns="12700" rtlCol="0" anchor="ctr"/>
          <a:lstStyle/>
          <a:p>
            <a:pPr algn="ctr" indent="0" marL="0">
              <a:buNone/>
            </a:pPr>
            <a:r>
              <a:rPr lang="en-US" sz="700" b="1" dirty="0">
                <a:solidFill>
                  <a:srgbClr val="991B1B"/>
                </a:solidFill>
                <a:latin typeface="Meiryo" pitchFamily="34" charset="0"/>
                <a:ea typeface="Meiryo" pitchFamily="34" charset="-122"/>
                <a:cs typeface="Meiryo" pitchFamily="34" charset="-120"/>
              </a:rPr>
              <a:t>B-02</a:t>
            </a:r>
            <a:endParaRPr lang="en-US" sz="700" dirty="0"/>
          </a:p>
        </p:txBody>
      </p:sp>
      <p:pic>
        <p:nvPicPr>
          <p:cNvPr id="13" name="Image 1" descr="/home/claude/screens3/06_receipt_done_tall.png">    </p:cNvPr>
          <p:cNvPicPr>
            <a:picLocks noChangeAspect="1"/>
          </p:cNvPicPr>
          <p:nvPr/>
        </p:nvPicPr>
        <p:blipFill>
          <a:blip r:embed="rId2"/>
          <a:stretch>
            <a:fillRect/>
          </a:stretch>
        </p:blipFill>
        <p:spPr>
          <a:xfrm>
            <a:off x="3485293" y="1389888"/>
            <a:ext cx="2079689" cy="3886200"/>
          </a:xfrm>
          <a:prstGeom prst="rect">
            <a:avLst/>
          </a:prstGeom>
        </p:spPr>
      </p:pic>
      <p:sp>
        <p:nvSpPr>
          <p:cNvPr id="14" name="Text 10"/>
          <p:cNvSpPr/>
          <p:nvPr/>
        </p:nvSpPr>
        <p:spPr>
          <a:xfrm>
            <a:off x="3138678" y="5367528"/>
            <a:ext cx="2772918" cy="548640"/>
          </a:xfrm>
          <a:prstGeom prst="rect">
            <a:avLst/>
          </a:prstGeom>
          <a:noFill/>
          <a:ln/>
        </p:spPr>
        <p:txBody>
          <a:bodyPr wrap="square" lIns="0" tIns="0" rIns="0" bIns="0" rtlCol="0" anchor="ctr"/>
          <a:lstStyle/>
          <a:p>
            <a:pPr indent="0" marL="0">
              <a:buNone/>
            </a:pPr>
            <a:r>
              <a:rPr lang="en-US" sz="850" dirty="0">
                <a:solidFill>
                  <a:srgbClr val="555555"/>
                </a:solidFill>
                <a:latin typeface="Meiryo" pitchFamily="34" charset="0"/>
                <a:ea typeface="Meiryo" pitchFamily="34" charset="-122"/>
                <a:cs typeface="Meiryo" pitchFamily="34" charset="-120"/>
              </a:rPr>
              <a:t>▶ 受付完了メッセージ（審査中通知）を追加 / OCR結果は管理側のみ</a:t>
            </a:r>
            <a:endParaRPr lang="en-US" sz="850" dirty="0"/>
          </a:p>
        </p:txBody>
      </p:sp>
      <p:sp>
        <p:nvSpPr>
          <p:cNvPr id="15" name="Text 11"/>
          <p:cNvSpPr/>
          <p:nvPr/>
        </p:nvSpPr>
        <p:spPr>
          <a:xfrm>
            <a:off x="6094476" y="1005840"/>
            <a:ext cx="1812798" cy="320040"/>
          </a:xfrm>
          <a:prstGeom prst="rect">
            <a:avLst/>
          </a:prstGeom>
          <a:noFill/>
          <a:ln/>
        </p:spPr>
        <p:txBody>
          <a:bodyPr wrap="square" lIns="0" tIns="0" rIns="0" bIns="0" rtlCol="0" anchor="ctr"/>
          <a:lstStyle/>
          <a:p>
            <a:pPr indent="0" marL="0">
              <a:buNone/>
            </a:pPr>
            <a:r>
              <a:rPr lang="en-US" sz="950" b="1" dirty="0">
                <a:solidFill>
                  <a:srgbClr val="2D2D2D"/>
                </a:solidFill>
                <a:latin typeface="Meiryo" pitchFamily="34" charset="0"/>
                <a:ea typeface="Meiryo" pitchFamily="34" charset="-122"/>
                <a:cs typeface="Meiryo" pitchFamily="34" charset="-120"/>
              </a:rPr>
              <a:t>⑦ 賞品応募モーダル</a:t>
            </a:r>
            <a:endParaRPr lang="en-US" sz="950" dirty="0"/>
          </a:p>
        </p:txBody>
      </p:sp>
      <p:sp>
        <p:nvSpPr>
          <p:cNvPr id="16" name="Text 12"/>
          <p:cNvSpPr/>
          <p:nvPr/>
        </p:nvSpPr>
        <p:spPr>
          <a:xfrm>
            <a:off x="7952994" y="1042416"/>
            <a:ext cx="868680" cy="201168"/>
          </a:xfrm>
          <a:prstGeom prst="rect">
            <a:avLst/>
          </a:prstGeom>
          <a:solidFill>
            <a:srgbClr val="FEE2E2"/>
          </a:solidFill>
          <a:ln w="6350">
            <a:solidFill>
              <a:srgbClr val="991B1B"/>
            </a:solidFill>
          </a:ln>
        </p:spPr>
        <p:txBody>
          <a:bodyPr wrap="square" lIns="12700" tIns="12700" rIns="12700" bIns="12700" rtlCol="0" anchor="ctr"/>
          <a:lstStyle/>
          <a:p>
            <a:pPr algn="ctr" indent="0" marL="0">
              <a:buNone/>
            </a:pPr>
            <a:r>
              <a:rPr lang="en-US" sz="700" b="1" dirty="0">
                <a:solidFill>
                  <a:srgbClr val="991B1B"/>
                </a:solidFill>
                <a:latin typeface="Meiryo" pitchFamily="34" charset="0"/>
                <a:ea typeface="Meiryo" pitchFamily="34" charset="-122"/>
                <a:cs typeface="Meiryo" pitchFamily="34" charset="-120"/>
              </a:rPr>
              <a:t>F-05</a:t>
            </a:r>
            <a:endParaRPr lang="en-US" sz="700" dirty="0"/>
          </a:p>
        </p:txBody>
      </p:sp>
      <p:pic>
        <p:nvPicPr>
          <p:cNvPr id="17" name="Image 2" descr="/home/claude/screens3/07_prize_modal_tall.png">    </p:cNvPr>
          <p:cNvPicPr>
            <a:picLocks noChangeAspect="1"/>
          </p:cNvPicPr>
          <p:nvPr/>
        </p:nvPicPr>
        <p:blipFill>
          <a:blip r:embed="rId3"/>
          <a:stretch>
            <a:fillRect/>
          </a:stretch>
        </p:blipFill>
        <p:spPr>
          <a:xfrm>
            <a:off x="6441091" y="1389888"/>
            <a:ext cx="2079689" cy="3886200"/>
          </a:xfrm>
          <a:prstGeom prst="rect">
            <a:avLst/>
          </a:prstGeom>
        </p:spPr>
      </p:pic>
      <p:sp>
        <p:nvSpPr>
          <p:cNvPr id="18" name="Text 13"/>
          <p:cNvSpPr/>
          <p:nvPr/>
        </p:nvSpPr>
        <p:spPr>
          <a:xfrm>
            <a:off x="6094476" y="5367528"/>
            <a:ext cx="2772918" cy="548640"/>
          </a:xfrm>
          <a:prstGeom prst="rect">
            <a:avLst/>
          </a:prstGeom>
          <a:noFill/>
          <a:ln/>
        </p:spPr>
        <p:txBody>
          <a:bodyPr wrap="square" lIns="0" tIns="0" rIns="0" bIns="0" rtlCol="0" anchor="ctr"/>
          <a:lstStyle/>
          <a:p>
            <a:pPr indent="0" marL="0">
              <a:buNone/>
            </a:pPr>
            <a:r>
              <a:rPr lang="en-US" sz="850" dirty="0">
                <a:solidFill>
                  <a:srgbClr val="555555"/>
                </a:solidFill>
                <a:latin typeface="Meiryo" pitchFamily="34" charset="0"/>
                <a:ea typeface="Meiryo" pitchFamily="34" charset="-122"/>
                <a:cs typeface="Meiryo" pitchFamily="34" charset="-120"/>
              </a:rPr>
              <a:t>▶ ポイント内訳（GPS分・タクシー承認済・審査中）を追加表示</a:t>
            </a:r>
            <a:endParaRPr lang="en-US" sz="850" dirty="0"/>
          </a:p>
        </p:txBody>
      </p:sp>
      <p:sp>
        <p:nvSpPr>
          <p:cNvPr id="19" name="Text 14"/>
          <p:cNvSpPr/>
          <p:nvPr/>
        </p:nvSpPr>
        <p:spPr>
          <a:xfrm>
            <a:off x="9050274" y="1005840"/>
            <a:ext cx="1812798" cy="320040"/>
          </a:xfrm>
          <a:prstGeom prst="rect">
            <a:avLst/>
          </a:prstGeom>
          <a:noFill/>
          <a:ln/>
        </p:spPr>
        <p:txBody>
          <a:bodyPr wrap="square" lIns="0" tIns="0" rIns="0" bIns="0" rtlCol="0" anchor="ctr"/>
          <a:lstStyle/>
          <a:p>
            <a:pPr indent="0" marL="0">
              <a:buNone/>
            </a:pPr>
            <a:r>
              <a:rPr lang="en-US" sz="950" b="1" dirty="0">
                <a:solidFill>
                  <a:srgbClr val="2D2D2D"/>
                </a:solidFill>
                <a:latin typeface="Meiryo" pitchFamily="34" charset="0"/>
                <a:ea typeface="Meiryo" pitchFamily="34" charset="-122"/>
                <a:cs typeface="Meiryo" pitchFamily="34" charset="-120"/>
              </a:rPr>
              <a:t>⑨ マイページ（審査）</a:t>
            </a:r>
            <a:endParaRPr lang="en-US" sz="950" dirty="0"/>
          </a:p>
        </p:txBody>
      </p:sp>
      <p:sp>
        <p:nvSpPr>
          <p:cNvPr id="20" name="Text 15"/>
          <p:cNvSpPr/>
          <p:nvPr/>
        </p:nvSpPr>
        <p:spPr>
          <a:xfrm>
            <a:off x="10908792" y="1042416"/>
            <a:ext cx="868680" cy="201168"/>
          </a:xfrm>
          <a:prstGeom prst="rect">
            <a:avLst/>
          </a:prstGeom>
          <a:solidFill>
            <a:srgbClr val="FEE2E2"/>
          </a:solidFill>
          <a:ln w="6350">
            <a:solidFill>
              <a:srgbClr val="991B1B"/>
            </a:solidFill>
          </a:ln>
        </p:spPr>
        <p:txBody>
          <a:bodyPr wrap="square" lIns="12700" tIns="12700" rIns="12700" bIns="12700" rtlCol="0" anchor="ctr"/>
          <a:lstStyle/>
          <a:p>
            <a:pPr algn="ctr" indent="0" marL="0">
              <a:buNone/>
            </a:pPr>
            <a:r>
              <a:rPr lang="en-US" sz="700" b="1" dirty="0">
                <a:solidFill>
                  <a:srgbClr val="991B1B"/>
                </a:solidFill>
                <a:latin typeface="Meiryo" pitchFamily="34" charset="0"/>
                <a:ea typeface="Meiryo" pitchFamily="34" charset="-122"/>
                <a:cs typeface="Meiryo" pitchFamily="34" charset="-120"/>
              </a:rPr>
              <a:t>F-04</a:t>
            </a:r>
            <a:endParaRPr lang="en-US" sz="700" dirty="0"/>
          </a:p>
        </p:txBody>
      </p:sp>
      <p:pic>
        <p:nvPicPr>
          <p:cNvPr id="21" name="Image 3" descr="/home/claude/screens3/09_mypage_review_tall.png">    </p:cNvPr>
          <p:cNvPicPr>
            <a:picLocks noChangeAspect="1"/>
          </p:cNvPicPr>
          <p:nvPr/>
        </p:nvPicPr>
        <p:blipFill>
          <a:blip r:embed="rId4"/>
          <a:stretch>
            <a:fillRect/>
          </a:stretch>
        </p:blipFill>
        <p:spPr>
          <a:xfrm>
            <a:off x="9396889" y="1389888"/>
            <a:ext cx="2079689" cy="3886200"/>
          </a:xfrm>
          <a:prstGeom prst="rect">
            <a:avLst/>
          </a:prstGeom>
        </p:spPr>
      </p:pic>
      <p:sp>
        <p:nvSpPr>
          <p:cNvPr id="22" name="Text 16"/>
          <p:cNvSpPr/>
          <p:nvPr/>
        </p:nvSpPr>
        <p:spPr>
          <a:xfrm>
            <a:off x="9050274" y="5367528"/>
            <a:ext cx="2772918" cy="548640"/>
          </a:xfrm>
          <a:prstGeom prst="rect">
            <a:avLst/>
          </a:prstGeom>
          <a:noFill/>
          <a:ln/>
        </p:spPr>
        <p:txBody>
          <a:bodyPr wrap="square" lIns="0" tIns="0" rIns="0" bIns="0" rtlCol="0" anchor="ctr"/>
          <a:lstStyle/>
          <a:p>
            <a:pPr indent="0" marL="0">
              <a:buNone/>
            </a:pPr>
            <a:r>
              <a:rPr lang="en-US" sz="850" dirty="0">
                <a:solidFill>
                  <a:srgbClr val="555555"/>
                </a:solidFill>
                <a:latin typeface="Meiryo" pitchFamily="34" charset="0"/>
                <a:ea typeface="Meiryo" pitchFamily="34" charset="-122"/>
                <a:cs typeface="Meiryo" pitchFamily="34" charset="-120"/>
              </a:rPr>
              <a:t>▶ タクシーレシート審査状況セクションを追加 / 審査中・承認済バッジ</a:t>
            </a:r>
            <a:endParaRPr lang="en-US" sz="850" dirty="0"/>
          </a:p>
        </p:txBody>
      </p:sp>
      <p:sp>
        <p:nvSpPr>
          <p:cNvPr id="23" name="Text 17"/>
          <p:cNvSpPr/>
          <p:nvPr/>
        </p:nvSpPr>
        <p:spPr>
          <a:xfrm>
            <a:off x="11365992" y="6565392"/>
            <a:ext cx="731520" cy="256032"/>
          </a:xfrm>
          <a:prstGeom prst="rect">
            <a:avLst/>
          </a:prstGeom>
          <a:noFill/>
          <a:ln/>
        </p:spPr>
        <p:txBody>
          <a:bodyPr wrap="square" lIns="0" tIns="0" rIns="0" bIns="0" rtlCol="0" anchor="ctr"/>
          <a:lstStyle/>
          <a:p>
            <a:pPr algn="r" indent="0" marL="0">
              <a:buNone/>
            </a:pPr>
            <a:r>
              <a:rPr lang="en-US" sz="900" dirty="0">
                <a:solidFill>
                  <a:srgbClr val="AAAAAA"/>
                </a:solidFill>
                <a:latin typeface="Meiryo" pitchFamily="34" charset="0"/>
                <a:ea typeface="Meiryo" pitchFamily="34" charset="-122"/>
                <a:cs typeface="Meiryo" pitchFamily="34" charset="-120"/>
              </a:rPr>
              <a:t>8 / 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2D2D2D"/>
          </a:solidFill>
          <a:ln/>
        </p:spPr>
      </p:sp>
      <p:sp>
        <p:nvSpPr>
          <p:cNvPr id="3" name="Shape 1"/>
          <p:cNvSpPr/>
          <p:nvPr/>
        </p:nvSpPr>
        <p:spPr>
          <a:xfrm>
            <a:off x="0" y="0"/>
            <a:ext cx="164592" cy="914400"/>
          </a:xfrm>
          <a:prstGeom prst="rect">
            <a:avLst/>
          </a:prstGeom>
          <a:solidFill>
            <a:srgbClr val="E87722"/>
          </a:solidFill>
          <a:ln/>
        </p:spPr>
      </p:sp>
      <p:sp>
        <p:nvSpPr>
          <p:cNvPr id="4" name="Text 2"/>
          <p:cNvSpPr/>
          <p:nvPr/>
        </p:nvSpPr>
        <p:spPr>
          <a:xfrm>
            <a:off x="347472" y="91440"/>
            <a:ext cx="10058400" cy="50292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画面フロー ③</a:t>
            </a:r>
            <a:endParaRPr lang="en-US" sz="2200" dirty="0"/>
          </a:p>
        </p:txBody>
      </p:sp>
      <p:sp>
        <p:nvSpPr>
          <p:cNvPr id="5" name="Text 3"/>
          <p:cNvSpPr/>
          <p:nvPr/>
        </p:nvSpPr>
        <p:spPr>
          <a:xfrm>
            <a:off x="347472" y="576072"/>
            <a:ext cx="10058400" cy="274320"/>
          </a:xfrm>
          <a:prstGeom prst="rect">
            <a:avLst/>
          </a:prstGeom>
          <a:noFill/>
          <a:ln/>
        </p:spPr>
        <p:txBody>
          <a:bodyPr wrap="square" lIns="0" tIns="0" rIns="0" bIns="0" rtlCol="0" anchor="ctr"/>
          <a:lstStyle/>
          <a:p>
            <a:pPr indent="0" marL="0">
              <a:buNone/>
            </a:pPr>
            <a:r>
              <a:rPr lang="en-US" sz="1000" dirty="0">
                <a:solidFill>
                  <a:srgbClr val="BBBBBB"/>
                </a:solidFill>
                <a:latin typeface="Meiryo" pitchFamily="34" charset="0"/>
                <a:ea typeface="Meiryo" pitchFamily="34" charset="-122"/>
                <a:cs typeface="Meiryo" pitchFamily="34" charset="-120"/>
              </a:rPr>
              <a:t>賞品応募フォーム〜まとめ</a:t>
            </a:r>
            <a:endParaRPr lang="en-US" sz="1000" dirty="0"/>
          </a:p>
        </p:txBody>
      </p:sp>
      <p:sp>
        <p:nvSpPr>
          <p:cNvPr id="6" name="Text 4"/>
          <p:cNvSpPr/>
          <p:nvPr/>
        </p:nvSpPr>
        <p:spPr>
          <a:xfrm>
            <a:off x="10177272" y="109728"/>
            <a:ext cx="192024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Meiryo" pitchFamily="34" charset="0"/>
                <a:ea typeface="Meiryo" pitchFamily="34" charset="-122"/>
                <a:cs typeface="Meiryo" pitchFamily="34" charset="-120"/>
              </a:rPr>
              <a:t>P9 画面フロー</a:t>
            </a:r>
            <a:endParaRPr lang="en-US" sz="900" dirty="0"/>
          </a:p>
        </p:txBody>
      </p:sp>
      <p:sp>
        <p:nvSpPr>
          <p:cNvPr id="7" name="Text 5"/>
          <p:cNvSpPr/>
          <p:nvPr/>
        </p:nvSpPr>
        <p:spPr>
          <a:xfrm>
            <a:off x="365760" y="1005840"/>
            <a:ext cx="3200400" cy="320040"/>
          </a:xfrm>
          <a:prstGeom prst="rect">
            <a:avLst/>
          </a:prstGeom>
          <a:noFill/>
          <a:ln/>
        </p:spPr>
        <p:txBody>
          <a:bodyPr wrap="square" lIns="0" tIns="0" rIns="0" bIns="0" rtlCol="0" anchor="ctr"/>
          <a:lstStyle/>
          <a:p>
            <a:pPr indent="0" marL="0">
              <a:buNone/>
            </a:pPr>
            <a:r>
              <a:rPr lang="en-US" sz="1000" b="1" dirty="0">
                <a:solidFill>
                  <a:srgbClr val="2D2D2D"/>
                </a:solidFill>
                <a:latin typeface="Meiryo" pitchFamily="34" charset="0"/>
                <a:ea typeface="Meiryo" pitchFamily="34" charset="-122"/>
                <a:cs typeface="Meiryo" pitchFamily="34" charset="-120"/>
              </a:rPr>
              <a:t>⑧ 応募フォーム</a:t>
            </a:r>
            <a:endParaRPr lang="en-US" sz="1000" dirty="0"/>
          </a:p>
        </p:txBody>
      </p:sp>
      <p:sp>
        <p:nvSpPr>
          <p:cNvPr id="8" name="Text 6"/>
          <p:cNvSpPr/>
          <p:nvPr/>
        </p:nvSpPr>
        <p:spPr>
          <a:xfrm>
            <a:off x="3639312" y="1042416"/>
            <a:ext cx="777240" cy="237744"/>
          </a:xfrm>
          <a:prstGeom prst="rect">
            <a:avLst/>
          </a:prstGeom>
          <a:solidFill>
            <a:srgbClr val="DCFCE7"/>
          </a:solidFill>
          <a:ln/>
        </p:spPr>
        <p:txBody>
          <a:bodyPr wrap="square" lIns="25400" tIns="25400" rIns="25400" bIns="25400" rtlCol="0" anchor="ctr"/>
          <a:lstStyle/>
          <a:p>
            <a:pPr algn="ctr" indent="0" marL="0">
              <a:buNone/>
            </a:pPr>
            <a:r>
              <a:rPr lang="en-US" sz="800" b="1" dirty="0">
                <a:solidFill>
                  <a:srgbClr val="166534"/>
                </a:solidFill>
                <a:latin typeface="Meiryo" pitchFamily="34" charset="0"/>
                <a:ea typeface="Meiryo" pitchFamily="34" charset="-122"/>
                <a:cs typeface="Meiryo" pitchFamily="34" charset="-120"/>
              </a:rPr>
              <a:t>標準</a:t>
            </a:r>
            <a:endParaRPr lang="en-US" sz="800" dirty="0"/>
          </a:p>
        </p:txBody>
      </p:sp>
      <p:sp>
        <p:nvSpPr>
          <p:cNvPr id="9" name="Shape 7"/>
          <p:cNvSpPr/>
          <p:nvPr/>
        </p:nvSpPr>
        <p:spPr>
          <a:xfrm>
            <a:off x="365760" y="1389888"/>
            <a:ext cx="5029200" cy="4572000"/>
          </a:xfrm>
          <a:prstGeom prst="roundRect">
            <a:avLst>
              <a:gd name="adj" fmla="val 2000"/>
            </a:avLst>
          </a:prstGeom>
          <a:solidFill>
            <a:srgbClr val="F5F5F5"/>
          </a:solidFill>
          <a:ln w="12700">
            <a:solidFill>
              <a:srgbClr val="E0E0E0"/>
            </a:solidFill>
            <a:prstDash val="solid"/>
          </a:ln>
        </p:spPr>
      </p:sp>
      <p:sp>
        <p:nvSpPr>
          <p:cNvPr id="10" name="Text 8"/>
          <p:cNvSpPr/>
          <p:nvPr/>
        </p:nvSpPr>
        <p:spPr>
          <a:xfrm>
            <a:off x="548640" y="2011680"/>
            <a:ext cx="4663440" cy="3200400"/>
          </a:xfrm>
          <a:prstGeom prst="rect">
            <a:avLst/>
          </a:prstGeom>
          <a:noFill/>
          <a:ln/>
        </p:spPr>
        <p:txBody>
          <a:bodyPr wrap="square" lIns="0" tIns="0" rIns="0" bIns="0" rtlCol="0" anchor="ctr"/>
          <a:lstStyle/>
          <a:p>
            <a:pPr algn="ctr" indent="0" marL="0">
              <a:buNone/>
            </a:pPr>
            <a:r>
              <a:rPr lang="en-US" sz="1200" dirty="0">
                <a:solidFill>
                  <a:srgbClr val="666666"/>
                </a:solidFill>
                <a:latin typeface="Meiryo" pitchFamily="34" charset="0"/>
                <a:ea typeface="Meiryo" pitchFamily="34" charset="-122"/>
                <a:cs typeface="Meiryo" pitchFamily="34" charset="-120"/>
              </a:rPr>
              <a:t>📋 標準UI</a:t>
            </a:r>
            <a:endParaRPr lang="en-US" sz="1200" dirty="0"/>
          </a:p>
          <a:p>
            <a:pPr algn="ctr" indent="0" marL="0">
              <a:buNone/>
            </a:pPr>
            <a:r>
              <a:rPr lang="en-US" sz="1200" dirty="0">
                <a:solidFill>
                  <a:srgbClr val="666666"/>
                </a:solidFill>
                <a:latin typeface="Meiryo" pitchFamily="34" charset="0"/>
                <a:ea typeface="Meiryo" pitchFamily="34" charset="-122"/>
                <a:cs typeface="Meiryo" pitchFamily="34" charset="-120"/>
              </a:rPr>
              <a:t>（管理画面でフォーム項目を設定）</a:t>
            </a:r>
            <a:endParaRPr lang="en-US" sz="1200" dirty="0"/>
          </a:p>
          <a:p>
            <a:pPr algn="ctr" indent="0" marL="0">
              <a:buNone/>
            </a:pPr>
            <a:endParaRPr lang="en-US" sz="1200" dirty="0"/>
          </a:p>
          <a:p>
            <a:pPr algn="ctr" indent="0" marL="0">
              <a:buNone/>
            </a:pPr>
            <a:r>
              <a:rPr lang="en-US" sz="1200" dirty="0">
                <a:solidFill>
                  <a:srgbClr val="666666"/>
                </a:solidFill>
                <a:latin typeface="Meiryo" pitchFamily="34" charset="0"/>
                <a:ea typeface="Meiryo" pitchFamily="34" charset="-122"/>
                <a:cs typeface="Meiryo" pitchFamily="34" charset="-120"/>
              </a:rPr>
              <a:t>STEP</a:t>
            </a:r>
            <a:endParaRPr lang="en-US" sz="1200" dirty="0"/>
          </a:p>
          <a:p>
            <a:pPr algn="ctr" indent="0" marL="0">
              <a:buNone/>
            </a:pPr>
            <a:r>
              <a:rPr lang="en-US" sz="1200" dirty="0">
                <a:solidFill>
                  <a:srgbClr val="666666"/>
                </a:solidFill>
                <a:latin typeface="Meiryo" pitchFamily="34" charset="0"/>
                <a:ea typeface="Meiryo" pitchFamily="34" charset="-122"/>
                <a:cs typeface="Meiryo" pitchFamily="34" charset="-120"/>
              </a:rPr>
              <a:t>① 入力（お名前・フリガナ・住所 等）</a:t>
            </a:r>
            <a:endParaRPr lang="en-US" sz="1200" dirty="0"/>
          </a:p>
          <a:p>
            <a:pPr algn="ctr" indent="0" marL="0">
              <a:buNone/>
            </a:pPr>
            <a:r>
              <a:rPr lang="en-US" sz="1200" dirty="0">
                <a:solidFill>
                  <a:srgbClr val="666666"/>
                </a:solidFill>
                <a:latin typeface="Meiryo" pitchFamily="34" charset="0"/>
                <a:ea typeface="Meiryo" pitchFamily="34" charset="-122"/>
                <a:cs typeface="Meiryo" pitchFamily="34" charset="-120"/>
              </a:rPr>
              <a:t>② 確認</a:t>
            </a:r>
            <a:endParaRPr lang="en-US" sz="1200" dirty="0"/>
          </a:p>
          <a:p>
            <a:pPr algn="ctr" indent="0" marL="0">
              <a:buNone/>
            </a:pPr>
            <a:r>
              <a:rPr lang="en-US" sz="1200" dirty="0">
                <a:solidFill>
                  <a:srgbClr val="666666"/>
                </a:solidFill>
                <a:latin typeface="Meiryo" pitchFamily="34" charset="0"/>
                <a:ea typeface="Meiryo" pitchFamily="34" charset="-122"/>
                <a:cs typeface="Meiryo" pitchFamily="34" charset="-120"/>
              </a:rPr>
              <a:t>③ 完了</a:t>
            </a:r>
            <a:endParaRPr lang="en-US" sz="1200" dirty="0"/>
          </a:p>
        </p:txBody>
      </p:sp>
      <p:sp>
        <p:nvSpPr>
          <p:cNvPr id="11" name="Text 9"/>
          <p:cNvSpPr/>
          <p:nvPr/>
        </p:nvSpPr>
        <p:spPr>
          <a:xfrm>
            <a:off x="5852160" y="1005840"/>
            <a:ext cx="5943600" cy="320040"/>
          </a:xfrm>
          <a:prstGeom prst="rect">
            <a:avLst/>
          </a:prstGeom>
          <a:noFill/>
          <a:ln/>
        </p:spPr>
        <p:txBody>
          <a:bodyPr wrap="square" lIns="0" tIns="0" rIns="0" bIns="0" rtlCol="0" anchor="ctr"/>
          <a:lstStyle/>
          <a:p>
            <a:pPr indent="0" marL="0">
              <a:buNone/>
            </a:pPr>
            <a:r>
              <a:rPr lang="en-US" sz="1200" b="1" dirty="0">
                <a:solidFill>
                  <a:srgbClr val="2D2D2D"/>
                </a:solidFill>
                <a:latin typeface="Meiryo" pitchFamily="34" charset="0"/>
                <a:ea typeface="Meiryo" pitchFamily="34" charset="-122"/>
                <a:cs typeface="Meiryo" pitchFamily="34" charset="-120"/>
              </a:rPr>
              <a:t>カスタム開発ポイント まとめ</a:t>
            </a:r>
            <a:endParaRPr lang="en-US" sz="1200" dirty="0"/>
          </a:p>
        </p:txBody>
      </p:sp>
      <p:sp>
        <p:nvSpPr>
          <p:cNvPr id="12" name="Shape 10"/>
          <p:cNvSpPr/>
          <p:nvPr/>
        </p:nvSpPr>
        <p:spPr>
          <a:xfrm>
            <a:off x="5852160" y="1417320"/>
            <a:ext cx="5943600" cy="502920"/>
          </a:xfrm>
          <a:prstGeom prst="rect">
            <a:avLst/>
          </a:prstGeom>
          <a:solidFill>
            <a:srgbClr val="FAFAFA"/>
          </a:solidFill>
          <a:ln w="6350">
            <a:solidFill>
              <a:srgbClr val="EEEEEE"/>
            </a:solidFill>
            <a:prstDash val="solid"/>
          </a:ln>
        </p:spPr>
      </p:sp>
      <p:sp>
        <p:nvSpPr>
          <p:cNvPr id="13" name="Text 11"/>
          <p:cNvSpPr/>
          <p:nvPr/>
        </p:nvSpPr>
        <p:spPr>
          <a:xfrm>
            <a:off x="5925312" y="1508760"/>
            <a:ext cx="822960" cy="320040"/>
          </a:xfrm>
          <a:prstGeom prst="rect">
            <a:avLst/>
          </a:prstGeom>
          <a:solidFill>
            <a:srgbClr val="FEE2E2"/>
          </a:solidFill>
          <a:ln/>
        </p:spPr>
        <p:txBody>
          <a:bodyPr wrap="square" lIns="25400" tIns="25400" rIns="25400" bIns="25400" rtlCol="0" anchor="ctr"/>
          <a:lstStyle/>
          <a:p>
            <a:pPr algn="ctr" indent="0" marL="0">
              <a:buNone/>
            </a:pPr>
            <a:r>
              <a:rPr lang="en-US" sz="850" b="1" dirty="0">
                <a:solidFill>
                  <a:srgbClr val="991B1B"/>
                </a:solidFill>
                <a:latin typeface="Meiryo" pitchFamily="34" charset="0"/>
                <a:ea typeface="Meiryo" pitchFamily="34" charset="-122"/>
                <a:cs typeface="Meiryo" pitchFamily="34" charset="-120"/>
              </a:rPr>
              <a:t>F-01</a:t>
            </a:r>
            <a:endParaRPr lang="en-US" sz="850" dirty="0"/>
          </a:p>
        </p:txBody>
      </p:sp>
      <p:sp>
        <p:nvSpPr>
          <p:cNvPr id="14" name="Text 12"/>
          <p:cNvSpPr/>
          <p:nvPr/>
        </p:nvSpPr>
        <p:spPr>
          <a:xfrm>
            <a:off x="6812280" y="1527048"/>
            <a:ext cx="489204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マイページ：2ボタン＋乗車中UI</a:t>
            </a:r>
            <a:endParaRPr lang="en-US" sz="1000" dirty="0"/>
          </a:p>
        </p:txBody>
      </p:sp>
      <p:sp>
        <p:nvSpPr>
          <p:cNvPr id="15" name="Shape 13"/>
          <p:cNvSpPr/>
          <p:nvPr/>
        </p:nvSpPr>
        <p:spPr>
          <a:xfrm>
            <a:off x="5852160" y="1965960"/>
            <a:ext cx="5943600" cy="502920"/>
          </a:xfrm>
          <a:prstGeom prst="rect">
            <a:avLst/>
          </a:prstGeom>
          <a:solidFill>
            <a:srgbClr val="FFFFFF"/>
          </a:solidFill>
          <a:ln w="6350">
            <a:solidFill>
              <a:srgbClr val="EEEEEE"/>
            </a:solidFill>
            <a:prstDash val="solid"/>
          </a:ln>
        </p:spPr>
      </p:sp>
      <p:sp>
        <p:nvSpPr>
          <p:cNvPr id="16" name="Text 14"/>
          <p:cNvSpPr/>
          <p:nvPr/>
        </p:nvSpPr>
        <p:spPr>
          <a:xfrm>
            <a:off x="5925312" y="2057400"/>
            <a:ext cx="822960" cy="320040"/>
          </a:xfrm>
          <a:prstGeom prst="rect">
            <a:avLst/>
          </a:prstGeom>
          <a:solidFill>
            <a:srgbClr val="FEE2E2"/>
          </a:solidFill>
          <a:ln/>
        </p:spPr>
        <p:txBody>
          <a:bodyPr wrap="square" lIns="25400" tIns="25400" rIns="25400" bIns="25400" rtlCol="0" anchor="ctr"/>
          <a:lstStyle/>
          <a:p>
            <a:pPr algn="ctr" indent="0" marL="0">
              <a:buNone/>
            </a:pPr>
            <a:r>
              <a:rPr lang="en-US" sz="850" b="1" dirty="0">
                <a:solidFill>
                  <a:srgbClr val="991B1B"/>
                </a:solidFill>
                <a:latin typeface="Meiryo" pitchFamily="34" charset="0"/>
                <a:ea typeface="Meiryo" pitchFamily="34" charset="-122"/>
                <a:cs typeface="Meiryo" pitchFamily="34" charset="-120"/>
              </a:rPr>
              <a:t>F-02</a:t>
            </a:r>
            <a:endParaRPr lang="en-US" sz="850" dirty="0"/>
          </a:p>
        </p:txBody>
      </p:sp>
      <p:sp>
        <p:nvSpPr>
          <p:cNvPr id="17" name="Text 15"/>
          <p:cNvSpPr/>
          <p:nvPr/>
        </p:nvSpPr>
        <p:spPr>
          <a:xfrm>
            <a:off x="6812280" y="2075688"/>
            <a:ext cx="489204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乗車地検索フロー（BoardingSearchFlow）</a:t>
            </a:r>
            <a:endParaRPr lang="en-US" sz="1000" dirty="0"/>
          </a:p>
        </p:txBody>
      </p:sp>
      <p:sp>
        <p:nvSpPr>
          <p:cNvPr id="18" name="Shape 16"/>
          <p:cNvSpPr/>
          <p:nvPr/>
        </p:nvSpPr>
        <p:spPr>
          <a:xfrm>
            <a:off x="5852160" y="2514600"/>
            <a:ext cx="5943600" cy="502920"/>
          </a:xfrm>
          <a:prstGeom prst="rect">
            <a:avLst/>
          </a:prstGeom>
          <a:solidFill>
            <a:srgbClr val="FAFAFA"/>
          </a:solidFill>
          <a:ln w="6350">
            <a:solidFill>
              <a:srgbClr val="EEEEEE"/>
            </a:solidFill>
            <a:prstDash val="solid"/>
          </a:ln>
        </p:spPr>
      </p:sp>
      <p:sp>
        <p:nvSpPr>
          <p:cNvPr id="19" name="Text 17"/>
          <p:cNvSpPr/>
          <p:nvPr/>
        </p:nvSpPr>
        <p:spPr>
          <a:xfrm>
            <a:off x="5925312" y="2606040"/>
            <a:ext cx="822960" cy="320040"/>
          </a:xfrm>
          <a:prstGeom prst="rect">
            <a:avLst/>
          </a:prstGeom>
          <a:solidFill>
            <a:srgbClr val="FEE2E2"/>
          </a:solidFill>
          <a:ln/>
        </p:spPr>
        <p:txBody>
          <a:bodyPr wrap="square" lIns="25400" tIns="25400" rIns="25400" bIns="25400" rtlCol="0" anchor="ctr"/>
          <a:lstStyle/>
          <a:p>
            <a:pPr algn="ctr" indent="0" marL="0">
              <a:buNone/>
            </a:pPr>
            <a:r>
              <a:rPr lang="en-US" sz="850" b="1" dirty="0">
                <a:solidFill>
                  <a:srgbClr val="991B1B"/>
                </a:solidFill>
                <a:latin typeface="Meiryo" pitchFamily="34" charset="0"/>
                <a:ea typeface="Meiryo" pitchFamily="34" charset="-122"/>
                <a:cs typeface="Meiryo" pitchFamily="34" charset="-120"/>
              </a:rPr>
              <a:t>B-01</a:t>
            </a:r>
            <a:endParaRPr lang="en-US" sz="850" dirty="0"/>
          </a:p>
        </p:txBody>
      </p:sp>
      <p:sp>
        <p:nvSpPr>
          <p:cNvPr id="20" name="Text 18"/>
          <p:cNvSpPr/>
          <p:nvPr/>
        </p:nvSpPr>
        <p:spPr>
          <a:xfrm>
            <a:off x="6812280" y="2624328"/>
            <a:ext cx="489204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会社・路線マスタ・停留所DB・ペア判定</a:t>
            </a:r>
            <a:endParaRPr lang="en-US" sz="1000" dirty="0"/>
          </a:p>
        </p:txBody>
      </p:sp>
      <p:sp>
        <p:nvSpPr>
          <p:cNvPr id="21" name="Shape 19"/>
          <p:cNvSpPr/>
          <p:nvPr/>
        </p:nvSpPr>
        <p:spPr>
          <a:xfrm>
            <a:off x="5852160" y="3063240"/>
            <a:ext cx="5943600" cy="502920"/>
          </a:xfrm>
          <a:prstGeom prst="rect">
            <a:avLst/>
          </a:prstGeom>
          <a:solidFill>
            <a:srgbClr val="FFFFFF"/>
          </a:solidFill>
          <a:ln w="6350">
            <a:solidFill>
              <a:srgbClr val="EEEEEE"/>
            </a:solidFill>
            <a:prstDash val="solid"/>
          </a:ln>
        </p:spPr>
      </p:sp>
      <p:sp>
        <p:nvSpPr>
          <p:cNvPr id="22" name="Text 20"/>
          <p:cNvSpPr/>
          <p:nvPr/>
        </p:nvSpPr>
        <p:spPr>
          <a:xfrm>
            <a:off x="5925312" y="3154680"/>
            <a:ext cx="822960" cy="320040"/>
          </a:xfrm>
          <a:prstGeom prst="rect">
            <a:avLst/>
          </a:prstGeom>
          <a:solidFill>
            <a:srgbClr val="FEE2E2"/>
          </a:solidFill>
          <a:ln/>
        </p:spPr>
        <p:txBody>
          <a:bodyPr wrap="square" lIns="25400" tIns="25400" rIns="25400" bIns="25400" rtlCol="0" anchor="ctr"/>
          <a:lstStyle/>
          <a:p>
            <a:pPr algn="ctr" indent="0" marL="0">
              <a:buNone/>
            </a:pPr>
            <a:r>
              <a:rPr lang="en-US" sz="850" b="1" dirty="0">
                <a:solidFill>
                  <a:srgbClr val="991B1B"/>
                </a:solidFill>
                <a:latin typeface="Meiryo" pitchFamily="34" charset="0"/>
                <a:ea typeface="Meiryo" pitchFamily="34" charset="-122"/>
                <a:cs typeface="Meiryo" pitchFamily="34" charset="-120"/>
              </a:rPr>
              <a:t>B-02</a:t>
            </a:r>
            <a:endParaRPr lang="en-US" sz="850" dirty="0"/>
          </a:p>
        </p:txBody>
      </p:sp>
      <p:sp>
        <p:nvSpPr>
          <p:cNvPr id="23" name="Text 21"/>
          <p:cNvSpPr/>
          <p:nvPr/>
        </p:nvSpPr>
        <p:spPr>
          <a:xfrm>
            <a:off x="6812280" y="3172968"/>
            <a:ext cx="489204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Receico→Card ポイント連携（Webhook）</a:t>
            </a:r>
            <a:endParaRPr lang="en-US" sz="1000" dirty="0"/>
          </a:p>
        </p:txBody>
      </p:sp>
      <p:sp>
        <p:nvSpPr>
          <p:cNvPr id="24" name="Shape 22"/>
          <p:cNvSpPr/>
          <p:nvPr/>
        </p:nvSpPr>
        <p:spPr>
          <a:xfrm>
            <a:off x="5852160" y="3611880"/>
            <a:ext cx="5943600" cy="502920"/>
          </a:xfrm>
          <a:prstGeom prst="rect">
            <a:avLst/>
          </a:prstGeom>
          <a:solidFill>
            <a:srgbClr val="FAFAFA"/>
          </a:solidFill>
          <a:ln w="6350">
            <a:solidFill>
              <a:srgbClr val="EEEEEE"/>
            </a:solidFill>
            <a:prstDash val="solid"/>
          </a:ln>
        </p:spPr>
      </p:sp>
      <p:sp>
        <p:nvSpPr>
          <p:cNvPr id="25" name="Text 23"/>
          <p:cNvSpPr/>
          <p:nvPr/>
        </p:nvSpPr>
        <p:spPr>
          <a:xfrm>
            <a:off x="5925312" y="3703320"/>
            <a:ext cx="822960" cy="320040"/>
          </a:xfrm>
          <a:prstGeom prst="rect">
            <a:avLst/>
          </a:prstGeom>
          <a:solidFill>
            <a:srgbClr val="DCFCE7"/>
          </a:solidFill>
          <a:ln/>
        </p:spPr>
        <p:txBody>
          <a:bodyPr wrap="square" lIns="25400" tIns="25400" rIns="25400" bIns="25400" rtlCol="0" anchor="ctr"/>
          <a:lstStyle/>
          <a:p>
            <a:pPr algn="ctr" indent="0" marL="0">
              <a:buNone/>
            </a:pPr>
            <a:r>
              <a:rPr lang="en-US" sz="850" b="1" dirty="0">
                <a:solidFill>
                  <a:srgbClr val="166534"/>
                </a:solidFill>
                <a:latin typeface="Meiryo" pitchFamily="34" charset="0"/>
                <a:ea typeface="Meiryo" pitchFamily="34" charset="-122"/>
                <a:cs typeface="Meiryo" pitchFamily="34" charset="-120"/>
              </a:rPr>
              <a:t>F/B-03</a:t>
            </a:r>
            <a:endParaRPr lang="en-US" sz="850" dirty="0"/>
          </a:p>
        </p:txBody>
      </p:sp>
      <p:sp>
        <p:nvSpPr>
          <p:cNvPr id="26" name="Text 24"/>
          <p:cNvSpPr/>
          <p:nvPr/>
        </p:nvSpPr>
        <p:spPr>
          <a:xfrm>
            <a:off x="6812280" y="3721608"/>
            <a:ext cx="489204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Card→Receico SSO連携</a:t>
            </a:r>
            <a:endParaRPr lang="en-US" sz="1000" dirty="0"/>
          </a:p>
        </p:txBody>
      </p:sp>
      <p:sp>
        <p:nvSpPr>
          <p:cNvPr id="27" name="Shape 25"/>
          <p:cNvSpPr/>
          <p:nvPr/>
        </p:nvSpPr>
        <p:spPr>
          <a:xfrm>
            <a:off x="5852160" y="4160520"/>
            <a:ext cx="5943600" cy="502920"/>
          </a:xfrm>
          <a:prstGeom prst="rect">
            <a:avLst/>
          </a:prstGeom>
          <a:solidFill>
            <a:srgbClr val="FFFFFF"/>
          </a:solidFill>
          <a:ln w="6350">
            <a:solidFill>
              <a:srgbClr val="EEEEEE"/>
            </a:solidFill>
            <a:prstDash val="solid"/>
          </a:ln>
        </p:spPr>
      </p:sp>
      <p:sp>
        <p:nvSpPr>
          <p:cNvPr id="28" name="Text 26"/>
          <p:cNvSpPr/>
          <p:nvPr/>
        </p:nvSpPr>
        <p:spPr>
          <a:xfrm>
            <a:off x="5925312" y="4251960"/>
            <a:ext cx="822960" cy="320040"/>
          </a:xfrm>
          <a:prstGeom prst="rect">
            <a:avLst/>
          </a:prstGeom>
          <a:solidFill>
            <a:srgbClr val="FEE2E2"/>
          </a:solidFill>
          <a:ln/>
        </p:spPr>
        <p:txBody>
          <a:bodyPr wrap="square" lIns="25400" tIns="25400" rIns="25400" bIns="25400" rtlCol="0" anchor="ctr"/>
          <a:lstStyle/>
          <a:p>
            <a:pPr algn="ctr" indent="0" marL="0">
              <a:buNone/>
            </a:pPr>
            <a:r>
              <a:rPr lang="en-US" sz="850" b="1" dirty="0">
                <a:solidFill>
                  <a:srgbClr val="991B1B"/>
                </a:solidFill>
                <a:latin typeface="Meiryo" pitchFamily="34" charset="0"/>
                <a:ea typeface="Meiryo" pitchFamily="34" charset="-122"/>
                <a:cs typeface="Meiryo" pitchFamily="34" charset="-120"/>
              </a:rPr>
              <a:t>F-04</a:t>
            </a:r>
            <a:endParaRPr lang="en-US" sz="850" dirty="0"/>
          </a:p>
        </p:txBody>
      </p:sp>
      <p:sp>
        <p:nvSpPr>
          <p:cNvPr id="29" name="Text 27"/>
          <p:cNvSpPr/>
          <p:nvPr/>
        </p:nvSpPr>
        <p:spPr>
          <a:xfrm>
            <a:off x="6812280" y="4270248"/>
            <a:ext cx="489204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審査ステータス表示</a:t>
            </a:r>
            <a:endParaRPr lang="en-US" sz="1000" dirty="0"/>
          </a:p>
        </p:txBody>
      </p:sp>
      <p:sp>
        <p:nvSpPr>
          <p:cNvPr id="30" name="Shape 28"/>
          <p:cNvSpPr/>
          <p:nvPr/>
        </p:nvSpPr>
        <p:spPr>
          <a:xfrm>
            <a:off x="5852160" y="4709160"/>
            <a:ext cx="5943600" cy="502920"/>
          </a:xfrm>
          <a:prstGeom prst="rect">
            <a:avLst/>
          </a:prstGeom>
          <a:solidFill>
            <a:srgbClr val="FAFAFA"/>
          </a:solidFill>
          <a:ln w="6350">
            <a:solidFill>
              <a:srgbClr val="EEEEEE"/>
            </a:solidFill>
            <a:prstDash val="solid"/>
          </a:ln>
        </p:spPr>
      </p:sp>
      <p:sp>
        <p:nvSpPr>
          <p:cNvPr id="31" name="Text 29"/>
          <p:cNvSpPr/>
          <p:nvPr/>
        </p:nvSpPr>
        <p:spPr>
          <a:xfrm>
            <a:off x="5925312" y="4800600"/>
            <a:ext cx="822960" cy="320040"/>
          </a:xfrm>
          <a:prstGeom prst="rect">
            <a:avLst/>
          </a:prstGeom>
          <a:solidFill>
            <a:srgbClr val="FEE2E2"/>
          </a:solidFill>
          <a:ln/>
        </p:spPr>
        <p:txBody>
          <a:bodyPr wrap="square" lIns="25400" tIns="25400" rIns="25400" bIns="25400" rtlCol="0" anchor="ctr"/>
          <a:lstStyle/>
          <a:p>
            <a:pPr algn="ctr" indent="0" marL="0">
              <a:buNone/>
            </a:pPr>
            <a:r>
              <a:rPr lang="en-US" sz="850" b="1" dirty="0">
                <a:solidFill>
                  <a:srgbClr val="991B1B"/>
                </a:solidFill>
                <a:latin typeface="Meiryo" pitchFamily="34" charset="0"/>
                <a:ea typeface="Meiryo" pitchFamily="34" charset="-122"/>
                <a:cs typeface="Meiryo" pitchFamily="34" charset="-120"/>
              </a:rPr>
              <a:t>F-05</a:t>
            </a:r>
            <a:endParaRPr lang="en-US" sz="850" dirty="0"/>
          </a:p>
        </p:txBody>
      </p:sp>
      <p:sp>
        <p:nvSpPr>
          <p:cNvPr id="32" name="Text 30"/>
          <p:cNvSpPr/>
          <p:nvPr/>
        </p:nvSpPr>
        <p:spPr>
          <a:xfrm>
            <a:off x="6812280" y="4818888"/>
            <a:ext cx="489204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応募モーダル ポイント内訳表示</a:t>
            </a:r>
            <a:endParaRPr lang="en-US" sz="1000" dirty="0"/>
          </a:p>
        </p:txBody>
      </p:sp>
      <p:sp>
        <p:nvSpPr>
          <p:cNvPr id="33" name="Shape 31"/>
          <p:cNvSpPr/>
          <p:nvPr/>
        </p:nvSpPr>
        <p:spPr>
          <a:xfrm>
            <a:off x="5852160" y="5257800"/>
            <a:ext cx="5943600" cy="502920"/>
          </a:xfrm>
          <a:prstGeom prst="rect">
            <a:avLst/>
          </a:prstGeom>
          <a:solidFill>
            <a:srgbClr val="FFFFFF"/>
          </a:solidFill>
          <a:ln w="6350">
            <a:solidFill>
              <a:srgbClr val="EEEEEE"/>
            </a:solidFill>
            <a:prstDash val="solid"/>
          </a:ln>
        </p:spPr>
      </p:sp>
      <p:sp>
        <p:nvSpPr>
          <p:cNvPr id="34" name="Text 32"/>
          <p:cNvSpPr/>
          <p:nvPr/>
        </p:nvSpPr>
        <p:spPr>
          <a:xfrm>
            <a:off x="5925312" y="5349240"/>
            <a:ext cx="822960" cy="320040"/>
          </a:xfrm>
          <a:prstGeom prst="rect">
            <a:avLst/>
          </a:prstGeom>
          <a:solidFill>
            <a:srgbClr val="FEF3C7"/>
          </a:solidFill>
          <a:ln/>
        </p:spPr>
        <p:txBody>
          <a:bodyPr wrap="square" lIns="25400" tIns="25400" rIns="25400" bIns="25400" rtlCol="0" anchor="ctr"/>
          <a:lstStyle/>
          <a:p>
            <a:pPr algn="ctr" indent="0" marL="0">
              <a:buNone/>
            </a:pPr>
            <a:r>
              <a:rPr lang="en-US" sz="850" b="1" dirty="0">
                <a:solidFill>
                  <a:srgbClr val="92400E"/>
                </a:solidFill>
                <a:latin typeface="Meiryo" pitchFamily="34" charset="0"/>
                <a:ea typeface="Meiryo" pitchFamily="34" charset="-122"/>
                <a:cs typeface="Meiryo" pitchFamily="34" charset="-120"/>
              </a:rPr>
              <a:t>B-04</a:t>
            </a:r>
            <a:endParaRPr lang="en-US" sz="850" dirty="0"/>
          </a:p>
        </p:txBody>
      </p:sp>
      <p:sp>
        <p:nvSpPr>
          <p:cNvPr id="35" name="Text 33"/>
          <p:cNvSpPr/>
          <p:nvPr/>
        </p:nvSpPr>
        <p:spPr>
          <a:xfrm>
            <a:off x="6812280" y="5367528"/>
            <a:ext cx="489204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OCRタグ審査条件設定（設定作業のみ）</a:t>
            </a:r>
            <a:endParaRPr lang="en-US" sz="1000" dirty="0"/>
          </a:p>
        </p:txBody>
      </p:sp>
      <p:sp>
        <p:nvSpPr>
          <p:cNvPr id="36" name="Shape 34"/>
          <p:cNvSpPr/>
          <p:nvPr/>
        </p:nvSpPr>
        <p:spPr>
          <a:xfrm>
            <a:off x="5852160" y="5961888"/>
            <a:ext cx="5943600" cy="594360"/>
          </a:xfrm>
          <a:prstGeom prst="rect">
            <a:avLst/>
          </a:prstGeom>
          <a:solidFill>
            <a:srgbClr val="FFF3E0"/>
          </a:solidFill>
          <a:ln w="12700">
            <a:solidFill>
              <a:srgbClr val="E87722"/>
            </a:solidFill>
            <a:prstDash val="solid"/>
          </a:ln>
        </p:spPr>
      </p:sp>
      <p:sp>
        <p:nvSpPr>
          <p:cNvPr id="37" name="Text 35"/>
          <p:cNvSpPr/>
          <p:nvPr/>
        </p:nvSpPr>
        <p:spPr>
          <a:xfrm>
            <a:off x="5989320" y="6016752"/>
            <a:ext cx="5669280" cy="502920"/>
          </a:xfrm>
          <a:prstGeom prst="rect">
            <a:avLst/>
          </a:prstGeom>
          <a:noFill/>
          <a:ln/>
        </p:spPr>
        <p:txBody>
          <a:bodyPr wrap="square" lIns="0" tIns="0" rIns="0" bIns="0" rtlCol="0" anchor="ctr"/>
          <a:lstStyle/>
          <a:p>
            <a:pPr indent="0" marL="0">
              <a:buNone/>
            </a:pPr>
            <a:r>
              <a:rPr lang="en-US" sz="900" dirty="0">
                <a:solidFill>
                  <a:srgbClr val="7A4200"/>
                </a:solidFill>
                <a:latin typeface="Meiryo" pitchFamily="34" charset="0"/>
                <a:ea typeface="Meiryo" pitchFamily="34" charset="-122"/>
                <a:cs typeface="Meiryo" pitchFamily="34" charset="-120"/>
              </a:rPr>
              <a:t>【事前確認事項】Cardのセッション管理・ReceicoのWebhook有無・LINEチャネル共通可否・GTFSインポート対応</a:t>
            </a:r>
            <a:endParaRPr lang="en-US" sz="900" dirty="0"/>
          </a:p>
        </p:txBody>
      </p:sp>
      <p:sp>
        <p:nvSpPr>
          <p:cNvPr id="38" name="Text 36"/>
          <p:cNvSpPr/>
          <p:nvPr/>
        </p:nvSpPr>
        <p:spPr>
          <a:xfrm>
            <a:off x="11365992" y="6565392"/>
            <a:ext cx="731520" cy="256032"/>
          </a:xfrm>
          <a:prstGeom prst="rect">
            <a:avLst/>
          </a:prstGeom>
          <a:noFill/>
          <a:ln/>
        </p:spPr>
        <p:txBody>
          <a:bodyPr wrap="square" lIns="0" tIns="0" rIns="0" bIns="0" rtlCol="0" anchor="ctr"/>
          <a:lstStyle/>
          <a:p>
            <a:pPr algn="r" indent="0" marL="0">
              <a:buNone/>
            </a:pPr>
            <a:r>
              <a:rPr lang="en-US" sz="900" dirty="0">
                <a:solidFill>
                  <a:srgbClr val="AAAAAA"/>
                </a:solidFill>
                <a:latin typeface="Meiryo" pitchFamily="34" charset="0"/>
                <a:ea typeface="Meiryo" pitchFamily="34" charset="-122"/>
                <a:cs typeface="Meiryo" pitchFamily="34" charset="-120"/>
              </a:rPr>
              <a:t>9 / 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公共交通利用促進キャンペーン 提案資料</dc:title>
  <dc:subject>PptxGenJS Presentation</dc:subject>
  <dc:creator>PptxGenJS</dc:creator>
  <cp:lastModifiedBy>PptxGenJS</cp:lastModifiedBy>
  <cp:revision>1</cp:revision>
  <dcterms:created xsi:type="dcterms:W3CDTF">2026-05-19T22:38:25Z</dcterms:created>
  <dcterms:modified xsi:type="dcterms:W3CDTF">2026-05-19T22:38:25Z</dcterms:modified>
</cp:coreProperties>
</file>